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74EF3-6AA2-4487-B54B-2082148BF9F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791CC-5389-43F3-9967-65F7AAED4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69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70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22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1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73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48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07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32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20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7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42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30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91CC-5389-43F3-9967-65F7AAED4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4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10739-1DEE-4394-BCAF-4BD8B986FE2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3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05DA-FCA8-43B6-A587-D8A7323D4E78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2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C64-F9BA-40F7-BBE8-0065D876640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4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9463E-FDAE-49AF-A198-A76FF4296FD0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6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CB73-8E84-4280-B8C9-D77E183D3761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9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7881-E358-436F-8B1A-5E5177D2C0C2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6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798-6D06-4DF8-AD2F-BFAF630BE7CC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F0DA-A991-4CBD-82A4-3F53367D04DF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1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B6D1-4FCE-4FC4-A4D1-7F51CDF48AB7}" type="datetime1">
              <a:rPr lang="en-US" smtClean="0"/>
              <a:t>6/7/2026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D0681-6C0B-4BD2-B78D-0C3ABFA3B18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0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1664-011F-4F77-B41B-2634C674F89E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1563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0132B-701A-4714-9E99-DCCF693F4DA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0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B7C1-EF38-4570-92F9-9A91296B3D34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570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60905-6FFF-4A6D-B3F7-ABC0188652A4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9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53C5-4AEF-4432-80EE-61C5A7EB12B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76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AD59-F624-47EB-BD92-AD9F7AB944A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6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8B4B5-C04B-4F49-A8F0-15229E6EC257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0A9A8F-F456-4D98-B70D-1CDE282D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2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34996" y="2424315"/>
            <a:ext cx="29209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3200" b="1" i="0" dirty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کلونی زنبور مصنوعی</a:t>
            </a:r>
            <a:endParaRPr lang="en-US" sz="3200" b="1" i="0" dirty="0">
              <a:solidFill>
                <a:srgbClr val="202325"/>
              </a:solidFill>
              <a:effectLst/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7076" y="1839540"/>
            <a:ext cx="41168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i="0" dirty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Artificial Bee Colony</a:t>
            </a:r>
            <a:endParaRPr lang="en-US" sz="40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74507" y="3593865"/>
            <a:ext cx="34419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2400" b="1" i="0" dirty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ارائه‏دهنده: مهدی محمدی</a:t>
            </a:r>
          </a:p>
          <a:p>
            <a:pPr algn="ctr"/>
            <a:r>
              <a:rPr lang="fa-IR" sz="2400" b="1" dirty="0">
                <a:solidFill>
                  <a:srgbClr val="202325"/>
                </a:solidFill>
                <a:latin typeface="IRRoya" panose="02000503000000020002" pitchFamily="2" charset="-78"/>
                <a:cs typeface="IRRoya" panose="02000503000000020002" pitchFamily="2" charset="-78"/>
              </a:rPr>
              <a:t>درس: الگوریتم‏های تکاملی</a:t>
            </a:r>
          </a:p>
          <a:p>
            <a:pPr algn="ctr"/>
            <a:r>
              <a:rPr lang="fa-IR" sz="2400" b="1" i="0" dirty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استاد درس: جناب </a:t>
            </a:r>
            <a:r>
              <a:rPr lang="fa-IR" sz="2400" b="1" i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دکتر عس</a:t>
            </a:r>
            <a:r>
              <a:rPr lang="fa-IR" sz="2400" b="1">
                <a:solidFill>
                  <a:srgbClr val="202325"/>
                </a:solidFill>
                <a:latin typeface="IRRoya" panose="02000503000000020002" pitchFamily="2" charset="-78"/>
                <a:cs typeface="IRRoya" panose="02000503000000020002" pitchFamily="2" charset="-78"/>
              </a:rPr>
              <a:t>ک</a:t>
            </a:r>
            <a:r>
              <a:rPr lang="fa-IR" sz="2400" b="1" i="0">
                <a:solidFill>
                  <a:srgbClr val="202325"/>
                </a:solidFill>
                <a:effectLst/>
                <a:latin typeface="IRRoya" panose="02000503000000020002" pitchFamily="2" charset="-78"/>
                <a:cs typeface="IRRoya" panose="02000503000000020002" pitchFamily="2" charset="-78"/>
              </a:rPr>
              <a:t>ری</a:t>
            </a:r>
            <a:endParaRPr lang="en-US" sz="2400" b="1" i="0" dirty="0">
              <a:solidFill>
                <a:srgbClr val="202325"/>
              </a:solidFill>
              <a:effectLst/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871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352462" y="981668"/>
            <a:ext cx="492154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پیشنهاد‏شده ت</a:t>
            </a:r>
            <a:r>
              <a:rPr lang="ar-SA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و</a:t>
            </a: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س</a:t>
            </a:r>
            <a:r>
              <a:rPr lang="ar-SA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ط </a:t>
            </a:r>
            <a:r>
              <a:rPr lang="en-US" sz="2400" dirty="0" err="1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Karaboga</a:t>
            </a:r>
            <a:r>
              <a:rPr lang="en-US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 </a:t>
            </a: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 </a:t>
            </a:r>
            <a:r>
              <a:rPr lang="ar-SA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در سال 2005</a:t>
            </a:r>
            <a:endParaRPr lang="fa-IR" sz="2400" dirty="0">
              <a:effectLst/>
              <a:latin typeface="IRRoya" panose="02000503000000020002" pitchFamily="2" charset="-78"/>
              <a:ea typeface="Calibri" panose="020F0502020204030204" pitchFamily="34" charset="0"/>
              <a:cs typeface="IRRoya" panose="02000503000000020002" pitchFamily="2" charset="-78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SA" sz="2400" dirty="0">
                <a:latin typeface="IRRoya" panose="02000503000000020002" pitchFamily="2" charset="-78"/>
                <a:cs typeface="IRRoya" panose="02000503000000020002" pitchFamily="2" charset="-78"/>
              </a:rPr>
              <a:t>متعلق به گروه الگوریتم‌های هوش ازدحام</a:t>
            </a: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ی</a:t>
            </a:r>
            <a:r>
              <a:rPr lang="ar-SA" sz="2400" dirty="0">
                <a:latin typeface="IRRoya" panose="02000503000000020002" pitchFamily="2" charset="-78"/>
                <a:cs typeface="IRRoya" panose="02000503000000020002" pitchFamily="2" charset="-78"/>
              </a:rPr>
              <a:t> </a:t>
            </a:r>
            <a:endParaRPr lang="fa-IR" sz="2400" dirty="0">
              <a:latin typeface="IRRoya" panose="02000503000000020002" pitchFamily="2" charset="-78"/>
              <a:cs typeface="IRRoya" panose="02000503000000020002" pitchFamily="2" charset="-78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شبیه‏سازی </a:t>
            </a:r>
            <a:r>
              <a:rPr lang="ar-SA" sz="2400" dirty="0">
                <a:latin typeface="IRRoya" panose="02000503000000020002" pitchFamily="2" charset="-78"/>
                <a:cs typeface="IRRoya" panose="02000503000000020002" pitchFamily="2" charset="-78"/>
              </a:rPr>
              <a:t>رفتار جستجوی غذای زنبورهای عسل</a:t>
            </a:r>
            <a:endParaRPr lang="fa-IR" sz="2400" dirty="0">
              <a:latin typeface="IRRoya" panose="02000503000000020002" pitchFamily="2" charset="-78"/>
              <a:cs typeface="IRRoya" panose="02000503000000020002" pitchFamily="2" charset="-78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13037" y="2644093"/>
            <a:ext cx="376096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سه گروه زنبورعسل: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زنبورهای کارگر (</a:t>
            </a:r>
            <a:r>
              <a:rPr lang="en-US" sz="2400" dirty="0">
                <a:latin typeface="IRRoya" panose="02000503000000020002" pitchFamily="2" charset="-78"/>
                <a:cs typeface="IRRoya" panose="02000503000000020002" pitchFamily="2" charset="-78"/>
              </a:rPr>
              <a:t>employed bees</a:t>
            </a:r>
            <a:r>
              <a:rPr lang="fa-IR" sz="2400" dirty="0"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)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زنبورهای ناظر (</a:t>
            </a:r>
            <a:r>
              <a:rPr lang="en-US" sz="2400" dirty="0">
                <a:latin typeface="IRRoya" panose="02000503000000020002" pitchFamily="2" charset="-78"/>
                <a:cs typeface="IRRoya" panose="02000503000000020002" pitchFamily="2" charset="-78"/>
              </a:rPr>
              <a:t>onlookers</a:t>
            </a: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)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زنبورهای پیشاهنگ (</a:t>
            </a:r>
            <a:r>
              <a:rPr lang="en-US" sz="2400" dirty="0">
                <a:latin typeface="IRRoya" panose="02000503000000020002" pitchFamily="2" charset="-78"/>
                <a:cs typeface="IRRoya" panose="02000503000000020002" pitchFamily="2" charset="-78"/>
              </a:rPr>
              <a:t>scouts</a:t>
            </a: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)</a:t>
            </a: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pic>
        <p:nvPicPr>
          <p:cNvPr id="5" name="Picture 2" descr="A precise neuro-fuzzy model enhanced by artificial bee colony techniques  for assessment of rock brittleness index | SpringerLin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92" y="3216881"/>
            <a:ext cx="3588544" cy="300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06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194418" y="1614317"/>
            <a:ext cx="892263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بهره‌برداری از منبع غذایی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انتقال اطلاعات مربوط به منبع غذایی به کندو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 به اشتراک گذاشتن این اطلاعات را با زنبورهای ناظر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رقصیدن در منطقۀ رقص تعیین‌شده در داخل کندو به منظور به اشتراک گذاری اطلاعات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ماهیت رقص متناسب با محتوای شهد منبع غذایی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بهره‏بردار</a:t>
            </a: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2133" y="342108"/>
            <a:ext cx="19672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زنبورهای کارگر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50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689064" y="342108"/>
            <a:ext cx="18918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زنبورهای ناظر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70993" y="1619434"/>
            <a:ext cx="83280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تماشای رقص زنبورهای کارگر توسط زنبورهای ناظر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انتخاب منبع غذایی با توجه به احتمالی متناسب با کیفیت آن منبع غذایی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جذب زنبورهای ناظر بیشتر به منابع غذایی خوب در مقایسه با منابع غذایی بد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بهره‏بردار</a:t>
            </a:r>
            <a:endParaRPr lang="fa-IR" sz="2400" dirty="0">
              <a:effectLst/>
              <a:latin typeface="IRRoya" panose="02000503000000020002" pitchFamily="2" charset="-78"/>
              <a:ea typeface="Calibri" panose="020F0502020204030204" pitchFamily="34" charset="0"/>
              <a:cs typeface="IRRoya" panose="02000503000000020002" pitchFamily="2" charset="-78"/>
            </a:endParaRPr>
          </a:p>
          <a:p>
            <a:pPr marL="914400" lvl="1" indent="-457200" algn="r" rtl="1">
              <a:buFont typeface="+mj-lt"/>
              <a:buAutoNum type="arabicPeriod"/>
            </a:pP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4209" y="4445108"/>
            <a:ext cx="6221575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r" rtl="1"/>
            <a:r>
              <a:rPr lang="fa-IR" sz="2400" dirty="0">
                <a:effectLst/>
                <a:ea typeface="Calibri" panose="020F0502020204030204" pitchFamily="34" charset="0"/>
                <a:cs typeface="IRRoya" panose="02000503000000020002" pitchFamily="2" charset="-78"/>
              </a:rPr>
              <a:t>انجام کار بهره‌برداری (</a:t>
            </a:r>
            <a:r>
              <a:rPr lang="en-US" sz="2400" dirty="0">
                <a:effectLst/>
                <a:latin typeface="IRRoya" panose="02000503000000020002" pitchFamily="2" charset="-78"/>
                <a:ea typeface="Calibri" panose="020F0502020204030204" pitchFamily="34" charset="0"/>
              </a:rPr>
              <a:t>Exploitation</a:t>
            </a:r>
            <a:r>
              <a:rPr lang="fa-IR" sz="2400" dirty="0">
                <a:effectLst/>
                <a:ea typeface="Calibri" panose="020F0502020204030204" pitchFamily="34" charset="0"/>
                <a:cs typeface="IRRoya" panose="02000503000000020002" pitchFamily="2" charset="-78"/>
              </a:rPr>
              <a:t>) توسط زنبورهای کارگر و ناظر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458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9002" y="342108"/>
            <a:ext cx="2512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زنبورهای پیشاهنگ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8059" y="4445107"/>
            <a:ext cx="5654113" cy="46166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rtl="1"/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انجام کار اکتشاف (</a:t>
            </a:r>
            <a:r>
              <a:rPr lang="en-US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Exploration</a:t>
            </a: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) توسط زنبورهای پیشاهنگ</a:t>
            </a: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90259" y="1619433"/>
            <a:ext cx="8049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rtl="1"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تبدیل تمام زنبورهای کارگر مرتبط با منبع غذایی به‌طور کامل بهره‌برداری‏شده به زنبورهای پیشاهنگ</a:t>
            </a:r>
          </a:p>
          <a:p>
            <a:pPr marL="914400" lvl="1" indent="-457200" algn="just" rtl="1">
              <a:buFont typeface="Arial" panose="020B0604020202020204" pitchFamily="34" charset="0"/>
              <a:buChar char="•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مکتشف</a:t>
            </a: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5907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99235" y="342108"/>
            <a:ext cx="3711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3200" dirty="0">
                <a:solidFill>
                  <a:srgbClr val="FF0000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رفتار هوشمند زنبورهای </a:t>
            </a:r>
            <a:r>
              <a:rPr lang="fa-IR" sz="3200" dirty="0">
                <a:solidFill>
                  <a:srgbClr val="FF0000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عسل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7219" y="1176914"/>
            <a:ext cx="9475304" cy="4044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تلاش زنبورها برای جست‌وجوی تصادفی در محیط به دنبال منابع غذایی خوب (مقدار تناسب)</a:t>
            </a: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تبدیل شدن به زنبور کارگر پس از یافتن منبع غذایی و شروع استخراج غذا از منبع یافت‌شده</a:t>
            </a: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بازگشت زنبور کارگر با شهد به کندو، تخلیه بار و انتخاب بین بازگشت مستقیم به منبع کشف‌شده یا اشتراک اطلاعات منبع غذایی با اجرای رقص گردون در ناحیه رقص</a:t>
            </a: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مبدل شدن زنبوران کارگر به پیشاهنگ در صورت خالی شدن یک منبع غذایی و پرداختن به جست‌وجوی تصادفی برای منابع غذایی</a:t>
            </a: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انتظار زنبورهای ناظر در کندو، نظارت بر زنبورهای کارگر در منابع غذایی گردآوری‌شده و انتخاب یک منبع از میان منابع موجود با بیشترین سود</a:t>
            </a: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تناسب انتخاب منابع غذایی با کیفیت آن منبع (مقدار تناسب)</a:t>
            </a: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a-IR" sz="2400" dirty="0">
              <a:effectLst/>
              <a:latin typeface="IRRoya" panose="02000503000000020002" pitchFamily="2" charset="-78"/>
              <a:ea typeface="Calibri" panose="020F0502020204030204" pitchFamily="34" charset="0"/>
              <a:cs typeface="IRRoya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371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35164" y="318181"/>
            <a:ext cx="4639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3200" dirty="0">
                <a:solidFill>
                  <a:srgbClr val="FF0000"/>
                </a:solidFill>
                <a:latin typeface="IRRoya" panose="02000503000000020002" pitchFamily="2" charset="-78"/>
                <a:cs typeface="IRRoya" panose="02000503000000020002" pitchFamily="2" charset="-78"/>
              </a:rPr>
              <a:t>مراحل مختلف اجرای الگوریتم </a:t>
            </a:r>
            <a:r>
              <a:rPr lang="en-US" sz="3200" dirty="0">
                <a:solidFill>
                  <a:srgbClr val="FF0000"/>
                </a:solidFill>
                <a:latin typeface="IRRoya" panose="02000503000000020002" pitchFamily="2" charset="-78"/>
                <a:cs typeface="IRRoya" panose="02000503000000020002" pitchFamily="2" charset="-78"/>
              </a:rPr>
              <a:t>ABC</a:t>
            </a:r>
          </a:p>
        </p:txBody>
      </p:sp>
      <p:sp>
        <p:nvSpPr>
          <p:cNvPr id="2" name="Rectangle 1"/>
          <p:cNvSpPr/>
          <p:nvPr/>
        </p:nvSpPr>
        <p:spPr>
          <a:xfrm>
            <a:off x="917219" y="1176914"/>
            <a:ext cx="9475304" cy="3253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تولید پاسخ‏های اولیه و ارزیابی آن‏ها</a:t>
            </a: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حرکت زنبورهای کارگر </a:t>
            </a: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a-IR" sz="2400" dirty="0">
              <a:effectLst/>
              <a:latin typeface="IRRoya" panose="02000503000000020002" pitchFamily="2" charset="-78"/>
              <a:ea typeface="Calibri" panose="020F0502020204030204" pitchFamily="34" charset="0"/>
              <a:cs typeface="IRRoya" panose="02000503000000020002" pitchFamily="2" charset="-78"/>
            </a:endParaRP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fa-IR" sz="2400" dirty="0"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ارسال زنبورهای ناظر</a:t>
            </a: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endParaRPr lang="fa-IR" sz="2400" dirty="0">
              <a:latin typeface="IRRoya" panose="02000503000000020002" pitchFamily="2" charset="-78"/>
              <a:ea typeface="Calibri" panose="020F0502020204030204" pitchFamily="34" charset="0"/>
              <a:cs typeface="IRRoya" panose="02000503000000020002" pitchFamily="2" charset="-78"/>
            </a:endParaRPr>
          </a:p>
          <a:p>
            <a:pPr marL="342900" indent="-342900" algn="just" rtl="1">
              <a:lnSpc>
                <a:spcPct val="107000"/>
              </a:lnSpc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جایگزینی سایتی که تعداد دفعات عدم پیشرفت آن به پارامتر حد رسیده با یک پاسخ تصادفی، و قرار دادن شمارندۀ مربوط به آن برابر 0</a:t>
            </a:r>
          </a:p>
          <a:p>
            <a:pPr marL="342900" lvl="0" indent="-342900" algn="just" rtl="1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بازگشت به مرحلۀ 2 در صورت برآورده نشدن شرایط خاتمه، و در غیر این صورت پایان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416054"/>
              </p:ext>
            </p:extLst>
          </p:nvPr>
        </p:nvGraphicFramePr>
        <p:xfrm>
          <a:off x="2605276" y="1524000"/>
          <a:ext cx="2261499" cy="555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79360" progId="Equation.DSMT4">
                  <p:embed/>
                </p:oleObj>
              </mc:Choice>
              <mc:Fallback>
                <p:oleObj name="Equation" r:id="rId3" imgW="1371600" imgH="2793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276" y="1524000"/>
                        <a:ext cx="2261499" cy="5558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 flipV="1">
            <a:off x="4995747" y="1674824"/>
            <a:ext cx="1359555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788488"/>
              </p:ext>
            </p:extLst>
          </p:nvPr>
        </p:nvGraphicFramePr>
        <p:xfrm>
          <a:off x="4852650" y="1592892"/>
          <a:ext cx="1785485" cy="446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087" imgH="241195" progId="Equation.DSMT4">
                  <p:embed/>
                </p:oleObj>
              </mc:Choice>
              <mc:Fallback>
                <p:oleObj name="Equation" r:id="rId5" imgW="952087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650" y="1592892"/>
                        <a:ext cx="1785485" cy="446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 flipV="1">
            <a:off x="2664016" y="2176242"/>
            <a:ext cx="1505689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087960"/>
              </p:ext>
            </p:extLst>
          </p:nvPr>
        </p:nvGraphicFramePr>
        <p:xfrm>
          <a:off x="2605276" y="2220279"/>
          <a:ext cx="1150516" cy="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482400" progId="Equation.DSMT4">
                  <p:embed/>
                </p:oleObj>
              </mc:Choice>
              <mc:Fallback>
                <p:oleObj name="Equation" r:id="rId7" imgW="77436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276" y="2220279"/>
                        <a:ext cx="1150516" cy="715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905587" y="2018780"/>
                <a:ext cx="3569054" cy="1117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𝑓𝑖𝑡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+|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587" y="2018780"/>
                <a:ext cx="3569054" cy="11179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21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17258" y="92075"/>
            <a:ext cx="4777105" cy="66738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1244" y="2180844"/>
            <a:ext cx="3346704" cy="24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4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63757" y="2955234"/>
            <a:ext cx="1213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029044"/>
              </p:ext>
            </p:extLst>
          </p:nvPr>
        </p:nvGraphicFramePr>
        <p:xfrm>
          <a:off x="1701308" y="3000953"/>
          <a:ext cx="7827613" cy="477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400" imgH="254000" progId="Equation.DSMT4">
                  <p:embed/>
                </p:oleObj>
              </mc:Choice>
              <mc:Fallback>
                <p:oleObj name="Equation" r:id="rId3" imgW="42164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308" y="3000953"/>
                        <a:ext cx="7827613" cy="477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4482738" y="323662"/>
            <a:ext cx="19896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IRRoya" panose="02000503000000020002" pitchFamily="2" charset="-78"/>
              </a:rPr>
              <a:t>تابع راستریگین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90259" y="1619433"/>
            <a:ext cx="8049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یک نقطۀ کمینۀ سرتاسری در مبدأ</a:t>
            </a:r>
          </a:p>
          <a:p>
            <a:pPr marL="457200" indent="-457200" algn="just" rtl="1">
              <a:buFont typeface="+mj-lt"/>
              <a:buAutoNum type="arabicPeriod"/>
            </a:pPr>
            <a:r>
              <a:rPr lang="fa-IR" sz="2400" dirty="0">
                <a:latin typeface="IRRoya" panose="02000503000000020002" pitchFamily="2" charset="-78"/>
                <a:cs typeface="IRRoya" panose="02000503000000020002" pitchFamily="2" charset="-78"/>
              </a:rPr>
              <a:t>مقدار تابع در این نقطه برابر صفر </a:t>
            </a:r>
            <a:endParaRPr lang="en-US" sz="2400" dirty="0">
              <a:latin typeface="IRRoya" panose="02000503000000020002" pitchFamily="2" charset="-78"/>
              <a:cs typeface="IRRoya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9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63757" y="2955234"/>
            <a:ext cx="1213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82738" y="323662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cs typeface="IRRoya" panose="02000503000000020002" pitchFamily="2" charset="-78"/>
              </a:rPr>
              <a:t>نتایج اجرای برنامه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21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111" y="780862"/>
            <a:ext cx="532447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051529" y="4858678"/>
            <a:ext cx="32656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پراکندگی زنبورها در فضای مسئله راستریگین پس از مقداردهی اولیه.</a:t>
            </a:r>
            <a:endParaRPr kumimoji="0" lang="ar-S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63757" y="2955234"/>
            <a:ext cx="1213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82738" y="323662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cs typeface="IRRoya" panose="02000503000000020002" pitchFamily="2" charset="-78"/>
              </a:rPr>
              <a:t>نتایج اجرای برنامه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1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111" y="780862"/>
            <a:ext cx="532447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120184" y="4857312"/>
            <a:ext cx="51283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نقطۀ کمینۀ سرتاسری تابع راستریگین در انتهای فرایند بهینه‏سازی، با استفاده از الگوریتم زنبورعسل مصنوعی.</a:t>
            </a:r>
            <a:endParaRPr kumimoji="0" lang="ar-S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819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63757" y="2955234"/>
            <a:ext cx="1213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82738" y="323662"/>
            <a:ext cx="2403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cs typeface="IRRoya" panose="02000503000000020002" pitchFamily="2" charset="-78"/>
              </a:rPr>
              <a:t>نتایج اجرای برنامه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109" y="775703"/>
            <a:ext cx="532447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482738" y="4871049"/>
            <a:ext cx="26821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RRoya" panose="02000503000000020002" pitchFamily="2" charset="-78"/>
                <a:ea typeface="Calibri" panose="020F0502020204030204" pitchFamily="34" charset="0"/>
                <a:cs typeface="IRRoya" panose="02000503000000020002" pitchFamily="2" charset="-78"/>
              </a:rPr>
              <a:t>نمودار کمینه‏سازی تابع راستریگین در برابر تعداد تکرار.</a:t>
            </a:r>
            <a:endParaRPr kumimoji="0" lang="ar-S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960" y="450171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 </a:t>
            </a:r>
            <a:r>
              <a:rPr lang="en-US" sz="1400" i="1" dirty="0"/>
              <a:t>X</a:t>
            </a:r>
            <a:r>
              <a:rPr lang="en-US" sz="1400" i="1" baseline="-25000" dirty="0"/>
              <a:t>1</a:t>
            </a:r>
            <a:r>
              <a:rPr lang="en-US" sz="1400" i="1" dirty="0"/>
              <a:t> = 0.1595, X</a:t>
            </a:r>
            <a:r>
              <a:rPr lang="en-US" sz="1400" i="1" baseline="-25000" dirty="0"/>
              <a:t>2</a:t>
            </a:r>
            <a:r>
              <a:rPr lang="en-US" sz="1400" i="1" dirty="0"/>
              <a:t> = -0.0560</a:t>
            </a:r>
          </a:p>
        </p:txBody>
      </p:sp>
    </p:spTree>
    <p:extLst>
      <p:ext uri="{BB962C8B-B14F-4D97-AF65-F5344CB8AC3E}">
        <p14:creationId xmlns:p14="http://schemas.microsoft.com/office/powerpoint/2010/main" val="2016786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9A8F-F456-4D98-B70D-1CDE282DFB79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30513" y="993912"/>
            <a:ext cx="179716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63757" y="2955234"/>
            <a:ext cx="121381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196463" y="635762"/>
            <a:ext cx="1077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3200" dirty="0">
                <a:solidFill>
                  <a:srgbClr val="FF0000"/>
                </a:solidFill>
                <a:cs typeface="IRRoya" panose="02000503000000020002" pitchFamily="2" charset="-78"/>
              </a:rPr>
              <a:t>مراجع: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63756" y="1576343"/>
            <a:ext cx="83803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URWPalladioL-Roma"/>
              </a:rPr>
              <a:t>[1] Gao, W.; Liu, S.; Huang, L. A Global Best Artificial Bee Colony Algorithm for Global Optimization. J.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Comput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. Appl.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Mathemat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. 2012, 236, 2741–2753.</a:t>
            </a:r>
          </a:p>
          <a:p>
            <a:r>
              <a:rPr lang="en-US" dirty="0">
                <a:solidFill>
                  <a:srgbClr val="000000"/>
                </a:solidFill>
                <a:latin typeface="URWPalladioL-Roma"/>
              </a:rPr>
              <a:t>[2] D.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Karaboga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, An idea based on honey bee swarm for numerical optimization,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Erciyes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University, Technical Report-TR06, Kayseri, Turkey, 2005.</a:t>
            </a:r>
          </a:p>
          <a:p>
            <a:r>
              <a:rPr lang="en-US" dirty="0">
                <a:solidFill>
                  <a:srgbClr val="000000"/>
                </a:solidFill>
                <a:latin typeface="URWPalladioL-Roma"/>
              </a:rPr>
              <a:t>[3] D.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Karaboga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, B.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Basturk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A powerful and efficient algorithm for numerical function optimization: artificial bee colony (ABC) algorithm Journal of Global Optimization, 39 (2007), pp. 459-471.</a:t>
            </a:r>
          </a:p>
          <a:p>
            <a:r>
              <a:rPr lang="en-US" dirty="0">
                <a:solidFill>
                  <a:srgbClr val="000000"/>
                </a:solidFill>
                <a:latin typeface="URWPalladioL-Roma"/>
              </a:rPr>
              <a:t>[4] D.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Karaboga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, B.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Basturk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On the performance of artificial bee colony (ABC) algorithm Applied Soft Computing, 8 (2008), pp. 687-697.</a:t>
            </a:r>
          </a:p>
          <a:p>
            <a:r>
              <a:rPr lang="en-US" dirty="0">
                <a:solidFill>
                  <a:srgbClr val="000000"/>
                </a:solidFill>
                <a:latin typeface="URWPalladioL-Roma"/>
              </a:rPr>
              <a:t>[5] D.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Karaboga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, B. </a:t>
            </a:r>
            <a:r>
              <a:rPr lang="en-US" dirty="0" err="1">
                <a:solidFill>
                  <a:srgbClr val="000000"/>
                </a:solidFill>
                <a:latin typeface="URWPalladioL-Roma"/>
              </a:rPr>
              <a:t>Basturk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 A comparative study of artificial bee colony algorithm Applied Mathematics and Computation, 214 (2009), pp. 108-132.</a:t>
            </a:r>
          </a:p>
        </p:txBody>
      </p:sp>
    </p:spTree>
    <p:extLst>
      <p:ext uri="{BB962C8B-B14F-4D97-AF65-F5344CB8AC3E}">
        <p14:creationId xmlns:p14="http://schemas.microsoft.com/office/powerpoint/2010/main" val="11164939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</TotalTime>
  <Words>665</Words>
  <Application>Microsoft Office PowerPoint</Application>
  <PresentationFormat>Widescreen</PresentationFormat>
  <Paragraphs>87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 Math</vt:lpstr>
      <vt:lpstr>IRRoya</vt:lpstr>
      <vt:lpstr>Trebuchet MS</vt:lpstr>
      <vt:lpstr>URWPalladioL-Roma</vt:lpstr>
      <vt:lpstr>Wingdings 3</vt:lpstr>
      <vt:lpstr>Facet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Mehdi Mohammadi</dc:creator>
  <cp:lastModifiedBy>Mehdi Mohammadi</cp:lastModifiedBy>
  <cp:revision>20</cp:revision>
  <dcterms:created xsi:type="dcterms:W3CDTF">2023-01-22T12:57:41Z</dcterms:created>
  <dcterms:modified xsi:type="dcterms:W3CDTF">2026-06-07T06:26:01Z</dcterms:modified>
</cp:coreProperties>
</file>