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7" r:id="rId1"/>
  </p:sldMasterIdLst>
  <p:notesMasterIdLst>
    <p:notesMasterId r:id="rId23"/>
  </p:notesMasterIdLst>
  <p:sldIdLst>
    <p:sldId id="256" r:id="rId2"/>
    <p:sldId id="257" r:id="rId3"/>
    <p:sldId id="264" r:id="rId4"/>
    <p:sldId id="265" r:id="rId5"/>
    <p:sldId id="263" r:id="rId6"/>
    <p:sldId id="267" r:id="rId7"/>
    <p:sldId id="268" r:id="rId8"/>
    <p:sldId id="269" r:id="rId9"/>
    <p:sldId id="270" r:id="rId10"/>
    <p:sldId id="271" r:id="rId11"/>
    <p:sldId id="272" r:id="rId12"/>
    <p:sldId id="262" r:id="rId13"/>
    <p:sldId id="273" r:id="rId14"/>
    <p:sldId id="275" r:id="rId15"/>
    <p:sldId id="276" r:id="rId16"/>
    <p:sldId id="277" r:id="rId17"/>
    <p:sldId id="278" r:id="rId18"/>
    <p:sldId id="279" r:id="rId19"/>
    <p:sldId id="280" r:id="rId20"/>
    <p:sldId id="281" r:id="rId21"/>
    <p:sldId id="282" r:id="rId2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CC00"/>
    <a:srgbClr val="FF66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015" autoAdjust="0"/>
    <p:restoredTop sz="94660"/>
  </p:normalViewPr>
  <p:slideViewPr>
    <p:cSldViewPr snapToGrid="0">
      <p:cViewPr varScale="1">
        <p:scale>
          <a:sx n="89" d="100"/>
          <a:sy n="89" d="100"/>
        </p:scale>
        <p:origin x="120" y="1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4DDE1CD-3E43-4420-9D3F-C572D81FCD73}" type="datetimeFigureOut">
              <a:rPr lang="en-US" smtClean="0"/>
              <a:t>1/24/2024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B4199B5-AA83-4F1F-BD61-6A70D44C1B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217313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sp>
          <p:nvSpPr>
            <p:cNvPr id="15" name="Freeform 14"/>
            <p:cNvSpPr/>
            <p:nvPr/>
          </p:nvSpPr>
          <p:spPr>
            <a:xfrm>
              <a:off x="0" y="-7862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cxnSp>
          <p:nvCxnSpPr>
            <p:cNvPr id="19" name="Straight Connector 18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Isosceles Triangle 22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1D0F64-5929-4A28-80DB-CEDD6B8E8392}" type="datetime1">
              <a:rPr lang="en-US" smtClean="0"/>
              <a:t>1/24/2024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just" rtl="1">
              <a:defRPr sz="1600" baseline="0">
                <a:latin typeface="Adobe Arabic" panose="02040503050201020203" pitchFamily="18" charset="-78"/>
                <a:cs typeface="Adobe Arabic" panose="02040503050201020203" pitchFamily="18" charset="-78"/>
              </a:defRPr>
            </a:lvl1pPr>
          </a:lstStyle>
          <a:p>
            <a:fld id="{F563E7BD-D2C6-433A-87F7-894B3E0B864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45129652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5E0DA5-F766-423C-9AA8-0D90D6FB9A4D}" type="datetime1">
              <a:rPr lang="en-US" smtClean="0"/>
              <a:t>1/24/2024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63E7BD-D2C6-433A-87F7-894B3E0B86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3690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A6C3DC-6CDC-48E5-8FF8-A2A67C4CD8C9}" type="datetime1">
              <a:rPr lang="en-US" smtClean="0"/>
              <a:t>1/24/2024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63E7BD-D2C6-433A-87F7-894B3E0B86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94763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DAB4FE-F7C2-4BFD-A351-B4ECC0CA1944}" type="datetime1">
              <a:rPr lang="en-US" smtClean="0"/>
              <a:t>1/24/2024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63E7BD-D2C6-433A-87F7-894B3E0B86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48874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94E8BB-4CA5-493B-926E-63945A333FB3}" type="datetime1">
              <a:rPr lang="en-US" smtClean="0"/>
              <a:t>1/24/2024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63E7BD-D2C6-433A-87F7-894B3E0B86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94803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1AAFEA-79E9-44BC-9C76-E14D80DE60C0}" type="datetime1">
              <a:rPr lang="en-US" smtClean="0"/>
              <a:t>1/24/2024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63E7BD-D2C6-433A-87F7-894B3E0B86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14422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7DED18-4A09-49F0-AB64-22FE83FDE049}" type="datetime1">
              <a:rPr lang="en-US" smtClean="0"/>
              <a:t>1/24/2024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63E7BD-D2C6-433A-87F7-894B3E0B86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78006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0242B6-977B-4BBB-A36A-E2198E47AA6E}" type="datetime1">
              <a:rPr lang="en-US" smtClean="0"/>
              <a:t>1/24/2024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63E7BD-D2C6-433A-87F7-894B3E0B86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20363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63E7BD-D2C6-433A-87F7-894B3E0B864D}" type="slidenum">
              <a:rPr lang="en-US" smtClean="0"/>
              <a:t>‹#›</a:t>
            </a:fld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8DD80-3237-444F-B6CF-576CD7CCD09E}" type="datetime1">
              <a:rPr lang="en-US" smtClean="0"/>
              <a:t>1/24/2024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94277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2F35A3-EE3A-4E47-865E-EB0B29C9AF40}" type="datetime1">
              <a:rPr lang="en-US" smtClean="0"/>
              <a:t>1/24/2024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63E7BD-D2C6-433A-87F7-894B3E0B86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38181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031EE4-F33F-4D6F-AA86-B73727906D97}" type="datetime1">
              <a:rPr lang="en-US" smtClean="0"/>
              <a:t>1/24/2024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63E7BD-D2C6-433A-87F7-894B3E0B864D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5927475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3DAEFC-E18C-42D8-ABD8-6ABFCB8B132B}" type="datetime1">
              <a:rPr lang="en-US" smtClean="0"/>
              <a:t>1/24/2024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63E7BD-D2C6-433A-87F7-894B3E0B86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782564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41FDF2-BD82-4A33-9FE6-BFE5E1F8C366}" type="datetime1">
              <a:rPr lang="en-US" smtClean="0"/>
              <a:t>1/24/2024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63E7BD-D2C6-433A-87F7-894B3E0B864D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95723531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B50F18-F016-4851-A9BB-DFC6459AE43E}" type="datetime1">
              <a:rPr lang="en-US" smtClean="0"/>
              <a:t>1/24/2024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63E7BD-D2C6-433A-87F7-894B3E0B86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493556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D052CD-31A6-47A0-8BAA-327F75D0DE90}" type="datetime1">
              <a:rPr lang="en-US" smtClean="0"/>
              <a:t>1/24/2024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63E7BD-D2C6-433A-87F7-894B3E0B86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214354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A67450-C95A-4FEE-A94D-03A2CE3AF2A7}" type="datetime1">
              <a:rPr lang="en-US" smtClean="0"/>
              <a:t>1/24/2024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63E7BD-D2C6-433A-87F7-894B3E0B86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6748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roup 43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DB1AED0-19BE-454E-8A77-C9AAE108DC17}" type="datetime1">
              <a:rPr lang="en-US" smtClean="0"/>
              <a:t>1/24/2024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F563E7BD-D2C6-433A-87F7-894B3E0B86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54511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8" r:id="rId1"/>
    <p:sldLayoutId id="2147483679" r:id="rId2"/>
    <p:sldLayoutId id="2147483680" r:id="rId3"/>
    <p:sldLayoutId id="2147483681" r:id="rId4"/>
    <p:sldLayoutId id="2147483682" r:id="rId5"/>
    <p:sldLayoutId id="2147483683" r:id="rId6"/>
    <p:sldLayoutId id="2147483684" r:id="rId7"/>
    <p:sldLayoutId id="2147483685" r:id="rId8"/>
    <p:sldLayoutId id="2147483686" r:id="rId9"/>
    <p:sldLayoutId id="2147483687" r:id="rId10"/>
    <p:sldLayoutId id="2147483688" r:id="rId11"/>
    <p:sldLayoutId id="2147483689" r:id="rId12"/>
    <p:sldLayoutId id="2147483690" r:id="rId13"/>
    <p:sldLayoutId id="2147483691" r:id="rId14"/>
    <p:sldLayoutId id="2147483692" r:id="rId15"/>
    <p:sldLayoutId id="2147483693" r:id="rId16"/>
  </p:sldLayoutIdLst>
  <p:hf hdr="0" ftr="0" dt="0"/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5" Type="http://schemas.microsoft.com/office/2007/relationships/hdphoto" Target="../media/hdphoto3.wdp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microsoft.com/office/2007/relationships/hdphoto" Target="../media/hdphoto4.wdp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microsoft.com/office/2007/relationships/hdphoto" Target="../media/hdphoto5.wdp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microsoft.com/office/2007/relationships/hdphoto" Target="../media/hdphoto6.wdp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446906" y="1201361"/>
            <a:ext cx="7766936" cy="1646302"/>
          </a:xfrm>
          <a:ln w="12700">
            <a:noFill/>
          </a:ln>
          <a:effectLst/>
        </p:spPr>
        <p:txBody>
          <a:bodyPr/>
          <a:lstStyle/>
          <a:p>
            <a:pPr algn="ctr" rtl="1"/>
            <a:r>
              <a:rPr lang="fa-IR" sz="4400" dirty="0" smtClean="0">
                <a:solidFill>
                  <a:srgbClr val="FF0000"/>
                </a:solidFill>
                <a:latin typeface="Adobe Arabic" panose="02040503050201020203" pitchFamily="18" charset="-78"/>
                <a:cs typeface="B Mitra" panose="00000400000000000000" pitchFamily="2" charset="-78"/>
              </a:rPr>
              <a:t>پروژه درس سیستم‏های فازی</a:t>
            </a:r>
            <a:r>
              <a:rPr lang="fa-IR" dirty="0" smtClean="0">
                <a:solidFill>
                  <a:srgbClr val="FF0000"/>
                </a:solidFill>
                <a:latin typeface="Adobe Arabic" panose="02040503050201020203" pitchFamily="18" charset="-78"/>
                <a:cs typeface="B Mitra" panose="00000400000000000000" pitchFamily="2" charset="-78"/>
              </a:rPr>
              <a:t/>
            </a:r>
            <a:br>
              <a:rPr lang="fa-IR" dirty="0" smtClean="0">
                <a:solidFill>
                  <a:srgbClr val="FF0000"/>
                </a:solidFill>
                <a:latin typeface="Adobe Arabic" panose="02040503050201020203" pitchFamily="18" charset="-78"/>
                <a:cs typeface="B Mitra" panose="00000400000000000000" pitchFamily="2" charset="-78"/>
              </a:rPr>
            </a:br>
            <a:r>
              <a:rPr lang="fa-IR" sz="2400" dirty="0" smtClean="0">
                <a:solidFill>
                  <a:srgbClr val="FF0000"/>
                </a:solidFill>
                <a:latin typeface="Adobe Arabic" panose="02040503050201020203" pitchFamily="18" charset="-78"/>
                <a:cs typeface="B Mitra" panose="00000400000000000000" pitchFamily="2" charset="-78"/>
              </a:rPr>
              <a:t>تعیین توان سیستم تهویه مطبوع با توجه به متغیرهای محیطی دما و رطوبت نسبی</a:t>
            </a:r>
            <a:endParaRPr lang="en-US" sz="2400" dirty="0">
              <a:solidFill>
                <a:srgbClr val="FF0000"/>
              </a:solidFill>
              <a:latin typeface="Adobe Arabic" panose="02040503050201020203" pitchFamily="18" charset="-78"/>
              <a:cs typeface="B Mitra" panose="00000400000000000000" pitchFamily="2" charset="-78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446906" y="3280812"/>
            <a:ext cx="7766936" cy="1096899"/>
          </a:xfrm>
        </p:spPr>
        <p:txBody>
          <a:bodyPr>
            <a:normAutofit/>
          </a:bodyPr>
          <a:lstStyle/>
          <a:p>
            <a:r>
              <a:rPr lang="fa-IR" sz="2800" dirty="0" smtClean="0">
                <a:solidFill>
                  <a:srgbClr val="002060"/>
                </a:solidFill>
                <a:cs typeface="B Mitra" panose="00000400000000000000" pitchFamily="2" charset="-78"/>
              </a:rPr>
              <a:t>ارائه دهنده: مهدی محمدی</a:t>
            </a:r>
          </a:p>
          <a:p>
            <a:r>
              <a:rPr lang="fa-IR" sz="2800" dirty="0" smtClean="0">
                <a:solidFill>
                  <a:srgbClr val="002060"/>
                </a:solidFill>
                <a:cs typeface="B Mitra" panose="00000400000000000000" pitchFamily="2" charset="-78"/>
              </a:rPr>
              <a:t>استاد درس: جناب دکتر جواد عسکری</a:t>
            </a:r>
            <a:endParaRPr lang="en-US" sz="2800" dirty="0">
              <a:solidFill>
                <a:srgbClr val="002060"/>
              </a:solidFill>
              <a:cs typeface="B Mitra" panose="00000400000000000000" pitchFamily="2" charset="-78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63E7BD-D2C6-433A-87F7-894B3E0B864D}" type="slidenum">
              <a:rPr lang="en-US" smtClean="0">
                <a:latin typeface="Adobe Arabic" panose="02040503050201020203" pitchFamily="18" charset="-78"/>
                <a:cs typeface="Adobe Arabic" panose="02040503050201020203" pitchFamily="18" charset="-78"/>
              </a:rPr>
              <a:pPr/>
              <a:t>1</a:t>
            </a:fld>
            <a:endParaRPr lang="en-US" dirty="0">
              <a:latin typeface="Adobe Arabic" panose="02040503050201020203" pitchFamily="18" charset="-78"/>
              <a:cs typeface="Adobe Arabic" panose="02040503050201020203" pitchFamily="18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23386144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63E7BD-D2C6-433A-87F7-894B3E0B864D}" type="slidenum">
              <a:rPr lang="en-US" smtClean="0"/>
              <a:pPr/>
              <a:t>2</a:t>
            </a:fld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6449190" y="146132"/>
            <a:ext cx="2824812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rtl="1"/>
            <a:r>
              <a:rPr lang="fa-IR" sz="2800" dirty="0" smtClean="0">
                <a:solidFill>
                  <a:srgbClr val="FF0000"/>
                </a:solidFill>
                <a:cs typeface="B Mitra" panose="00000400000000000000" pitchFamily="2" charset="-78"/>
              </a:rPr>
              <a:t>مفاهیم پایه در منطق فازی</a:t>
            </a:r>
            <a:endParaRPr lang="en" sz="2800" dirty="0">
              <a:solidFill>
                <a:srgbClr val="FF0000"/>
              </a:solidFill>
              <a:latin typeface="Calibri" panose="020F0502020204030204" pitchFamily="34" charset="0"/>
              <a:cs typeface="B Mitra" panose="00000400000000000000" pitchFamily="2" charset="-78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4131249" y="877652"/>
            <a:ext cx="5142753" cy="101566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rtl="1"/>
            <a:r>
              <a:rPr lang="fa-IR" sz="2000" dirty="0" smtClean="0">
                <a:cs typeface="B Mitra" panose="00000400000000000000" pitchFamily="2" charset="-78"/>
              </a:rPr>
              <a:t>منطق فازی</a:t>
            </a:r>
          </a:p>
          <a:p>
            <a:pPr marL="342900" indent="-342900" algn="r" rtl="1">
              <a:buClr>
                <a:srgbClr val="FF0000"/>
              </a:buClr>
              <a:buFont typeface="Wingdings" panose="05000000000000000000" pitchFamily="2" charset="2"/>
              <a:buChar char="ü"/>
            </a:pPr>
            <a:r>
              <a:rPr lang="fa-IR" sz="2000" dirty="0" smtClean="0">
                <a:cs typeface="B Mitra" panose="00000400000000000000" pitchFamily="2" charset="-78"/>
              </a:rPr>
              <a:t>عدم درست </a:t>
            </a:r>
            <a:r>
              <a:rPr lang="fa-IR" sz="2000" dirty="0">
                <a:cs typeface="B Mitra" panose="00000400000000000000" pitchFamily="2" charset="-78"/>
              </a:rPr>
              <a:t>یا غلط </a:t>
            </a:r>
            <a:r>
              <a:rPr lang="fa-IR" sz="2000" dirty="0" smtClean="0">
                <a:cs typeface="B Mitra" panose="00000400000000000000" pitchFamily="2" charset="-78"/>
              </a:rPr>
              <a:t>بودن گزاره‏ها به‏صورت کاملاً مشخص و واضح</a:t>
            </a:r>
          </a:p>
          <a:p>
            <a:pPr marL="342900" indent="-342900" algn="r" rtl="1">
              <a:buClr>
                <a:srgbClr val="FF0000"/>
              </a:buClr>
              <a:buFont typeface="Wingdings" panose="05000000000000000000" pitchFamily="2" charset="2"/>
              <a:buChar char="ü"/>
            </a:pPr>
            <a:r>
              <a:rPr lang="fa-IR" sz="2000" dirty="0" smtClean="0">
                <a:cs typeface="B Mitra" panose="00000400000000000000" pitchFamily="2" charset="-78"/>
              </a:rPr>
              <a:t>توصیف به صورت درجۀ درستی</a:t>
            </a:r>
            <a:endParaRPr lang="fa-IR" sz="2000" dirty="0">
              <a:cs typeface="B Mitra" panose="00000400000000000000" pitchFamily="2" charset="-78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3969345" y="2101615"/>
            <a:ext cx="5304657" cy="132343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rtl="1">
              <a:buClr>
                <a:srgbClr val="FF0000"/>
              </a:buClr>
            </a:pPr>
            <a:r>
              <a:rPr lang="fa-IR" sz="2000" dirty="0" smtClean="0">
                <a:cs typeface="B Mitra" panose="00000400000000000000" pitchFamily="2" charset="-78"/>
              </a:rPr>
              <a:t>کیف من در خانه است.</a:t>
            </a:r>
          </a:p>
          <a:p>
            <a:pPr algn="r" rtl="1">
              <a:buClr>
                <a:srgbClr val="FF0000"/>
              </a:buClr>
            </a:pPr>
            <a:r>
              <a:rPr lang="fa-IR" sz="2000" dirty="0" smtClean="0">
                <a:cs typeface="B Mitra" panose="00000400000000000000" pitchFamily="2" charset="-78"/>
              </a:rPr>
              <a:t>کتاب من در کیفم است.</a:t>
            </a:r>
          </a:p>
          <a:p>
            <a:pPr algn="r" rtl="1">
              <a:buClr>
                <a:srgbClr val="FF0000"/>
              </a:buClr>
            </a:pPr>
            <a:r>
              <a:rPr lang="fa-IR" sz="2000" dirty="0" smtClean="0">
                <a:cs typeface="B Mitra" panose="00000400000000000000" pitchFamily="2" charset="-78"/>
              </a:rPr>
              <a:t>برادر من از من بزرگتر است.</a:t>
            </a:r>
          </a:p>
          <a:p>
            <a:pPr marL="342900" indent="-342900" algn="r" rtl="1">
              <a:buClr>
                <a:srgbClr val="FF0000"/>
              </a:buClr>
              <a:buFont typeface="Wingdings" panose="05000000000000000000" pitchFamily="2" charset="2"/>
              <a:buChar char="ü"/>
            </a:pPr>
            <a:r>
              <a:rPr lang="fa-IR" sz="2000" dirty="0" smtClean="0">
                <a:cs typeface="B Mitra" panose="00000400000000000000" pitchFamily="2" charset="-78"/>
              </a:rPr>
              <a:t>درست یا غلط بودن گزاره‏های بالا به‏صورت کاملاً واضح و مشخص</a:t>
            </a:r>
            <a:endParaRPr lang="fa-IR" sz="2000" dirty="0">
              <a:cs typeface="B Mitra" panose="00000400000000000000" pitchFamily="2" charset="-78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3682407" y="3633354"/>
            <a:ext cx="5591595" cy="193899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rtl="1"/>
            <a:r>
              <a:rPr lang="fa-IR" sz="2000" dirty="0" smtClean="0">
                <a:cs typeface="B Mitra" panose="00000400000000000000" pitchFamily="2" charset="-78"/>
              </a:rPr>
              <a:t>علی بلند است.</a:t>
            </a:r>
          </a:p>
          <a:p>
            <a:pPr algn="r" rtl="1"/>
            <a:r>
              <a:rPr lang="fa-IR" sz="2000" dirty="0" smtClean="0">
                <a:cs typeface="B Mitra" panose="00000400000000000000" pitchFamily="2" charset="-78"/>
              </a:rPr>
              <a:t>هوا گرم است.</a:t>
            </a:r>
          </a:p>
          <a:p>
            <a:pPr algn="r" rtl="1"/>
            <a:r>
              <a:rPr lang="fa-IR" sz="2000" dirty="0" smtClean="0">
                <a:cs typeface="B Mitra" panose="00000400000000000000" pitchFamily="2" charset="-78"/>
              </a:rPr>
              <a:t>کتاب من بزرگ است.</a:t>
            </a:r>
          </a:p>
          <a:p>
            <a:pPr marL="342900" indent="-342900" algn="r" rtl="1">
              <a:buClr>
                <a:srgbClr val="FF0000"/>
              </a:buClr>
              <a:buFont typeface="Wingdings" panose="05000000000000000000" pitchFamily="2" charset="2"/>
              <a:buChar char="ü"/>
            </a:pPr>
            <a:r>
              <a:rPr lang="fa-IR" sz="2000" dirty="0" smtClean="0">
                <a:cs typeface="B Mitra" panose="00000400000000000000" pitchFamily="2" charset="-78"/>
              </a:rPr>
              <a:t>عدم درست </a:t>
            </a:r>
            <a:r>
              <a:rPr lang="fa-IR" sz="2000" dirty="0">
                <a:cs typeface="B Mitra" panose="00000400000000000000" pitchFamily="2" charset="-78"/>
              </a:rPr>
              <a:t>یا غلط </a:t>
            </a:r>
            <a:r>
              <a:rPr lang="fa-IR" sz="2000" dirty="0" smtClean="0">
                <a:cs typeface="B Mitra" panose="00000400000000000000" pitchFamily="2" charset="-78"/>
              </a:rPr>
              <a:t>بودن گزاره‏های بالا به‏صورت کاملاً واضح و مشخص</a:t>
            </a:r>
          </a:p>
          <a:p>
            <a:pPr marL="342900" indent="-342900" algn="r" rtl="1">
              <a:buClr>
                <a:srgbClr val="FF0000"/>
              </a:buClr>
              <a:buFont typeface="Wingdings" panose="05000000000000000000" pitchFamily="2" charset="2"/>
              <a:buChar char="ü"/>
            </a:pPr>
            <a:r>
              <a:rPr lang="fa-IR" sz="2000" dirty="0" smtClean="0">
                <a:cs typeface="B Mitra" panose="00000400000000000000" pitchFamily="2" charset="-78"/>
              </a:rPr>
              <a:t>توصیف به صورت درجۀ درستی</a:t>
            </a:r>
          </a:p>
          <a:p>
            <a:pPr marL="342900" indent="-342900" algn="r" rtl="1">
              <a:buClr>
                <a:srgbClr val="FF0000"/>
              </a:buClr>
              <a:buFont typeface="Wingdings" panose="05000000000000000000" pitchFamily="2" charset="2"/>
              <a:buChar char="ü"/>
            </a:pPr>
            <a:r>
              <a:rPr lang="fa-IR" sz="2000" dirty="0" smtClean="0">
                <a:cs typeface="B Mitra" panose="00000400000000000000" pitchFamily="2" charset="-78"/>
              </a:rPr>
              <a:t>بیان درجۀ درستی به صورت عددی در بازۀ 0 الی 1</a:t>
            </a:r>
            <a:endParaRPr lang="fa-IR" sz="2000" dirty="0">
              <a:cs typeface="B Mitra" panose="00000400000000000000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18585992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63E7BD-D2C6-433A-87F7-894B3E0B864D}" type="slidenum">
              <a:rPr lang="en-US" smtClean="0"/>
              <a:pPr/>
              <a:t>3</a:t>
            </a:fld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6449190" y="146132"/>
            <a:ext cx="2824812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rtl="1"/>
            <a:r>
              <a:rPr lang="fa-IR" sz="2800" dirty="0" smtClean="0">
                <a:solidFill>
                  <a:srgbClr val="FF0000"/>
                </a:solidFill>
                <a:cs typeface="B Mitra" panose="00000400000000000000" pitchFamily="2" charset="-78"/>
              </a:rPr>
              <a:t>مفاهیم پایه در منطق فازی</a:t>
            </a:r>
            <a:endParaRPr lang="en" sz="2800" dirty="0">
              <a:solidFill>
                <a:srgbClr val="FF0000"/>
              </a:solidFill>
              <a:latin typeface="Calibri" panose="020F0502020204030204" pitchFamily="34" charset="0"/>
              <a:cs typeface="B Mitra" panose="00000400000000000000" pitchFamily="2" charset="-78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6171806" y="877652"/>
            <a:ext cx="3102196" cy="255454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rtl="1"/>
            <a:r>
              <a:rPr lang="fa-IR" sz="2000" dirty="0" smtClean="0">
                <a:cs typeface="B Mitra" panose="00000400000000000000" pitchFamily="2" charset="-78"/>
              </a:rPr>
              <a:t>تابع عضویت</a:t>
            </a:r>
          </a:p>
          <a:p>
            <a:pPr marL="342900" indent="-342900" algn="r" rtl="1">
              <a:buClr>
                <a:srgbClr val="FF0000"/>
              </a:buClr>
              <a:buFont typeface="Wingdings" panose="05000000000000000000" pitchFamily="2" charset="2"/>
              <a:buChar char="ü"/>
            </a:pPr>
            <a:r>
              <a:rPr lang="fa-IR" sz="2000" dirty="0" smtClean="0">
                <a:cs typeface="B Mitra" panose="00000400000000000000" pitchFamily="2" charset="-78"/>
              </a:rPr>
              <a:t>تابع نگاشت ورودی به درجۀ عوضیت</a:t>
            </a:r>
          </a:p>
          <a:p>
            <a:pPr marL="342900" indent="-342900" algn="r" rtl="1">
              <a:buClr>
                <a:srgbClr val="FF0000"/>
              </a:buClr>
              <a:buFont typeface="Wingdings" panose="05000000000000000000" pitchFamily="2" charset="2"/>
              <a:buChar char="ü"/>
            </a:pPr>
            <a:r>
              <a:rPr lang="fa-IR" sz="2000" dirty="0" smtClean="0">
                <a:cs typeface="B Mitra" panose="00000400000000000000" pitchFamily="2" charset="-78"/>
              </a:rPr>
              <a:t>درجۀ عضویت عددی مابین 0 تا 1</a:t>
            </a:r>
          </a:p>
          <a:p>
            <a:pPr algn="r" rtl="1">
              <a:buClr>
                <a:srgbClr val="FF0000"/>
              </a:buClr>
            </a:pPr>
            <a:endParaRPr lang="fa-IR" sz="2000" dirty="0" smtClean="0">
              <a:cs typeface="B Mitra" panose="00000400000000000000" pitchFamily="2" charset="-78"/>
            </a:endParaRPr>
          </a:p>
          <a:p>
            <a:pPr algn="r" rtl="1">
              <a:buClr>
                <a:srgbClr val="FF0000"/>
              </a:buClr>
            </a:pPr>
            <a:r>
              <a:rPr lang="fa-IR" sz="2000" dirty="0" smtClean="0">
                <a:cs typeface="B Mitra" panose="00000400000000000000" pitchFamily="2" charset="-78"/>
              </a:rPr>
              <a:t>توابع عضویت معروف</a:t>
            </a:r>
          </a:p>
          <a:p>
            <a:pPr marL="342900" indent="-342900" algn="r" rtl="1">
              <a:buClr>
                <a:srgbClr val="FF0000"/>
              </a:buClr>
              <a:buFont typeface="Wingdings" panose="05000000000000000000" pitchFamily="2" charset="2"/>
              <a:buChar char="ü"/>
            </a:pPr>
            <a:r>
              <a:rPr lang="fa-IR" sz="2000" dirty="0" smtClean="0">
                <a:cs typeface="B Mitra" panose="00000400000000000000" pitchFamily="2" charset="-78"/>
              </a:rPr>
              <a:t>مثلثی</a:t>
            </a:r>
          </a:p>
          <a:p>
            <a:pPr marL="342900" indent="-342900" algn="r" rtl="1">
              <a:buClr>
                <a:srgbClr val="FF0000"/>
              </a:buClr>
              <a:buFont typeface="Wingdings" panose="05000000000000000000" pitchFamily="2" charset="2"/>
              <a:buChar char="ü"/>
            </a:pPr>
            <a:r>
              <a:rPr lang="fa-IR" sz="2000" dirty="0" smtClean="0">
                <a:cs typeface="B Mitra" panose="00000400000000000000" pitchFamily="2" charset="-78"/>
              </a:rPr>
              <a:t>ذوزنقه‏ای</a:t>
            </a:r>
          </a:p>
          <a:p>
            <a:pPr marL="342900" indent="-342900" algn="r" rtl="1">
              <a:buClr>
                <a:srgbClr val="FF0000"/>
              </a:buClr>
              <a:buFont typeface="Wingdings" panose="05000000000000000000" pitchFamily="2" charset="2"/>
              <a:buChar char="ü"/>
            </a:pPr>
            <a:r>
              <a:rPr lang="fa-IR" sz="2000" dirty="0" smtClean="0">
                <a:cs typeface="B Mitra" panose="00000400000000000000" pitchFamily="2" charset="-78"/>
              </a:rPr>
              <a:t>گوسی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2975369" y="3636642"/>
            <a:ext cx="5695950" cy="2200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52258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63E7BD-D2C6-433A-87F7-894B3E0B864D}" type="slidenum">
              <a:rPr lang="en-US" smtClean="0"/>
              <a:pPr/>
              <a:t>4</a:t>
            </a:fld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6449190" y="146132"/>
            <a:ext cx="2824812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rtl="1"/>
            <a:r>
              <a:rPr lang="fa-IR" sz="2800" dirty="0" smtClean="0">
                <a:solidFill>
                  <a:srgbClr val="FF0000"/>
                </a:solidFill>
                <a:cs typeface="B Mitra" panose="00000400000000000000" pitchFamily="2" charset="-78"/>
              </a:rPr>
              <a:t>مفاهیم پایه در منطق فازی</a:t>
            </a:r>
            <a:endParaRPr lang="en" sz="2800" dirty="0">
              <a:solidFill>
                <a:srgbClr val="FF0000"/>
              </a:solidFill>
              <a:latin typeface="Calibri" panose="020F0502020204030204" pitchFamily="34" charset="0"/>
              <a:cs typeface="B Mitra" panose="00000400000000000000" pitchFamily="2" charset="-78"/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11664" y="1612878"/>
            <a:ext cx="4503420" cy="35661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50608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63E7BD-D2C6-433A-87F7-894B3E0B864D}" type="slidenum">
              <a:rPr lang="en-US" smtClean="0"/>
              <a:pPr/>
              <a:t>5</a:t>
            </a:fld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7811743" y="146132"/>
            <a:ext cx="1462260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rtl="1"/>
            <a:r>
              <a:rPr lang="fa-IR" sz="2800" dirty="0" smtClean="0">
                <a:solidFill>
                  <a:srgbClr val="FF0000"/>
                </a:solidFill>
                <a:cs typeface="B Mitra" panose="00000400000000000000" pitchFamily="2" charset="-78"/>
              </a:rPr>
              <a:t>استنتاج فازی</a:t>
            </a:r>
            <a:endParaRPr lang="en" sz="2800" dirty="0">
              <a:solidFill>
                <a:srgbClr val="FF0000"/>
              </a:solidFill>
              <a:latin typeface="Calibri" panose="020F0502020204030204" pitchFamily="34" charset="0"/>
              <a:cs typeface="B Mitra" panose="00000400000000000000" pitchFamily="2" charset="-78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3178002" y="904099"/>
            <a:ext cx="6096000" cy="923330"/>
          </a:xfrm>
          <a:prstGeom prst="rect">
            <a:avLst/>
          </a:prstGeom>
        </p:spPr>
        <p:txBody>
          <a:bodyPr>
            <a:spAutoFit/>
          </a:bodyPr>
          <a:lstStyle/>
          <a:p>
            <a:pPr algn="r" rtl="1"/>
            <a:r>
              <a:rPr lang="fa-IR" dirty="0" smtClean="0">
                <a:cs typeface="B Mitra" panose="00000400000000000000" pitchFamily="2" charset="-78"/>
              </a:rPr>
              <a:t>استنتاج فازی</a:t>
            </a:r>
          </a:p>
          <a:p>
            <a:pPr marL="342900" indent="-342900" algn="r" rtl="1">
              <a:buClr>
                <a:srgbClr val="FF0000"/>
              </a:buClr>
              <a:buFont typeface="Wingdings" panose="05000000000000000000" pitchFamily="2" charset="2"/>
              <a:buChar char="ü"/>
            </a:pPr>
            <a:r>
              <a:rPr lang="fa-IR" dirty="0" smtClean="0">
                <a:cs typeface="B Mitra" panose="00000400000000000000" pitchFamily="2" charset="-78"/>
              </a:rPr>
              <a:t>روشی برای تفسیر مقادیر بردار ورودی مبتنی بر مجموعه‏ای از قوانین</a:t>
            </a:r>
          </a:p>
          <a:p>
            <a:pPr marL="342900" indent="-342900" algn="r" rtl="1">
              <a:buClr>
                <a:srgbClr val="FF0000"/>
              </a:buClr>
              <a:buFont typeface="Wingdings" panose="05000000000000000000" pitchFamily="2" charset="2"/>
              <a:buChar char="ü"/>
            </a:pPr>
            <a:r>
              <a:rPr lang="fa-IR" dirty="0" smtClean="0">
                <a:cs typeface="B Mitra" panose="00000400000000000000" pitchFamily="2" charset="-78"/>
              </a:rPr>
              <a:t>مقداردهی بردار خروجی</a:t>
            </a:r>
            <a:endParaRPr lang="en" dirty="0">
              <a:cs typeface="B Mitra" panose="00000400000000000000" pitchFamily="2" charset="-78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3178002" y="2062176"/>
            <a:ext cx="6096000" cy="1477328"/>
          </a:xfrm>
          <a:prstGeom prst="rect">
            <a:avLst/>
          </a:prstGeom>
        </p:spPr>
        <p:txBody>
          <a:bodyPr>
            <a:spAutoFit/>
          </a:bodyPr>
          <a:lstStyle/>
          <a:p>
            <a:pPr algn="r" rtl="1"/>
            <a:r>
              <a:rPr lang="fa-IR" dirty="0" smtClean="0">
                <a:cs typeface="B Mitra" panose="00000400000000000000" pitchFamily="2" charset="-78"/>
              </a:rPr>
              <a:t>مراحل طراحی یک سیستم استنتاج فازی</a:t>
            </a:r>
          </a:p>
          <a:p>
            <a:pPr algn="r" rtl="1">
              <a:buClr>
                <a:srgbClr val="FF0000"/>
              </a:buClr>
            </a:pPr>
            <a:r>
              <a:rPr lang="fa-IR" dirty="0" smtClean="0">
                <a:solidFill>
                  <a:srgbClr val="FF0000"/>
                </a:solidFill>
                <a:cs typeface="B Mitra" panose="00000400000000000000" pitchFamily="2" charset="-78"/>
              </a:rPr>
              <a:t>   1. </a:t>
            </a:r>
            <a:r>
              <a:rPr lang="fa-IR" dirty="0" smtClean="0">
                <a:cs typeface="B Mitra" panose="00000400000000000000" pitchFamily="2" charset="-78"/>
              </a:rPr>
              <a:t>فازی‏سازی</a:t>
            </a:r>
          </a:p>
          <a:p>
            <a:pPr algn="r" rtl="1">
              <a:buClr>
                <a:srgbClr val="FF0000"/>
              </a:buClr>
            </a:pPr>
            <a:r>
              <a:rPr lang="fa-IR" dirty="0" smtClean="0">
                <a:solidFill>
                  <a:srgbClr val="FF0000"/>
                </a:solidFill>
                <a:cs typeface="B Mitra" panose="00000400000000000000" pitchFamily="2" charset="-78"/>
              </a:rPr>
              <a:t>   2. </a:t>
            </a:r>
            <a:r>
              <a:rPr lang="fa-IR" dirty="0" smtClean="0">
                <a:cs typeface="B Mitra" panose="00000400000000000000" pitchFamily="2" charset="-78"/>
              </a:rPr>
              <a:t>ساخت پایگاه قوانین</a:t>
            </a:r>
          </a:p>
          <a:p>
            <a:pPr algn="r" rtl="1">
              <a:buClr>
                <a:srgbClr val="FF0000"/>
              </a:buClr>
            </a:pPr>
            <a:r>
              <a:rPr lang="fa-IR" dirty="0" smtClean="0">
                <a:solidFill>
                  <a:srgbClr val="FF0000"/>
                </a:solidFill>
                <a:cs typeface="B Mitra" panose="00000400000000000000" pitchFamily="2" charset="-78"/>
              </a:rPr>
              <a:t>   3. </a:t>
            </a:r>
            <a:r>
              <a:rPr lang="fa-IR" dirty="0" smtClean="0">
                <a:cs typeface="B Mitra" panose="00000400000000000000" pitchFamily="2" charset="-78"/>
              </a:rPr>
              <a:t>استنتاج</a:t>
            </a:r>
          </a:p>
          <a:p>
            <a:pPr algn="r" rtl="1">
              <a:buClr>
                <a:srgbClr val="FF0000"/>
              </a:buClr>
            </a:pPr>
            <a:r>
              <a:rPr lang="fa-IR" dirty="0" smtClean="0">
                <a:solidFill>
                  <a:srgbClr val="FF0000"/>
                </a:solidFill>
                <a:cs typeface="B Mitra" panose="00000400000000000000" pitchFamily="2" charset="-78"/>
              </a:rPr>
              <a:t>   4. </a:t>
            </a:r>
            <a:r>
              <a:rPr lang="fa-IR" dirty="0" smtClean="0">
                <a:cs typeface="B Mitra" panose="00000400000000000000" pitchFamily="2" charset="-78"/>
              </a:rPr>
              <a:t>نافازی‏سازی</a:t>
            </a:r>
          </a:p>
        </p:txBody>
      </p:sp>
      <p:sp>
        <p:nvSpPr>
          <p:cNvPr id="6" name="Rectangle 5"/>
          <p:cNvSpPr/>
          <p:nvPr/>
        </p:nvSpPr>
        <p:spPr>
          <a:xfrm>
            <a:off x="3178002" y="3774251"/>
            <a:ext cx="6096000" cy="2031325"/>
          </a:xfrm>
          <a:prstGeom prst="rect">
            <a:avLst/>
          </a:prstGeom>
        </p:spPr>
        <p:txBody>
          <a:bodyPr>
            <a:spAutoFit/>
          </a:bodyPr>
          <a:lstStyle/>
          <a:p>
            <a:pPr algn="r" rtl="1"/>
            <a:r>
              <a:rPr lang="fa-IR" dirty="0" smtClean="0">
                <a:cs typeface="B Mitra" panose="00000400000000000000" pitchFamily="2" charset="-78"/>
              </a:rPr>
              <a:t>انواع سیستم‏های فازی</a:t>
            </a:r>
          </a:p>
          <a:p>
            <a:pPr marL="285750" indent="-285750" algn="r" rtl="1">
              <a:buClr>
                <a:srgbClr val="FF0000"/>
              </a:buClr>
              <a:buFont typeface="Wingdings" panose="05000000000000000000" pitchFamily="2" charset="2"/>
              <a:buChar char="ü"/>
            </a:pPr>
            <a:r>
              <a:rPr lang="fa-IR" dirty="0" smtClean="0">
                <a:cs typeface="B Mitra" panose="00000400000000000000" pitchFamily="2" charset="-78"/>
              </a:rPr>
              <a:t>تفاوت در بیان خروجی‏های قوانین</a:t>
            </a:r>
          </a:p>
          <a:p>
            <a:pPr marL="742950" lvl="1" indent="-285750" algn="r" rtl="1">
              <a:buClr>
                <a:srgbClr val="FF0000"/>
              </a:buClr>
              <a:buFont typeface="Courier New" panose="02070309020205020404" pitchFamily="49" charset="0"/>
              <a:buChar char="o"/>
            </a:pPr>
            <a:r>
              <a:rPr lang="en-US" dirty="0" err="1">
                <a:cs typeface="B Mitra" panose="00000400000000000000" pitchFamily="2" charset="-78"/>
              </a:rPr>
              <a:t>Mamdani</a:t>
            </a:r>
            <a:endParaRPr lang="en-US" dirty="0" smtClean="0">
              <a:cs typeface="B Mitra" panose="00000400000000000000" pitchFamily="2" charset="-78"/>
            </a:endParaRPr>
          </a:p>
          <a:p>
            <a:pPr marL="1200150" lvl="2" indent="-285750" algn="r" rtl="1">
              <a:buClr>
                <a:srgbClr val="FF0000"/>
              </a:buClr>
              <a:buFont typeface="Wingdings" panose="05000000000000000000" pitchFamily="2" charset="2"/>
              <a:buChar char="§"/>
            </a:pPr>
            <a:r>
              <a:rPr lang="fa-IR" dirty="0" smtClean="0">
                <a:cs typeface="B Mitra" panose="00000400000000000000" pitchFamily="2" charset="-78"/>
              </a:rPr>
              <a:t>بیان خروجی به شکل فازی</a:t>
            </a:r>
          </a:p>
          <a:p>
            <a:pPr marL="742950" lvl="1" indent="-285750" algn="r" rtl="1">
              <a:buClr>
                <a:srgbClr val="FF0000"/>
              </a:buClr>
              <a:buFont typeface="Courier New" panose="02070309020205020404" pitchFamily="49" charset="0"/>
              <a:buChar char="o"/>
            </a:pPr>
            <a:r>
              <a:rPr lang="en-US" dirty="0" err="1"/>
              <a:t>Sugeno</a:t>
            </a:r>
            <a:endParaRPr lang="fa-IR" dirty="0" smtClean="0">
              <a:cs typeface="B Mitra" panose="00000400000000000000" pitchFamily="2" charset="-78"/>
            </a:endParaRPr>
          </a:p>
          <a:p>
            <a:pPr marL="1200150" lvl="2" indent="-285750" algn="r" rtl="1">
              <a:buClr>
                <a:srgbClr val="FF0000"/>
              </a:buClr>
              <a:buFont typeface="Wingdings" panose="05000000000000000000" pitchFamily="2" charset="2"/>
              <a:buChar char="§"/>
            </a:pPr>
            <a:r>
              <a:rPr lang="fa-IR" dirty="0" smtClean="0">
                <a:cs typeface="B Mitra" panose="00000400000000000000" pitchFamily="2" charset="-78"/>
              </a:rPr>
              <a:t>تعریف خروجی به شکل ترکیب خطی از ورودی‏ها با ضرایب مجهول یا به شکل ثابت (</a:t>
            </a:r>
            <a:r>
              <a:rPr lang="en-US" dirty="0" smtClean="0">
                <a:cs typeface="B Mitra" panose="00000400000000000000" pitchFamily="2" charset="-78"/>
              </a:rPr>
              <a:t>TSK</a:t>
            </a:r>
            <a:r>
              <a:rPr lang="fa-IR" dirty="0" smtClean="0">
                <a:cs typeface="B Mitra" panose="00000400000000000000" pitchFamily="2" charset="-78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7301518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63E7BD-D2C6-433A-87F7-894B3E0B864D}" type="slidenum">
              <a:rPr lang="en-US" smtClean="0"/>
              <a:pPr/>
              <a:t>6</a:t>
            </a:fld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7811743" y="146132"/>
            <a:ext cx="1462260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rtl="1"/>
            <a:r>
              <a:rPr lang="fa-IR" sz="2800" dirty="0" smtClean="0">
                <a:solidFill>
                  <a:srgbClr val="FF0000"/>
                </a:solidFill>
                <a:cs typeface="B Mitra" panose="00000400000000000000" pitchFamily="2" charset="-78"/>
              </a:rPr>
              <a:t>استنتاج فازی</a:t>
            </a:r>
            <a:endParaRPr lang="en" sz="2800" dirty="0">
              <a:solidFill>
                <a:srgbClr val="FF0000"/>
              </a:solidFill>
              <a:latin typeface="Calibri" panose="020F0502020204030204" pitchFamily="34" charset="0"/>
              <a:cs typeface="B Mitra" panose="00000400000000000000" pitchFamily="2" charset="-78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3178002" y="904099"/>
            <a:ext cx="6096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pPr algn="r" rtl="1"/>
            <a:r>
              <a:rPr lang="fa-IR" dirty="0" smtClean="0">
                <a:cs typeface="B Mitra" panose="00000400000000000000" pitchFamily="2" charset="-78"/>
              </a:rPr>
              <a:t>فازی‏سازی</a:t>
            </a:r>
          </a:p>
          <a:p>
            <a:pPr marL="342900" indent="-342900" algn="r" rtl="1">
              <a:buClr>
                <a:srgbClr val="FF0000"/>
              </a:buClr>
              <a:buFont typeface="Wingdings" panose="05000000000000000000" pitchFamily="2" charset="2"/>
              <a:buChar char="ü"/>
            </a:pPr>
            <a:r>
              <a:rPr lang="fa-IR" dirty="0" smtClean="0">
                <a:cs typeface="B Mitra" panose="00000400000000000000" pitchFamily="2" charset="-78"/>
              </a:rPr>
              <a:t>تعیین درجۀ عضویت هر کدام از ورودی‏ها با کمک توابع عضویت فازی</a:t>
            </a: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957409" y="1612878"/>
            <a:ext cx="4011930" cy="1980248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3193282" y="3824297"/>
            <a:ext cx="6096000" cy="1754326"/>
          </a:xfrm>
          <a:prstGeom prst="rect">
            <a:avLst/>
          </a:prstGeom>
        </p:spPr>
        <p:txBody>
          <a:bodyPr>
            <a:spAutoFit/>
          </a:bodyPr>
          <a:lstStyle/>
          <a:p>
            <a:pPr algn="r" rtl="1"/>
            <a:r>
              <a:rPr lang="fa-IR" dirty="0" smtClean="0">
                <a:cs typeface="B Mitra" panose="00000400000000000000" pitchFamily="2" charset="-78"/>
              </a:rPr>
              <a:t>ساخت پایگاه قوانین و داده‏ها</a:t>
            </a:r>
          </a:p>
          <a:p>
            <a:pPr algn="r" rtl="1"/>
            <a:endParaRPr lang="fa-IR" dirty="0">
              <a:cs typeface="B Mitra" panose="00000400000000000000" pitchFamily="2" charset="-78"/>
            </a:endParaRPr>
          </a:p>
          <a:p>
            <a:pPr algn="r" rtl="1"/>
            <a:endParaRPr lang="fa-IR" dirty="0" smtClean="0">
              <a:cs typeface="B Mitra" panose="00000400000000000000" pitchFamily="2" charset="-78"/>
            </a:endParaRPr>
          </a:p>
          <a:p>
            <a:pPr marL="342900" indent="-342900" algn="r" rtl="1">
              <a:buClr>
                <a:srgbClr val="FF0000"/>
              </a:buClr>
              <a:buFont typeface="Wingdings" panose="05000000000000000000" pitchFamily="2" charset="2"/>
              <a:buChar char="ü"/>
            </a:pPr>
            <a:r>
              <a:rPr lang="en-US" dirty="0" smtClean="0">
                <a:cs typeface="B Mitra" panose="00000400000000000000" pitchFamily="2" charset="-78"/>
              </a:rPr>
              <a:t>x</a:t>
            </a:r>
            <a:r>
              <a:rPr lang="fa-IR" dirty="0" smtClean="0">
                <a:cs typeface="B Mitra" panose="00000400000000000000" pitchFamily="2" charset="-78"/>
              </a:rPr>
              <a:t>-ها ورودی‏های سیستم</a:t>
            </a:r>
          </a:p>
          <a:p>
            <a:pPr marL="342900" indent="-342900" algn="r" rtl="1">
              <a:buClr>
                <a:srgbClr val="FF0000"/>
              </a:buClr>
              <a:buFont typeface="Wingdings" panose="05000000000000000000" pitchFamily="2" charset="2"/>
              <a:buChar char="ü"/>
            </a:pPr>
            <a:r>
              <a:rPr lang="en-US" dirty="0" smtClean="0">
                <a:cs typeface="B Mitra" panose="00000400000000000000" pitchFamily="2" charset="-78"/>
              </a:rPr>
              <a:t>A</a:t>
            </a:r>
            <a:r>
              <a:rPr lang="fa-IR" dirty="0" smtClean="0">
                <a:cs typeface="B Mitra" panose="00000400000000000000" pitchFamily="2" charset="-78"/>
              </a:rPr>
              <a:t> و </a:t>
            </a:r>
            <a:r>
              <a:rPr lang="en-US" dirty="0" smtClean="0">
                <a:cs typeface="B Mitra" panose="00000400000000000000" pitchFamily="2" charset="-78"/>
              </a:rPr>
              <a:t>B</a:t>
            </a:r>
            <a:r>
              <a:rPr lang="fa-IR" dirty="0" smtClean="0">
                <a:cs typeface="B Mitra" panose="00000400000000000000" pitchFamily="2" charset="-78"/>
              </a:rPr>
              <a:t> مجموعه‏های فازی توصیف شده یا توابع عضویت</a:t>
            </a:r>
          </a:p>
          <a:p>
            <a:pPr marL="342900" indent="-342900" algn="r" rtl="1">
              <a:buClr>
                <a:srgbClr val="FF0000"/>
              </a:buClr>
              <a:buFont typeface="Wingdings" panose="05000000000000000000" pitchFamily="2" charset="2"/>
              <a:buChar char="ü"/>
            </a:pPr>
            <a:r>
              <a:rPr lang="en-US" dirty="0" smtClean="0">
                <a:cs typeface="B Mitra" panose="00000400000000000000" pitchFamily="2" charset="-78"/>
              </a:rPr>
              <a:t>y</a:t>
            </a:r>
            <a:r>
              <a:rPr lang="fa-IR" dirty="0" smtClean="0">
                <a:cs typeface="B Mitra" panose="00000400000000000000" pitchFamily="2" charset="-78"/>
              </a:rPr>
              <a:t> خروجی سیستم</a:t>
            </a: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sharpenSoften amount="5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563074" y="4245403"/>
            <a:ext cx="4800600" cy="4560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24315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63E7BD-D2C6-433A-87F7-894B3E0B864D}" type="slidenum">
              <a:rPr lang="en-US" smtClean="0"/>
              <a:pPr/>
              <a:t>7</a:t>
            </a:fld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7811743" y="146132"/>
            <a:ext cx="1462260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rtl="1"/>
            <a:r>
              <a:rPr lang="fa-IR" sz="2800" dirty="0" smtClean="0">
                <a:solidFill>
                  <a:srgbClr val="FF0000"/>
                </a:solidFill>
                <a:cs typeface="B Mitra" panose="00000400000000000000" pitchFamily="2" charset="-78"/>
              </a:rPr>
              <a:t>استنتاج فازی</a:t>
            </a:r>
            <a:endParaRPr lang="en" sz="2800" dirty="0">
              <a:solidFill>
                <a:srgbClr val="FF0000"/>
              </a:solidFill>
              <a:latin typeface="Calibri" panose="020F0502020204030204" pitchFamily="34" charset="0"/>
              <a:cs typeface="B Mitra" panose="00000400000000000000" pitchFamily="2" charset="-78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3178002" y="904099"/>
            <a:ext cx="6096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pPr algn="r" rtl="1"/>
            <a:r>
              <a:rPr lang="fa-IR" dirty="0" smtClean="0">
                <a:cs typeface="B Mitra" panose="00000400000000000000" pitchFamily="2" charset="-78"/>
              </a:rPr>
              <a:t>اعمال عملگرها بر روی قوانین در بخش ورودی‏ها</a:t>
            </a:r>
          </a:p>
          <a:p>
            <a:pPr marL="285750" indent="-285750" algn="r" rtl="1">
              <a:buClr>
                <a:srgbClr val="FF0000"/>
              </a:buClr>
              <a:buFont typeface="Wingdings" panose="05000000000000000000" pitchFamily="2" charset="2"/>
              <a:buChar char="ü"/>
            </a:pPr>
            <a:r>
              <a:rPr lang="fa-IR" dirty="0" smtClean="0">
                <a:cs typeface="B Mitra" panose="00000400000000000000" pitchFamily="2" charset="-78"/>
              </a:rPr>
              <a:t>مشخص شدن درجۀ عضویت هر مقدار ورودی با توجه به توابع عضویت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24325" y="1776412"/>
            <a:ext cx="3943350" cy="3305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53793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63E7BD-D2C6-433A-87F7-894B3E0B864D}" type="slidenum">
              <a:rPr lang="en-US" smtClean="0"/>
              <a:pPr/>
              <a:t>8</a:t>
            </a:fld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7811743" y="146132"/>
            <a:ext cx="1462260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rtl="1"/>
            <a:r>
              <a:rPr lang="fa-IR" sz="2800" dirty="0" smtClean="0">
                <a:solidFill>
                  <a:srgbClr val="FF0000"/>
                </a:solidFill>
                <a:cs typeface="B Mitra" panose="00000400000000000000" pitchFamily="2" charset="-78"/>
              </a:rPr>
              <a:t>استنتاج فازی</a:t>
            </a:r>
            <a:endParaRPr lang="en" sz="2800" dirty="0">
              <a:solidFill>
                <a:srgbClr val="FF0000"/>
              </a:solidFill>
              <a:latin typeface="Calibri" panose="020F0502020204030204" pitchFamily="34" charset="0"/>
              <a:cs typeface="B Mitra" panose="00000400000000000000" pitchFamily="2" charset="-78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3178002" y="904099"/>
            <a:ext cx="6096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pPr algn="r" rtl="1"/>
            <a:r>
              <a:rPr lang="fa-IR" dirty="0" smtClean="0">
                <a:cs typeface="B Mitra" panose="00000400000000000000" pitchFamily="2" charset="-78"/>
              </a:rPr>
              <a:t>یافتن تابع عضویت خروجی (</a:t>
            </a:r>
            <a:r>
              <a:rPr lang="en-US" dirty="0" smtClean="0">
                <a:cs typeface="B Mitra" panose="00000400000000000000" pitchFamily="2" charset="-78"/>
              </a:rPr>
              <a:t>Implication</a:t>
            </a:r>
            <a:r>
              <a:rPr lang="fa-IR" dirty="0" smtClean="0">
                <a:cs typeface="B Mitra" panose="00000400000000000000" pitchFamily="2" charset="-78"/>
              </a:rPr>
              <a:t>)</a:t>
            </a:r>
          </a:p>
          <a:p>
            <a:pPr marL="285750" indent="-285750" algn="r" rtl="1">
              <a:buClr>
                <a:srgbClr val="FF0000"/>
              </a:buClr>
              <a:buFont typeface="Wingdings" panose="05000000000000000000" pitchFamily="2" charset="2"/>
              <a:buChar char="ü"/>
            </a:pPr>
            <a:r>
              <a:rPr lang="fa-IR" dirty="0" smtClean="0">
                <a:cs typeface="B Mitra" panose="00000400000000000000" pitchFamily="2" charset="-78"/>
              </a:rPr>
              <a:t>یافتن خروجی سیستم با مشخص شدن درجۀ عضویت ورودی‏ها</a:t>
            </a:r>
            <a:r>
              <a:rPr lang="fa-IR" dirty="0">
                <a:cs typeface="B Mitra" panose="00000400000000000000" pitchFamily="2" charset="-78"/>
              </a:rPr>
              <a:t> </a:t>
            </a:r>
            <a:r>
              <a:rPr lang="fa-IR" dirty="0" smtClean="0">
                <a:cs typeface="B Mitra" panose="00000400000000000000" pitchFamily="2" charset="-78"/>
              </a:rPr>
              <a:t>(</a:t>
            </a:r>
            <a:r>
              <a:rPr lang="en-US" dirty="0" err="1" smtClean="0">
                <a:cs typeface="B Mitra" panose="00000400000000000000" pitchFamily="2" charset="-78"/>
              </a:rPr>
              <a:t>Mamdani</a:t>
            </a:r>
            <a:r>
              <a:rPr lang="fa-IR" dirty="0" smtClean="0">
                <a:cs typeface="B Mitra" panose="00000400000000000000" pitchFamily="2" charset="-78"/>
              </a:rPr>
              <a:t>)</a:t>
            </a:r>
          </a:p>
        </p:txBody>
      </p:sp>
      <p:sp>
        <p:nvSpPr>
          <p:cNvPr id="6" name="Right Arrow 5"/>
          <p:cNvSpPr/>
          <p:nvPr/>
        </p:nvSpPr>
        <p:spPr>
          <a:xfrm flipH="1">
            <a:off x="9274002" y="3083428"/>
            <a:ext cx="647114" cy="250436"/>
          </a:xfrm>
          <a:prstGeom prst="rightArrow">
            <a:avLst/>
          </a:prstGeom>
          <a:solidFill>
            <a:srgbClr val="FF6699"/>
          </a:solidFill>
          <a:ln>
            <a:solidFill>
              <a:srgbClr val="FF6699"/>
            </a:solidFill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0000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9927528" y="2964532"/>
            <a:ext cx="8034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a-IR" dirty="0" smtClean="0">
                <a:cs typeface="B Mitra" panose="00000400000000000000" pitchFamily="2" charset="-78"/>
              </a:rPr>
              <a:t>قانون اول</a:t>
            </a:r>
            <a:endParaRPr lang="en-US" dirty="0">
              <a:cs typeface="B Mitra" panose="00000400000000000000" pitchFamily="2" charset="-78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9921116" y="3776964"/>
            <a:ext cx="80983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a-IR" dirty="0" smtClean="0">
                <a:cs typeface="B Mitra" panose="00000400000000000000" pitchFamily="2" charset="-78"/>
              </a:rPr>
              <a:t>قانون دوم</a:t>
            </a:r>
            <a:endParaRPr lang="en-US" dirty="0">
              <a:cs typeface="B Mitra" panose="00000400000000000000" pitchFamily="2" charset="-78"/>
            </a:endParaRPr>
          </a:p>
        </p:txBody>
      </p:sp>
      <p:sp>
        <p:nvSpPr>
          <p:cNvPr id="12" name="Right Arrow 11"/>
          <p:cNvSpPr/>
          <p:nvPr/>
        </p:nvSpPr>
        <p:spPr>
          <a:xfrm flipH="1">
            <a:off x="9280414" y="3895860"/>
            <a:ext cx="647114" cy="250436"/>
          </a:xfrm>
          <a:prstGeom prst="rightArrow">
            <a:avLst/>
          </a:prstGeom>
          <a:solidFill>
            <a:srgbClr val="FF6699"/>
          </a:solidFill>
          <a:ln>
            <a:solidFill>
              <a:srgbClr val="FF6699"/>
            </a:solidFill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0000"/>
              </a:solidFill>
            </a:endParaRPr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56271" y="1986810"/>
            <a:ext cx="4076700" cy="3705225"/>
          </a:xfrm>
          <a:prstGeom prst="rect">
            <a:avLst/>
          </a:prstGeom>
        </p:spPr>
      </p:pic>
      <p:pic>
        <p:nvPicPr>
          <p:cNvPr id="14" name="Picture 1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1235" y="1917762"/>
            <a:ext cx="4229100" cy="3771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5997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63E7BD-D2C6-433A-87F7-894B3E0B864D}" type="slidenum">
              <a:rPr lang="en-US" smtClean="0"/>
              <a:pPr/>
              <a:t>9</a:t>
            </a:fld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7811743" y="146132"/>
            <a:ext cx="1462260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rtl="1"/>
            <a:r>
              <a:rPr lang="fa-IR" sz="2800" dirty="0" smtClean="0">
                <a:solidFill>
                  <a:srgbClr val="FF0000"/>
                </a:solidFill>
                <a:cs typeface="B Mitra" panose="00000400000000000000" pitchFamily="2" charset="-78"/>
              </a:rPr>
              <a:t>استنتاج فازی</a:t>
            </a:r>
            <a:endParaRPr lang="en" sz="2800" dirty="0">
              <a:solidFill>
                <a:srgbClr val="FF0000"/>
              </a:solidFill>
              <a:latin typeface="Calibri" panose="020F0502020204030204" pitchFamily="34" charset="0"/>
              <a:cs typeface="B Mitra" panose="00000400000000000000" pitchFamily="2" charset="-78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3178002" y="904099"/>
            <a:ext cx="6096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pPr algn="r" rtl="1"/>
            <a:r>
              <a:rPr lang="fa-IR" dirty="0" smtClean="0">
                <a:cs typeface="B Mitra" panose="00000400000000000000" pitchFamily="2" charset="-78"/>
              </a:rPr>
              <a:t>یافتن تابع عضویت خروجی (</a:t>
            </a:r>
            <a:r>
              <a:rPr lang="en-US" dirty="0" smtClean="0">
                <a:cs typeface="B Mitra" panose="00000400000000000000" pitchFamily="2" charset="-78"/>
              </a:rPr>
              <a:t>Implication</a:t>
            </a:r>
            <a:r>
              <a:rPr lang="fa-IR" dirty="0" smtClean="0">
                <a:cs typeface="B Mitra" panose="00000400000000000000" pitchFamily="2" charset="-78"/>
              </a:rPr>
              <a:t>)</a:t>
            </a:r>
          </a:p>
          <a:p>
            <a:pPr marL="285750" indent="-285750" algn="r" rtl="1">
              <a:buClr>
                <a:srgbClr val="FF0000"/>
              </a:buClr>
              <a:buFont typeface="Wingdings" panose="05000000000000000000" pitchFamily="2" charset="2"/>
              <a:buChar char="ü"/>
            </a:pPr>
            <a:r>
              <a:rPr lang="fa-IR" dirty="0" smtClean="0">
                <a:cs typeface="B Mitra" panose="00000400000000000000" pitchFamily="2" charset="-78"/>
              </a:rPr>
              <a:t>یافتن خروجی سیستم با مشخص شدن درجۀ عضویت ورودی‏ها</a:t>
            </a:r>
            <a:r>
              <a:rPr lang="fa-IR" dirty="0">
                <a:cs typeface="B Mitra" panose="00000400000000000000" pitchFamily="2" charset="-78"/>
              </a:rPr>
              <a:t> </a:t>
            </a:r>
            <a:r>
              <a:rPr lang="fa-IR" dirty="0" smtClean="0">
                <a:cs typeface="B Mitra" panose="00000400000000000000" pitchFamily="2" charset="-78"/>
              </a:rPr>
              <a:t>(</a:t>
            </a:r>
            <a:r>
              <a:rPr lang="en-US" dirty="0" err="1" smtClean="0"/>
              <a:t>Sugeno</a:t>
            </a:r>
            <a:r>
              <a:rPr lang="fa-IR" dirty="0" smtClean="0">
                <a:cs typeface="B Mitra" panose="00000400000000000000" pitchFamily="2" charset="-78"/>
              </a:rPr>
              <a:t>)</a:t>
            </a:r>
          </a:p>
        </p:txBody>
      </p:sp>
      <p:sp>
        <p:nvSpPr>
          <p:cNvPr id="6" name="Right Arrow 5"/>
          <p:cNvSpPr/>
          <p:nvPr/>
        </p:nvSpPr>
        <p:spPr>
          <a:xfrm flipH="1">
            <a:off x="8221969" y="3102360"/>
            <a:ext cx="647114" cy="250436"/>
          </a:xfrm>
          <a:prstGeom prst="rightArrow">
            <a:avLst/>
          </a:prstGeom>
          <a:solidFill>
            <a:srgbClr val="FF6699"/>
          </a:solidFill>
          <a:ln>
            <a:solidFill>
              <a:srgbClr val="FF6699"/>
            </a:solidFill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0000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8875495" y="2983464"/>
            <a:ext cx="8034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a-IR" dirty="0" smtClean="0">
                <a:cs typeface="B Mitra" panose="00000400000000000000" pitchFamily="2" charset="-78"/>
              </a:rPr>
              <a:t>قانون اول</a:t>
            </a:r>
            <a:endParaRPr lang="en-US" dirty="0">
              <a:cs typeface="B Mitra" panose="00000400000000000000" pitchFamily="2" charset="-78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8869083" y="3795896"/>
            <a:ext cx="80983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a-IR" dirty="0" smtClean="0">
                <a:cs typeface="B Mitra" panose="00000400000000000000" pitchFamily="2" charset="-78"/>
              </a:rPr>
              <a:t>قانون دوم</a:t>
            </a:r>
            <a:endParaRPr lang="en-US" dirty="0">
              <a:cs typeface="B Mitra" panose="00000400000000000000" pitchFamily="2" charset="-78"/>
            </a:endParaRPr>
          </a:p>
        </p:txBody>
      </p:sp>
      <p:sp>
        <p:nvSpPr>
          <p:cNvPr id="12" name="Right Arrow 11"/>
          <p:cNvSpPr/>
          <p:nvPr/>
        </p:nvSpPr>
        <p:spPr>
          <a:xfrm flipH="1">
            <a:off x="8228381" y="3914792"/>
            <a:ext cx="647114" cy="250436"/>
          </a:xfrm>
          <a:prstGeom prst="rightArrow">
            <a:avLst/>
          </a:prstGeom>
          <a:solidFill>
            <a:srgbClr val="FF6699"/>
          </a:solidFill>
          <a:ln>
            <a:solidFill>
              <a:srgbClr val="FF6699"/>
            </a:solidFill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0000"/>
              </a:solidFill>
            </a:endParaRP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2771775" y="2111876"/>
            <a:ext cx="5318760" cy="33680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38198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63E7BD-D2C6-433A-87F7-894B3E0B864D}" type="slidenum">
              <a:rPr lang="en-US" smtClean="0"/>
              <a:pPr/>
              <a:t>10</a:t>
            </a:fld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7811743" y="146132"/>
            <a:ext cx="1462260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rtl="1"/>
            <a:r>
              <a:rPr lang="fa-IR" sz="2800" dirty="0" smtClean="0">
                <a:solidFill>
                  <a:srgbClr val="FF0000"/>
                </a:solidFill>
                <a:cs typeface="B Mitra" panose="00000400000000000000" pitchFamily="2" charset="-78"/>
              </a:rPr>
              <a:t>استنتاج فازی</a:t>
            </a:r>
            <a:endParaRPr lang="en" sz="2800" dirty="0">
              <a:solidFill>
                <a:srgbClr val="FF0000"/>
              </a:solidFill>
              <a:latin typeface="Calibri" panose="020F0502020204030204" pitchFamily="34" charset="0"/>
              <a:cs typeface="B Mitra" panose="00000400000000000000" pitchFamily="2" charset="-78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3178002" y="904099"/>
            <a:ext cx="6096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pPr algn="r" rtl="1"/>
            <a:r>
              <a:rPr lang="fa-IR" dirty="0" smtClean="0">
                <a:cs typeface="B Mitra" panose="00000400000000000000" pitchFamily="2" charset="-78"/>
              </a:rPr>
              <a:t>تجمیع خروجی‏ها (</a:t>
            </a:r>
            <a:r>
              <a:rPr lang="en-US" dirty="0" smtClean="0">
                <a:cs typeface="B Mitra" panose="00000400000000000000" pitchFamily="2" charset="-78"/>
              </a:rPr>
              <a:t>Aggregate</a:t>
            </a:r>
            <a:r>
              <a:rPr lang="fa-IR" dirty="0" smtClean="0">
                <a:cs typeface="B Mitra" panose="00000400000000000000" pitchFamily="2" charset="-78"/>
              </a:rPr>
              <a:t>)</a:t>
            </a:r>
          </a:p>
          <a:p>
            <a:pPr marL="285750" indent="-285750" algn="r" rtl="1">
              <a:buClr>
                <a:srgbClr val="FF0000"/>
              </a:buClr>
              <a:buFont typeface="Wingdings" panose="05000000000000000000" pitchFamily="2" charset="2"/>
              <a:buChar char="ü"/>
            </a:pPr>
            <a:r>
              <a:rPr lang="fa-IR" dirty="0" smtClean="0">
                <a:cs typeface="B Mitra" panose="00000400000000000000" pitchFamily="2" charset="-78"/>
              </a:rPr>
              <a:t>هماهنگی تابع عضویت خروجی با قانون مربوطه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178002" y="2244988"/>
            <a:ext cx="4366260" cy="3840480"/>
          </a:xfrm>
          <a:prstGeom prst="rect">
            <a:avLst/>
          </a:prstGeom>
        </p:spPr>
      </p:pic>
      <p:sp>
        <p:nvSpPr>
          <p:cNvPr id="13" name="Right Arrow 12"/>
          <p:cNvSpPr/>
          <p:nvPr/>
        </p:nvSpPr>
        <p:spPr>
          <a:xfrm flipH="1">
            <a:off x="7943549" y="2883371"/>
            <a:ext cx="647114" cy="250436"/>
          </a:xfrm>
          <a:prstGeom prst="rightArrow">
            <a:avLst/>
          </a:prstGeom>
          <a:solidFill>
            <a:srgbClr val="FF6699"/>
          </a:solidFill>
          <a:ln>
            <a:solidFill>
              <a:srgbClr val="FF6699"/>
            </a:solidFill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0000"/>
              </a:solidFill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8597075" y="2764475"/>
            <a:ext cx="8034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a-IR" dirty="0" smtClean="0">
                <a:cs typeface="B Mitra" panose="00000400000000000000" pitchFamily="2" charset="-78"/>
              </a:rPr>
              <a:t>قانون اول</a:t>
            </a:r>
            <a:endParaRPr lang="en-US" dirty="0">
              <a:cs typeface="B Mitra" panose="00000400000000000000" pitchFamily="2" charset="-78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8590663" y="3576907"/>
            <a:ext cx="80983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a-IR" dirty="0" smtClean="0">
                <a:cs typeface="B Mitra" panose="00000400000000000000" pitchFamily="2" charset="-78"/>
              </a:rPr>
              <a:t>قانون دوم</a:t>
            </a:r>
            <a:endParaRPr lang="en-US" dirty="0">
              <a:cs typeface="B Mitra" panose="00000400000000000000" pitchFamily="2" charset="-78"/>
            </a:endParaRPr>
          </a:p>
        </p:txBody>
      </p:sp>
      <p:sp>
        <p:nvSpPr>
          <p:cNvPr id="16" name="Right Arrow 15"/>
          <p:cNvSpPr/>
          <p:nvPr/>
        </p:nvSpPr>
        <p:spPr>
          <a:xfrm flipH="1">
            <a:off x="7949961" y="3695803"/>
            <a:ext cx="647114" cy="250436"/>
          </a:xfrm>
          <a:prstGeom prst="rightArrow">
            <a:avLst/>
          </a:prstGeom>
          <a:solidFill>
            <a:srgbClr val="FF6699"/>
          </a:solidFill>
          <a:ln>
            <a:solidFill>
              <a:srgbClr val="FF6699"/>
            </a:solidFill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0000"/>
              </a:solidFill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8590663" y="4389339"/>
            <a:ext cx="8499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a-IR" dirty="0" smtClean="0">
                <a:cs typeface="B Mitra" panose="00000400000000000000" pitchFamily="2" charset="-78"/>
              </a:rPr>
              <a:t>قانون سوم</a:t>
            </a:r>
            <a:endParaRPr lang="en-US" dirty="0">
              <a:cs typeface="B Mitra" panose="00000400000000000000" pitchFamily="2" charset="-78"/>
            </a:endParaRPr>
          </a:p>
        </p:txBody>
      </p:sp>
      <p:sp>
        <p:nvSpPr>
          <p:cNvPr id="18" name="Right Arrow 17"/>
          <p:cNvSpPr/>
          <p:nvPr/>
        </p:nvSpPr>
        <p:spPr>
          <a:xfrm flipH="1">
            <a:off x="7949961" y="4508235"/>
            <a:ext cx="647114" cy="250436"/>
          </a:xfrm>
          <a:prstGeom prst="rightArrow">
            <a:avLst/>
          </a:prstGeom>
          <a:solidFill>
            <a:srgbClr val="FF6699"/>
          </a:solidFill>
          <a:ln>
            <a:solidFill>
              <a:srgbClr val="FF6699"/>
            </a:solidFill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811334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63E7BD-D2C6-433A-87F7-894B3E0B864D}" type="slidenum">
              <a:rPr lang="en-US" smtClean="0"/>
              <a:pPr/>
              <a:t>11</a:t>
            </a:fld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7811743" y="146132"/>
            <a:ext cx="1462260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rtl="1"/>
            <a:r>
              <a:rPr lang="fa-IR" sz="2800" dirty="0" smtClean="0">
                <a:solidFill>
                  <a:srgbClr val="FF0000"/>
                </a:solidFill>
                <a:cs typeface="B Mitra" panose="00000400000000000000" pitchFamily="2" charset="-78"/>
              </a:rPr>
              <a:t>استنتاج فازی</a:t>
            </a:r>
            <a:endParaRPr lang="en" sz="2800" dirty="0">
              <a:solidFill>
                <a:srgbClr val="FF0000"/>
              </a:solidFill>
              <a:latin typeface="Calibri" panose="020F0502020204030204" pitchFamily="34" charset="0"/>
              <a:cs typeface="B Mitra" panose="00000400000000000000" pitchFamily="2" charset="-78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3178002" y="904099"/>
            <a:ext cx="6096000" cy="369332"/>
          </a:xfrm>
          <a:prstGeom prst="rect">
            <a:avLst/>
          </a:prstGeom>
        </p:spPr>
        <p:txBody>
          <a:bodyPr>
            <a:spAutoFit/>
          </a:bodyPr>
          <a:lstStyle/>
          <a:p>
            <a:pPr algn="r" rtl="1"/>
            <a:r>
              <a:rPr lang="fa-IR" dirty="0" smtClean="0">
                <a:cs typeface="B Mitra" panose="00000400000000000000" pitchFamily="2" charset="-78"/>
              </a:rPr>
              <a:t>نافازی‏سازی (</a:t>
            </a:r>
            <a:r>
              <a:rPr lang="en-US" dirty="0" err="1">
                <a:cs typeface="B Mitra" panose="00000400000000000000" pitchFamily="2" charset="-78"/>
              </a:rPr>
              <a:t>Defuzzification</a:t>
            </a:r>
            <a:r>
              <a:rPr lang="fa-IR" dirty="0" smtClean="0">
                <a:cs typeface="B Mitra" panose="00000400000000000000" pitchFamily="2" charset="-78"/>
              </a:rPr>
              <a:t>)</a:t>
            </a:r>
          </a:p>
        </p:txBody>
      </p:sp>
      <p:pic>
        <p:nvPicPr>
          <p:cNvPr id="1026" name="Picture 2" descr="https://encrypted-tbn0.gstatic.com/images?q=tbn:ANd9GcSyHxIIKtZMlX0gdQpfu8y14Lm3Uq08P7zOXg&amp;usqp=CAU"/>
          <p:cNvPicPr>
            <a:picLocks noChangeAspect="1" noChangeArrowheads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71590" y="2389797"/>
            <a:ext cx="4329113" cy="23717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629708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63E7BD-D2C6-433A-87F7-894B3E0B864D}" type="slidenum">
              <a:rPr lang="en-US" smtClean="0"/>
              <a:pPr/>
              <a:t>12</a:t>
            </a:fld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5280601" y="146132"/>
            <a:ext cx="3993401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rtl="1"/>
            <a:r>
              <a:rPr lang="fa-IR" sz="2800" dirty="0" smtClean="0">
                <a:solidFill>
                  <a:srgbClr val="FF0000"/>
                </a:solidFill>
                <a:cs typeface="B Mitra" panose="00000400000000000000" pitchFamily="2" charset="-78"/>
              </a:rPr>
              <a:t>بررسی مسئله و پیش‏فرض‏های طراحی</a:t>
            </a:r>
            <a:endParaRPr lang="en" sz="2800" dirty="0">
              <a:solidFill>
                <a:srgbClr val="FF0000"/>
              </a:solidFill>
              <a:latin typeface="Calibri" panose="020F0502020204030204" pitchFamily="34" charset="0"/>
              <a:cs typeface="B Mitra" panose="00000400000000000000" pitchFamily="2" charset="-78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2047875" y="904099"/>
            <a:ext cx="7226127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 rtl="1"/>
            <a:r>
              <a:rPr lang="fa-IR" dirty="0" smtClean="0">
                <a:cs typeface="B Mitra" panose="00000400000000000000" pitchFamily="2" charset="-78"/>
              </a:rPr>
              <a:t>طراحی یک سیستم فازی جهت تعیین توان سیستم تهویه مطبوع مبتنی بر متغیرهای محیطی رطوبت نسبی و دما</a:t>
            </a:r>
          </a:p>
          <a:p>
            <a:pPr marL="285750" indent="-285750" algn="r" rtl="1">
              <a:buClr>
                <a:srgbClr val="FF0000"/>
              </a:buClr>
              <a:buFont typeface="Wingdings" panose="05000000000000000000" pitchFamily="2" charset="2"/>
              <a:buChar char="ü"/>
            </a:pPr>
            <a:r>
              <a:rPr lang="fa-IR" dirty="0" smtClean="0">
                <a:cs typeface="B Mitra" panose="00000400000000000000" pitchFamily="2" charset="-78"/>
              </a:rPr>
              <a:t>محدودۀ دما 10 الی 35</a:t>
            </a:r>
          </a:p>
          <a:p>
            <a:pPr marL="285750" indent="-285750" algn="r" rtl="1">
              <a:buClr>
                <a:srgbClr val="FF0000"/>
              </a:buClr>
              <a:buFont typeface="Wingdings" panose="05000000000000000000" pitchFamily="2" charset="2"/>
              <a:buChar char="ü"/>
            </a:pPr>
            <a:r>
              <a:rPr lang="fa-IR" dirty="0" smtClean="0">
                <a:cs typeface="B Mitra" panose="00000400000000000000" pitchFamily="2" charset="-78"/>
              </a:rPr>
              <a:t>محدودۀ رطوبت نسبی 55 الی 95</a:t>
            </a:r>
          </a:p>
          <a:p>
            <a:pPr marL="285750" indent="-285750" algn="r" rtl="1">
              <a:buClr>
                <a:srgbClr val="FF0000"/>
              </a:buClr>
              <a:buFont typeface="Wingdings" panose="05000000000000000000" pitchFamily="2" charset="2"/>
              <a:buChar char="ü"/>
            </a:pPr>
            <a:r>
              <a:rPr lang="fa-IR" dirty="0" smtClean="0">
                <a:cs typeface="B Mitra" panose="00000400000000000000" pitchFamily="2" charset="-78"/>
              </a:rPr>
              <a:t>محدودۀ توان سیستم تهویه مطبوع 1 الی 4</a:t>
            </a:r>
          </a:p>
          <a:p>
            <a:pPr marL="285750" indent="-285750" algn="r" rtl="1">
              <a:buClr>
                <a:srgbClr val="FF0000"/>
              </a:buClr>
              <a:buFont typeface="Wingdings" panose="05000000000000000000" pitchFamily="2" charset="2"/>
              <a:buChar char="ü"/>
            </a:pPr>
            <a:r>
              <a:rPr lang="fa-IR" dirty="0" smtClean="0">
                <a:cs typeface="B Mitra" panose="00000400000000000000" pitchFamily="2" charset="-78"/>
              </a:rPr>
              <a:t>استفاده از 5 تابع عضویت گوسی برای دما</a:t>
            </a:r>
          </a:p>
          <a:p>
            <a:pPr marL="285750" indent="-285750" algn="r" rtl="1">
              <a:buClr>
                <a:srgbClr val="FF0000"/>
              </a:buClr>
              <a:buFont typeface="Wingdings" panose="05000000000000000000" pitchFamily="2" charset="2"/>
              <a:buChar char="ü"/>
            </a:pPr>
            <a:r>
              <a:rPr lang="fa-IR" dirty="0" smtClean="0">
                <a:cs typeface="B Mitra" panose="00000400000000000000" pitchFamily="2" charset="-78"/>
              </a:rPr>
              <a:t>استفاده از 3 تابع عضویت مثلثی برای رطوبت نسبی</a:t>
            </a:r>
          </a:p>
          <a:p>
            <a:pPr marL="285750" indent="-285750" algn="r" rtl="1">
              <a:buClr>
                <a:srgbClr val="FF0000"/>
              </a:buClr>
              <a:buFont typeface="Wingdings" panose="05000000000000000000" pitchFamily="2" charset="2"/>
              <a:buChar char="ü"/>
            </a:pPr>
            <a:r>
              <a:rPr lang="fa-IR" dirty="0" smtClean="0">
                <a:cs typeface="B Mitra" panose="00000400000000000000" pitchFamily="2" charset="-78"/>
              </a:rPr>
              <a:t>استفاده از 5 تابع عضویت مثلثی و ذوزنقه‏ای برای توان سیستم تهویه مطبوع</a:t>
            </a:r>
          </a:p>
        </p:txBody>
      </p:sp>
      <p:sp>
        <p:nvSpPr>
          <p:cNvPr id="8" name="Rectangle 7"/>
          <p:cNvSpPr/>
          <p:nvPr/>
        </p:nvSpPr>
        <p:spPr>
          <a:xfrm>
            <a:off x="6145517" y="3170171"/>
            <a:ext cx="3128485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rtl="1"/>
            <a:r>
              <a:rPr lang="fa-IR" sz="2800" dirty="0" smtClean="0">
                <a:solidFill>
                  <a:srgbClr val="FF0000"/>
                </a:solidFill>
                <a:cs typeface="B Mitra" panose="00000400000000000000" pitchFamily="2" charset="-78"/>
              </a:rPr>
              <a:t>پیاده‏سازی در محیط </a:t>
            </a:r>
            <a:r>
              <a:rPr lang="en-US" sz="2000" dirty="0" smtClean="0">
                <a:solidFill>
                  <a:srgbClr val="FF0000"/>
                </a:solidFill>
                <a:cs typeface="B Mitra" panose="00000400000000000000" pitchFamily="2" charset="-78"/>
              </a:rPr>
              <a:t>MATLAB</a:t>
            </a:r>
            <a:endParaRPr lang="en" sz="2800" dirty="0">
              <a:solidFill>
                <a:srgbClr val="FF0000"/>
              </a:solidFill>
              <a:latin typeface="Calibri" panose="020F0502020204030204" pitchFamily="34" charset="0"/>
              <a:cs typeface="B Mitra" panose="00000400000000000000" pitchFamily="2" charset="-78"/>
            </a:endParaRP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2339" y="4339689"/>
            <a:ext cx="7153275" cy="371475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3178002" y="3924743"/>
            <a:ext cx="6096000" cy="369332"/>
          </a:xfrm>
          <a:prstGeom prst="rect">
            <a:avLst/>
          </a:prstGeom>
        </p:spPr>
        <p:txBody>
          <a:bodyPr>
            <a:spAutoFit/>
          </a:bodyPr>
          <a:lstStyle/>
          <a:p>
            <a:pPr algn="r" rtl="1"/>
            <a:r>
              <a:rPr lang="fa-IR" dirty="0" smtClean="0">
                <a:cs typeface="B Mitra" panose="00000400000000000000" pitchFamily="2" charset="-78"/>
              </a:rPr>
              <a:t>ساخت ساختار اولیۀ سیستم فازی</a:t>
            </a:r>
          </a:p>
        </p:txBody>
      </p:sp>
    </p:spTree>
    <p:extLst>
      <p:ext uri="{BB962C8B-B14F-4D97-AF65-F5344CB8AC3E}">
        <p14:creationId xmlns:p14="http://schemas.microsoft.com/office/powerpoint/2010/main" val="26408091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63E7BD-D2C6-433A-87F7-894B3E0B864D}" type="slidenum">
              <a:rPr lang="en-US" smtClean="0"/>
              <a:pPr/>
              <a:t>13</a:t>
            </a:fld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6145518" y="146132"/>
            <a:ext cx="3128485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rtl="1"/>
            <a:r>
              <a:rPr lang="fa-IR" sz="2800" dirty="0" smtClean="0">
                <a:solidFill>
                  <a:srgbClr val="FF0000"/>
                </a:solidFill>
                <a:cs typeface="B Mitra" panose="00000400000000000000" pitchFamily="2" charset="-78"/>
              </a:rPr>
              <a:t>پیاده‏سازی در محیط </a:t>
            </a:r>
            <a:r>
              <a:rPr lang="en-US" sz="2000" dirty="0" smtClean="0">
                <a:solidFill>
                  <a:srgbClr val="FF0000"/>
                </a:solidFill>
                <a:cs typeface="B Mitra" panose="00000400000000000000" pitchFamily="2" charset="-78"/>
              </a:rPr>
              <a:t>MATLAB</a:t>
            </a:r>
            <a:endParaRPr lang="en" sz="2000" dirty="0">
              <a:solidFill>
                <a:srgbClr val="FF0000"/>
              </a:solidFill>
              <a:latin typeface="Calibri" panose="020F0502020204030204" pitchFamily="34" charset="0"/>
              <a:cs typeface="B Mitra" panose="00000400000000000000" pitchFamily="2" charset="-78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3178002" y="904099"/>
            <a:ext cx="6096000" cy="369332"/>
          </a:xfrm>
          <a:prstGeom prst="rect">
            <a:avLst/>
          </a:prstGeom>
        </p:spPr>
        <p:txBody>
          <a:bodyPr>
            <a:spAutoFit/>
          </a:bodyPr>
          <a:lstStyle/>
          <a:p>
            <a:pPr algn="r" rtl="1"/>
            <a:r>
              <a:rPr lang="fa-IR" dirty="0" smtClean="0">
                <a:cs typeface="B Mitra" panose="00000400000000000000" pitchFamily="2" charset="-78"/>
              </a:rPr>
              <a:t>تعریف متغیرهای ورودی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78352" y="1273431"/>
            <a:ext cx="4314825" cy="177165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3178002" y="3229747"/>
            <a:ext cx="6096000" cy="369332"/>
          </a:xfrm>
          <a:prstGeom prst="rect">
            <a:avLst/>
          </a:prstGeom>
        </p:spPr>
        <p:txBody>
          <a:bodyPr>
            <a:spAutoFit/>
          </a:bodyPr>
          <a:lstStyle/>
          <a:p>
            <a:pPr algn="r" rtl="1"/>
            <a:r>
              <a:rPr lang="fa-IR" dirty="0" smtClean="0">
                <a:cs typeface="B Mitra" panose="00000400000000000000" pitchFamily="2" charset="-78"/>
              </a:rPr>
              <a:t>تعریف توابع عضویت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78352" y="3599079"/>
            <a:ext cx="6638925" cy="3152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32283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63E7BD-D2C6-433A-87F7-894B3E0B864D}" type="slidenum">
              <a:rPr lang="en-US" smtClean="0"/>
              <a:pPr/>
              <a:t>14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3178002" y="904099"/>
            <a:ext cx="6096000" cy="369332"/>
          </a:xfrm>
          <a:prstGeom prst="rect">
            <a:avLst/>
          </a:prstGeom>
        </p:spPr>
        <p:txBody>
          <a:bodyPr>
            <a:spAutoFit/>
          </a:bodyPr>
          <a:lstStyle/>
          <a:p>
            <a:pPr algn="r" rtl="1"/>
            <a:r>
              <a:rPr lang="fa-IR" dirty="0" smtClean="0">
                <a:cs typeface="B Mitra" panose="00000400000000000000" pitchFamily="2" charset="-78"/>
              </a:rPr>
              <a:t>تعریف پایگاه قوانین فازی</a:t>
            </a:r>
          </a:p>
        </p:txBody>
      </p:sp>
      <p:sp>
        <p:nvSpPr>
          <p:cNvPr id="9" name="Rectangle 8"/>
          <p:cNvSpPr/>
          <p:nvPr/>
        </p:nvSpPr>
        <p:spPr>
          <a:xfrm>
            <a:off x="3178002" y="5067951"/>
            <a:ext cx="6096000" cy="369332"/>
          </a:xfrm>
          <a:prstGeom prst="rect">
            <a:avLst/>
          </a:prstGeom>
        </p:spPr>
        <p:txBody>
          <a:bodyPr>
            <a:spAutoFit/>
          </a:bodyPr>
          <a:lstStyle/>
          <a:p>
            <a:pPr algn="r" rtl="1"/>
            <a:r>
              <a:rPr lang="fa-IR" dirty="0" smtClean="0">
                <a:cs typeface="B Mitra" panose="00000400000000000000" pitchFamily="2" charset="-78"/>
              </a:rPr>
              <a:t>خروجی گرفتن از سیستم استنتاج فازی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78352" y="1273431"/>
            <a:ext cx="2647950" cy="373380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6145518" y="146132"/>
            <a:ext cx="3128485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rtl="1"/>
            <a:r>
              <a:rPr lang="fa-IR" sz="2800" dirty="0" smtClean="0">
                <a:solidFill>
                  <a:srgbClr val="FF0000"/>
                </a:solidFill>
                <a:cs typeface="B Mitra" panose="00000400000000000000" pitchFamily="2" charset="-78"/>
              </a:rPr>
              <a:t>پیاده‏سازی در محیط </a:t>
            </a:r>
            <a:r>
              <a:rPr lang="en-US" sz="2000" dirty="0" smtClean="0">
                <a:solidFill>
                  <a:srgbClr val="FF0000"/>
                </a:solidFill>
                <a:cs typeface="B Mitra" panose="00000400000000000000" pitchFamily="2" charset="-78"/>
              </a:rPr>
              <a:t>MATLAB</a:t>
            </a:r>
            <a:endParaRPr lang="en" sz="2000" dirty="0">
              <a:solidFill>
                <a:srgbClr val="FF0000"/>
              </a:solidFill>
              <a:latin typeface="Calibri" panose="020F0502020204030204" pitchFamily="34" charset="0"/>
              <a:cs typeface="B Mitra" panose="00000400000000000000" pitchFamily="2" charset="-78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78352" y="5437283"/>
            <a:ext cx="1952625" cy="485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31647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63E7BD-D2C6-433A-87F7-894B3E0B864D}" type="slidenum">
              <a:rPr lang="en-US" smtClean="0"/>
              <a:pPr/>
              <a:t>15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3178002" y="904099"/>
            <a:ext cx="6096000" cy="369332"/>
          </a:xfrm>
          <a:prstGeom prst="rect">
            <a:avLst/>
          </a:prstGeom>
        </p:spPr>
        <p:txBody>
          <a:bodyPr>
            <a:spAutoFit/>
          </a:bodyPr>
          <a:lstStyle/>
          <a:p>
            <a:pPr algn="r" rtl="1"/>
            <a:r>
              <a:rPr lang="fa-IR" dirty="0" smtClean="0">
                <a:cs typeface="B Mitra" panose="00000400000000000000" pitchFamily="2" charset="-78"/>
              </a:rPr>
              <a:t>انجام </a:t>
            </a:r>
            <a:r>
              <a:rPr lang="fa-IR" dirty="0">
                <a:cs typeface="B Mitra" panose="00000400000000000000" pitchFamily="2" charset="-78"/>
              </a:rPr>
              <a:t>محاسبات استنتاج فازی</a:t>
            </a:r>
            <a:endParaRPr lang="fa-IR" dirty="0" smtClean="0">
              <a:cs typeface="B Mitra" panose="00000400000000000000" pitchFamily="2" charset="-78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78352" y="1273431"/>
            <a:ext cx="3095625" cy="154305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6145518" y="146132"/>
            <a:ext cx="3128485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rtl="1"/>
            <a:r>
              <a:rPr lang="fa-IR" sz="2800" dirty="0" smtClean="0">
                <a:solidFill>
                  <a:srgbClr val="FF0000"/>
                </a:solidFill>
                <a:cs typeface="B Mitra" panose="00000400000000000000" pitchFamily="2" charset="-78"/>
              </a:rPr>
              <a:t>پیاده‏سازی در محیط </a:t>
            </a:r>
            <a:r>
              <a:rPr lang="en-US" sz="2000" dirty="0" smtClean="0">
                <a:solidFill>
                  <a:srgbClr val="FF0000"/>
                </a:solidFill>
                <a:cs typeface="B Mitra" panose="00000400000000000000" pitchFamily="2" charset="-78"/>
              </a:rPr>
              <a:t>MATLAB</a:t>
            </a:r>
            <a:endParaRPr lang="en" sz="2000" dirty="0">
              <a:solidFill>
                <a:srgbClr val="FF0000"/>
              </a:solidFill>
              <a:latin typeface="Calibri" panose="020F0502020204030204" pitchFamily="34" charset="0"/>
              <a:cs typeface="B Mitra" panose="00000400000000000000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16938912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63E7BD-D2C6-433A-87F7-894B3E0B864D}" type="slidenum">
              <a:rPr lang="en-US" smtClean="0"/>
              <a:pPr/>
              <a:t>16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3178002" y="904099"/>
            <a:ext cx="6096000" cy="369332"/>
          </a:xfrm>
          <a:prstGeom prst="rect">
            <a:avLst/>
          </a:prstGeom>
        </p:spPr>
        <p:txBody>
          <a:bodyPr>
            <a:spAutoFit/>
          </a:bodyPr>
          <a:lstStyle/>
          <a:p>
            <a:pPr algn="r" rtl="1"/>
            <a:r>
              <a:rPr lang="fa-IR" dirty="0" smtClean="0">
                <a:cs typeface="B Mitra" panose="00000400000000000000" pitchFamily="2" charset="-78"/>
              </a:rPr>
              <a:t>خروجی‏های حاصل از اجرای برنامه و تحلیل نتایج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82779" y="1580370"/>
            <a:ext cx="5486400" cy="487680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6145518" y="146132"/>
            <a:ext cx="3128485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rtl="1"/>
            <a:r>
              <a:rPr lang="fa-IR" sz="2800" dirty="0" smtClean="0">
                <a:solidFill>
                  <a:srgbClr val="FF0000"/>
                </a:solidFill>
                <a:cs typeface="B Mitra" panose="00000400000000000000" pitchFamily="2" charset="-78"/>
              </a:rPr>
              <a:t>پیاده‏سازی در محیط </a:t>
            </a:r>
            <a:r>
              <a:rPr lang="en-US" sz="2000" dirty="0" smtClean="0">
                <a:solidFill>
                  <a:srgbClr val="FF0000"/>
                </a:solidFill>
                <a:cs typeface="B Mitra" panose="00000400000000000000" pitchFamily="2" charset="-78"/>
              </a:rPr>
              <a:t>MATLAB</a:t>
            </a:r>
            <a:endParaRPr lang="en" sz="2000" dirty="0">
              <a:solidFill>
                <a:srgbClr val="FF0000"/>
              </a:solidFill>
              <a:latin typeface="Calibri" panose="020F0502020204030204" pitchFamily="34" charset="0"/>
              <a:cs typeface="B Mitra" panose="00000400000000000000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9729646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63E7BD-D2C6-433A-87F7-894B3E0B864D}" type="slidenum">
              <a:rPr lang="en-US" smtClean="0"/>
              <a:pPr/>
              <a:t>17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3178002" y="904099"/>
            <a:ext cx="6096000" cy="369332"/>
          </a:xfrm>
          <a:prstGeom prst="rect">
            <a:avLst/>
          </a:prstGeom>
        </p:spPr>
        <p:txBody>
          <a:bodyPr>
            <a:spAutoFit/>
          </a:bodyPr>
          <a:lstStyle/>
          <a:p>
            <a:pPr algn="r" rtl="1"/>
            <a:r>
              <a:rPr lang="fa-IR" dirty="0" smtClean="0">
                <a:cs typeface="B Mitra" panose="00000400000000000000" pitchFamily="2" charset="-78"/>
              </a:rPr>
              <a:t>خروجی‏های حاصل از اجرای برنامه و تحلیل نتایج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82779" y="1765353"/>
            <a:ext cx="5486400" cy="4619625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6145518" y="146132"/>
            <a:ext cx="3128485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rtl="1"/>
            <a:r>
              <a:rPr lang="fa-IR" sz="2800" dirty="0" smtClean="0">
                <a:solidFill>
                  <a:srgbClr val="FF0000"/>
                </a:solidFill>
                <a:cs typeface="B Mitra" panose="00000400000000000000" pitchFamily="2" charset="-78"/>
              </a:rPr>
              <a:t>پیاده‏سازی در محیط </a:t>
            </a:r>
            <a:r>
              <a:rPr lang="en-US" sz="2000" dirty="0" smtClean="0">
                <a:solidFill>
                  <a:srgbClr val="FF0000"/>
                </a:solidFill>
                <a:cs typeface="B Mitra" panose="00000400000000000000" pitchFamily="2" charset="-78"/>
              </a:rPr>
              <a:t>MATLAB</a:t>
            </a:r>
            <a:endParaRPr lang="en" sz="2000" dirty="0">
              <a:solidFill>
                <a:srgbClr val="FF0000"/>
              </a:solidFill>
              <a:latin typeface="Calibri" panose="020F0502020204030204" pitchFamily="34" charset="0"/>
              <a:cs typeface="B Mitra" panose="00000400000000000000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887991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63E7BD-D2C6-433A-87F7-894B3E0B864D}" type="slidenum">
              <a:rPr lang="en-US" smtClean="0"/>
              <a:pPr/>
              <a:t>18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3178002" y="904099"/>
            <a:ext cx="6096000" cy="369332"/>
          </a:xfrm>
          <a:prstGeom prst="rect">
            <a:avLst/>
          </a:prstGeom>
        </p:spPr>
        <p:txBody>
          <a:bodyPr>
            <a:spAutoFit/>
          </a:bodyPr>
          <a:lstStyle/>
          <a:p>
            <a:pPr algn="r" rtl="1"/>
            <a:r>
              <a:rPr lang="fa-IR" dirty="0" smtClean="0">
                <a:cs typeface="B Mitra" panose="00000400000000000000" pitchFamily="2" charset="-78"/>
              </a:rPr>
              <a:t>خروجی‏های حاصل از اجرای برنامه و تحلیل نتایج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82776" y="1765352"/>
            <a:ext cx="5486400" cy="4619625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6145518" y="146132"/>
            <a:ext cx="3128485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rtl="1"/>
            <a:r>
              <a:rPr lang="fa-IR" sz="2800" dirty="0" smtClean="0">
                <a:solidFill>
                  <a:srgbClr val="FF0000"/>
                </a:solidFill>
                <a:cs typeface="B Mitra" panose="00000400000000000000" pitchFamily="2" charset="-78"/>
              </a:rPr>
              <a:t>پیاده‏سازی در محیط </a:t>
            </a:r>
            <a:r>
              <a:rPr lang="en-US" sz="2000" dirty="0" smtClean="0">
                <a:solidFill>
                  <a:srgbClr val="FF0000"/>
                </a:solidFill>
                <a:cs typeface="B Mitra" panose="00000400000000000000" pitchFamily="2" charset="-78"/>
              </a:rPr>
              <a:t>MATLAB</a:t>
            </a:r>
            <a:endParaRPr lang="en" sz="2000" dirty="0">
              <a:solidFill>
                <a:srgbClr val="FF0000"/>
              </a:solidFill>
              <a:latin typeface="Calibri" panose="020F0502020204030204" pitchFamily="34" charset="0"/>
              <a:cs typeface="B Mitra" panose="00000400000000000000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13533247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82776" y="1765350"/>
            <a:ext cx="5486400" cy="4619625"/>
          </a:xfrm>
          <a:prstGeom prst="rect">
            <a:avLst/>
          </a:prstGeom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63E7BD-D2C6-433A-87F7-894B3E0B864D}" type="slidenum">
              <a:rPr lang="en-US" smtClean="0"/>
              <a:pPr/>
              <a:t>19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3178002" y="904099"/>
            <a:ext cx="6096000" cy="369332"/>
          </a:xfrm>
          <a:prstGeom prst="rect">
            <a:avLst/>
          </a:prstGeom>
        </p:spPr>
        <p:txBody>
          <a:bodyPr>
            <a:spAutoFit/>
          </a:bodyPr>
          <a:lstStyle/>
          <a:p>
            <a:pPr algn="r" rtl="1"/>
            <a:r>
              <a:rPr lang="fa-IR" dirty="0" smtClean="0">
                <a:cs typeface="B Mitra" panose="00000400000000000000" pitchFamily="2" charset="-78"/>
              </a:rPr>
              <a:t>خروجی‏های حاصل از اجرای برنامه و تحلیل نتایج</a:t>
            </a:r>
          </a:p>
        </p:txBody>
      </p:sp>
      <p:sp>
        <p:nvSpPr>
          <p:cNvPr id="8" name="Rectangle 7"/>
          <p:cNvSpPr/>
          <p:nvPr/>
        </p:nvSpPr>
        <p:spPr>
          <a:xfrm>
            <a:off x="6145518" y="146132"/>
            <a:ext cx="3128485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rtl="1"/>
            <a:r>
              <a:rPr lang="fa-IR" sz="2800" dirty="0" smtClean="0">
                <a:solidFill>
                  <a:srgbClr val="FF0000"/>
                </a:solidFill>
                <a:cs typeface="B Mitra" panose="00000400000000000000" pitchFamily="2" charset="-78"/>
              </a:rPr>
              <a:t>پیاده‏سازی در محیط </a:t>
            </a:r>
            <a:r>
              <a:rPr lang="en-US" sz="2000" dirty="0" smtClean="0">
                <a:solidFill>
                  <a:srgbClr val="FF0000"/>
                </a:solidFill>
                <a:cs typeface="B Mitra" panose="00000400000000000000" pitchFamily="2" charset="-78"/>
              </a:rPr>
              <a:t>MATLAB</a:t>
            </a:r>
            <a:endParaRPr lang="en" sz="2000" dirty="0">
              <a:solidFill>
                <a:srgbClr val="FF0000"/>
              </a:solidFill>
              <a:latin typeface="Calibri" panose="020F0502020204030204" pitchFamily="34" charset="0"/>
              <a:cs typeface="B Mitra" panose="00000400000000000000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4951503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63E7BD-D2C6-433A-87F7-894B3E0B864D}" type="slidenum">
              <a:rPr lang="en-US" smtClean="0"/>
              <a:pPr/>
              <a:t>20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3178002" y="904099"/>
            <a:ext cx="6096000" cy="369332"/>
          </a:xfrm>
          <a:prstGeom prst="rect">
            <a:avLst/>
          </a:prstGeom>
        </p:spPr>
        <p:txBody>
          <a:bodyPr>
            <a:spAutoFit/>
          </a:bodyPr>
          <a:lstStyle/>
          <a:p>
            <a:pPr algn="r" rtl="1"/>
            <a:r>
              <a:rPr lang="fa-IR" dirty="0" smtClean="0">
                <a:cs typeface="B Mitra" panose="00000400000000000000" pitchFamily="2" charset="-78"/>
              </a:rPr>
              <a:t>خروجی‏های حاصل از اجرای برنامه و تحلیل نتایج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82776" y="1765351"/>
            <a:ext cx="5486400" cy="4619625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6145518" y="146132"/>
            <a:ext cx="3128485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rtl="1"/>
            <a:r>
              <a:rPr lang="fa-IR" sz="2800" dirty="0" smtClean="0">
                <a:solidFill>
                  <a:srgbClr val="FF0000"/>
                </a:solidFill>
                <a:cs typeface="B Mitra" panose="00000400000000000000" pitchFamily="2" charset="-78"/>
              </a:rPr>
              <a:t>پیاده‏سازی در محیط </a:t>
            </a:r>
            <a:r>
              <a:rPr lang="en-US" sz="2000" dirty="0" smtClean="0">
                <a:solidFill>
                  <a:srgbClr val="FF0000"/>
                </a:solidFill>
                <a:cs typeface="B Mitra" panose="00000400000000000000" pitchFamily="2" charset="-78"/>
              </a:rPr>
              <a:t>MATLAB</a:t>
            </a:r>
            <a:endParaRPr lang="en" sz="2000" dirty="0">
              <a:solidFill>
                <a:srgbClr val="FF0000"/>
              </a:solidFill>
              <a:latin typeface="Calibri" panose="020F0502020204030204" pitchFamily="34" charset="0"/>
              <a:cs typeface="B Mitra" panose="00000400000000000000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5341317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82776" y="1765350"/>
            <a:ext cx="5486400" cy="4619625"/>
          </a:xfrm>
          <a:prstGeom prst="rect">
            <a:avLst/>
          </a:prstGeom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63E7BD-D2C6-433A-87F7-894B3E0B864D}" type="slidenum">
              <a:rPr lang="en-US" smtClean="0"/>
              <a:pPr/>
              <a:t>21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3178002" y="904099"/>
            <a:ext cx="6096000" cy="369332"/>
          </a:xfrm>
          <a:prstGeom prst="rect">
            <a:avLst/>
          </a:prstGeom>
        </p:spPr>
        <p:txBody>
          <a:bodyPr>
            <a:spAutoFit/>
          </a:bodyPr>
          <a:lstStyle/>
          <a:p>
            <a:pPr algn="r" rtl="1"/>
            <a:r>
              <a:rPr lang="fa-IR" dirty="0" smtClean="0">
                <a:cs typeface="B Mitra" panose="00000400000000000000" pitchFamily="2" charset="-78"/>
              </a:rPr>
              <a:t>خروجی‏های حاصل از اجرای برنامه و تحلیل نتایج</a:t>
            </a:r>
          </a:p>
        </p:txBody>
      </p:sp>
      <p:sp>
        <p:nvSpPr>
          <p:cNvPr id="8" name="Rectangle 7"/>
          <p:cNvSpPr/>
          <p:nvPr/>
        </p:nvSpPr>
        <p:spPr>
          <a:xfrm>
            <a:off x="6145518" y="146132"/>
            <a:ext cx="3128485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rtl="1"/>
            <a:r>
              <a:rPr lang="fa-IR" sz="2800" dirty="0" smtClean="0">
                <a:solidFill>
                  <a:srgbClr val="FF0000"/>
                </a:solidFill>
                <a:cs typeface="B Mitra" panose="00000400000000000000" pitchFamily="2" charset="-78"/>
              </a:rPr>
              <a:t>پیاده‏سازی در محیط </a:t>
            </a:r>
            <a:r>
              <a:rPr lang="en-US" sz="2000" dirty="0" smtClean="0">
                <a:solidFill>
                  <a:srgbClr val="FF0000"/>
                </a:solidFill>
                <a:cs typeface="B Mitra" panose="00000400000000000000" pitchFamily="2" charset="-78"/>
              </a:rPr>
              <a:t>MATLAB</a:t>
            </a:r>
            <a:endParaRPr lang="en" sz="2000" dirty="0">
              <a:solidFill>
                <a:srgbClr val="FF0000"/>
              </a:solidFill>
              <a:latin typeface="Calibri" panose="020F0502020204030204" pitchFamily="34" charset="0"/>
              <a:cs typeface="B Mitra" panose="00000400000000000000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14641903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5FCBEF"/>
      </a:accent1>
      <a:accent2>
        <a:srgbClr val="2E83C3"/>
      </a:accent2>
      <a:accent3>
        <a:srgbClr val="42D0A2"/>
      </a:accent3>
      <a:accent4>
        <a:srgbClr val="2E946B"/>
      </a:accent4>
      <a:accent5>
        <a:srgbClr val="42B051"/>
      </a:accent5>
      <a:accent6>
        <a:srgbClr val="96D141"/>
      </a:accent6>
      <a:hlink>
        <a:srgbClr val="3FCDE7"/>
      </a:hlink>
      <a:folHlink>
        <a:srgbClr val="A9D3E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0B5AB586-D108-4FC1-8368-649FE654B89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243</TotalTime>
  <Words>643</Words>
  <Application>Microsoft Office PowerPoint</Application>
  <PresentationFormat>Widescreen</PresentationFormat>
  <Paragraphs>123</Paragraphs>
  <Slides>21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30" baseType="lpstr">
      <vt:lpstr>Adobe Arabic</vt:lpstr>
      <vt:lpstr>Arial</vt:lpstr>
      <vt:lpstr>B Mitra</vt:lpstr>
      <vt:lpstr>Calibri</vt:lpstr>
      <vt:lpstr>Courier New</vt:lpstr>
      <vt:lpstr>Trebuchet MS</vt:lpstr>
      <vt:lpstr>Wingdings</vt:lpstr>
      <vt:lpstr>Wingdings 3</vt:lpstr>
      <vt:lpstr>Facet</vt:lpstr>
      <vt:lpstr>پروژه درس سیستم‏های فازی تعیین توان سیستم تهویه مطبوع با توجه به متغیرهای محیطی دما و رطوبت نسبی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Mehdi Mohammadi</dc:creator>
  <cp:lastModifiedBy>Mehdi Mohammadi</cp:lastModifiedBy>
  <cp:revision>42</cp:revision>
  <dcterms:created xsi:type="dcterms:W3CDTF">2023-12-30T04:08:22Z</dcterms:created>
  <dcterms:modified xsi:type="dcterms:W3CDTF">2024-01-24T16:23:51Z</dcterms:modified>
</cp:coreProperties>
</file>