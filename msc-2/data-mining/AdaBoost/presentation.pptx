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8"/>
  </p:notesMasterIdLst>
  <p:sldIdLst>
    <p:sldId id="271" r:id="rId2"/>
    <p:sldId id="262" r:id="rId3"/>
    <p:sldId id="264" r:id="rId4"/>
    <p:sldId id="265" r:id="rId5"/>
    <p:sldId id="266" r:id="rId6"/>
    <p:sldId id="267" r:id="rId7"/>
    <p:sldId id="263" r:id="rId8"/>
    <p:sldId id="261" r:id="rId9"/>
    <p:sldId id="268" r:id="rId10"/>
    <p:sldId id="269" r:id="rId11"/>
    <p:sldId id="260" r:id="rId12"/>
    <p:sldId id="257" r:id="rId13"/>
    <p:sldId id="258" r:id="rId14"/>
    <p:sldId id="259" r:id="rId15"/>
    <p:sldId id="270"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p:cViewPr varScale="1">
        <p:scale>
          <a:sx n="70" d="100"/>
          <a:sy n="70" d="100"/>
        </p:scale>
        <p:origin x="7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CEA070-C90A-4876-AD41-F81D0D38409C}" type="datetimeFigureOut">
              <a:rPr lang="en-US" smtClean="0"/>
              <a:t>6/27/2026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91CBC6-6454-4B9D-A223-402373A8F5EC}" type="slidenum">
              <a:rPr lang="en-US" smtClean="0"/>
              <a:t>‹#›</a:t>
            </a:fld>
            <a:endParaRPr lang="en-US"/>
          </a:p>
        </p:txBody>
      </p:sp>
    </p:spTree>
    <p:extLst>
      <p:ext uri="{BB962C8B-B14F-4D97-AF65-F5344CB8AC3E}">
        <p14:creationId xmlns:p14="http://schemas.microsoft.com/office/powerpoint/2010/main" val="273075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91CBC6-6454-4B9D-A223-402373A8F5EC}" type="slidenum">
              <a:rPr lang="en-US" smtClean="0"/>
              <a:t>1</a:t>
            </a:fld>
            <a:endParaRPr lang="en-US"/>
          </a:p>
        </p:txBody>
      </p:sp>
    </p:spTree>
    <p:extLst>
      <p:ext uri="{BB962C8B-B14F-4D97-AF65-F5344CB8AC3E}">
        <p14:creationId xmlns:p14="http://schemas.microsoft.com/office/powerpoint/2010/main" val="3566423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B0CAF9-B33A-462B-ABC5-F826C0C3D895}"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4289562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07B5A8-C2F7-422A-BE0A-2068443CE5F7}"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067851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8E64E2-7D93-4C3F-9953-70D6C1EB4537}"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686485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EA623F-44D4-4199-8344-42FC96B97545}" type="datetime1">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775034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14A8D6-FE95-4D58-A10C-B25E695256C6}" type="datetime1">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039075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27003E-6D51-46D0-B7F3-9BCC34F2DA28}" type="datetime1">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171350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7EB7AA-9595-4CE4-8364-C68D322A6C1D}" type="datetime1">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457980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294AD3-4175-4B30-A48D-7B14D8D7A0BF}" type="datetime1">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295479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CB587C-A035-4190-A6F4-DC73ACEFC96D}" type="slidenum">
              <a:rPr lang="en-US" smtClean="0"/>
              <a:t>‹#›</a:t>
            </a:fld>
            <a:endParaRPr lang="en-US"/>
          </a:p>
        </p:txBody>
      </p:sp>
      <p:sp>
        <p:nvSpPr>
          <p:cNvPr id="5" name="Date Placeholder 4"/>
          <p:cNvSpPr>
            <a:spLocks noGrp="1"/>
          </p:cNvSpPr>
          <p:nvPr>
            <p:ph type="dt" sz="half" idx="10"/>
          </p:nvPr>
        </p:nvSpPr>
        <p:spPr/>
        <p:txBody>
          <a:bodyPr/>
          <a:lstStyle/>
          <a:p>
            <a:fld id="{DF925E3B-3328-454C-A70E-68D03B40F9CC}" type="datetime1">
              <a:rPr lang="en-US" smtClean="0"/>
              <a:t>6/27/2026</a:t>
            </a:fld>
            <a:endParaRPr lang="en-US"/>
          </a:p>
        </p:txBody>
      </p:sp>
    </p:spTree>
    <p:extLst>
      <p:ext uri="{BB962C8B-B14F-4D97-AF65-F5344CB8AC3E}">
        <p14:creationId xmlns:p14="http://schemas.microsoft.com/office/powerpoint/2010/main" val="1350572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CB126D-3BF1-4147-9019-E57C3CC804E5}"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673550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056CB9-E9A3-4B6C-AB00-B26DE1DE7368}"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18862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0DCB89-689D-4870-AEED-B6BB55FA595E}"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521378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AD7C52-6B9F-44BF-9133-E8C8E4D60F54}"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76392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0C514B-457D-43AF-9AB3-7F57C0F76010}"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1391622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F5B56C-EFD9-4251-8C19-CC13AA104C8A}"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217545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9C27E-EEC7-4921-86D7-56363B66586E}" type="datetime1">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CB587C-A035-4190-A6F4-DC73ACEFC96D}" type="slidenum">
              <a:rPr lang="en-US" smtClean="0"/>
              <a:t>‹#›</a:t>
            </a:fld>
            <a:endParaRPr lang="en-US"/>
          </a:p>
        </p:txBody>
      </p:sp>
    </p:spTree>
    <p:extLst>
      <p:ext uri="{BB962C8B-B14F-4D97-AF65-F5344CB8AC3E}">
        <p14:creationId xmlns:p14="http://schemas.microsoft.com/office/powerpoint/2010/main" val="332305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810A2DE-5F26-4C86-9BD4-33E96B436FA3}" type="datetime1">
              <a:rPr lang="en-US" smtClean="0"/>
              <a:t>6/27/2026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ECB587C-A035-4190-A6F4-DC73ACEFC96D}" type="slidenum">
              <a:rPr lang="en-US" smtClean="0"/>
              <a:t>‹#›</a:t>
            </a:fld>
            <a:endParaRPr lang="en-US"/>
          </a:p>
        </p:txBody>
      </p:sp>
    </p:spTree>
    <p:extLst>
      <p:ext uri="{BB962C8B-B14F-4D97-AF65-F5344CB8AC3E}">
        <p14:creationId xmlns:p14="http://schemas.microsoft.com/office/powerpoint/2010/main" val="348150584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2.wmf"/><Relationship Id="rId17" Type="http://schemas.openxmlformats.org/officeDocument/2006/relationships/image" Target="../media/image15.png"/><Relationship Id="rId2" Type="http://schemas.openxmlformats.org/officeDocument/2006/relationships/image" Target="../media/image7.png"/><Relationship Id="rId16" Type="http://schemas.openxmlformats.org/officeDocument/2006/relationships/image" Target="../media/image14.wmf"/><Relationship Id="rId1" Type="http://schemas.openxmlformats.org/officeDocument/2006/relationships/slideLayout" Target="../slideLayouts/slideLayout1.xml"/><Relationship Id="rId6" Type="http://schemas.openxmlformats.org/officeDocument/2006/relationships/image" Target="../media/image9.wmf"/><Relationship Id="rId11" Type="http://schemas.openxmlformats.org/officeDocument/2006/relationships/oleObject" Target="../embeddings/oleObject6.bin"/><Relationship Id="rId5" Type="http://schemas.openxmlformats.org/officeDocument/2006/relationships/oleObject" Target="../embeddings/oleObject3.bin"/><Relationship Id="rId15" Type="http://schemas.openxmlformats.org/officeDocument/2006/relationships/oleObject" Target="../embeddings/oleObject8.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5.bin"/><Relationship Id="rId14" Type="http://schemas.openxmlformats.org/officeDocument/2006/relationships/image" Target="../media/image13.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16.emf"/><Relationship Id="rId1" Type="http://schemas.openxmlformats.org/officeDocument/2006/relationships/slideLayout" Target="../slideLayouts/slideLayout1.xml"/><Relationship Id="rId4" Type="http://schemas.openxmlformats.org/officeDocument/2006/relationships/image" Target="../media/image17.wmf"/></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4.wmf"/><Relationship Id="rId18" Type="http://schemas.openxmlformats.org/officeDocument/2006/relationships/oleObject" Target="../embeddings/oleObject18.bin"/><Relationship Id="rId3" Type="http://schemas.openxmlformats.org/officeDocument/2006/relationships/image" Target="../media/image19.wmf"/><Relationship Id="rId21" Type="http://schemas.openxmlformats.org/officeDocument/2006/relationships/image" Target="../media/image28.wmf"/><Relationship Id="rId7" Type="http://schemas.openxmlformats.org/officeDocument/2006/relationships/image" Target="../media/image21.wmf"/><Relationship Id="rId12" Type="http://schemas.openxmlformats.org/officeDocument/2006/relationships/oleObject" Target="../embeddings/oleObject15.bin"/><Relationship Id="rId17" Type="http://schemas.openxmlformats.org/officeDocument/2006/relationships/image" Target="../media/image26.wmf"/><Relationship Id="rId2" Type="http://schemas.openxmlformats.org/officeDocument/2006/relationships/oleObject" Target="../embeddings/oleObject10.bin"/><Relationship Id="rId16" Type="http://schemas.openxmlformats.org/officeDocument/2006/relationships/oleObject" Target="../embeddings/oleObject17.bin"/><Relationship Id="rId20" Type="http://schemas.openxmlformats.org/officeDocument/2006/relationships/oleObject" Target="../embeddings/oleObject19.bin"/><Relationship Id="rId1" Type="http://schemas.openxmlformats.org/officeDocument/2006/relationships/slideLayout" Target="../slideLayouts/slideLayout1.xml"/><Relationship Id="rId6" Type="http://schemas.openxmlformats.org/officeDocument/2006/relationships/oleObject" Target="../embeddings/oleObject12.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23" Type="http://schemas.openxmlformats.org/officeDocument/2006/relationships/image" Target="../media/image29.wmf"/><Relationship Id="rId10" Type="http://schemas.openxmlformats.org/officeDocument/2006/relationships/oleObject" Target="../embeddings/oleObject14.bin"/><Relationship Id="rId19" Type="http://schemas.openxmlformats.org/officeDocument/2006/relationships/image" Target="../media/image27.wmf"/><Relationship Id="rId4" Type="http://schemas.openxmlformats.org/officeDocument/2006/relationships/oleObject" Target="../embeddings/oleObject11.bin"/><Relationship Id="rId9" Type="http://schemas.openxmlformats.org/officeDocument/2006/relationships/image" Target="../media/image22.wmf"/><Relationship Id="rId14" Type="http://schemas.openxmlformats.org/officeDocument/2006/relationships/oleObject" Target="../embeddings/oleObject16.bin"/><Relationship Id="rId22" Type="http://schemas.openxmlformats.org/officeDocument/2006/relationships/oleObject" Target="../embeddings/oleObject20.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5.wmf"/><Relationship Id="rId18" Type="http://schemas.openxmlformats.org/officeDocument/2006/relationships/oleObject" Target="../embeddings/oleObject29.bin"/><Relationship Id="rId3" Type="http://schemas.openxmlformats.org/officeDocument/2006/relationships/image" Target="../media/image30.wmf"/><Relationship Id="rId21" Type="http://schemas.openxmlformats.org/officeDocument/2006/relationships/image" Target="../media/image39.wmf"/><Relationship Id="rId7" Type="http://schemas.openxmlformats.org/officeDocument/2006/relationships/image" Target="../media/image32.wmf"/><Relationship Id="rId12" Type="http://schemas.openxmlformats.org/officeDocument/2006/relationships/oleObject" Target="../embeddings/oleObject26.bin"/><Relationship Id="rId17" Type="http://schemas.openxmlformats.org/officeDocument/2006/relationships/image" Target="../media/image37.wmf"/><Relationship Id="rId25" Type="http://schemas.openxmlformats.org/officeDocument/2006/relationships/image" Target="../media/image41.wmf"/><Relationship Id="rId2" Type="http://schemas.openxmlformats.org/officeDocument/2006/relationships/oleObject" Target="../embeddings/oleObject21.bin"/><Relationship Id="rId16" Type="http://schemas.openxmlformats.org/officeDocument/2006/relationships/oleObject" Target="../embeddings/oleObject28.bin"/><Relationship Id="rId20" Type="http://schemas.openxmlformats.org/officeDocument/2006/relationships/oleObject" Target="../embeddings/oleObject30.bin"/><Relationship Id="rId1" Type="http://schemas.openxmlformats.org/officeDocument/2006/relationships/slideLayout" Target="../slideLayouts/slideLayout1.xml"/><Relationship Id="rId6" Type="http://schemas.openxmlformats.org/officeDocument/2006/relationships/oleObject" Target="../embeddings/oleObject23.bin"/><Relationship Id="rId11" Type="http://schemas.openxmlformats.org/officeDocument/2006/relationships/image" Target="../media/image34.wmf"/><Relationship Id="rId24" Type="http://schemas.openxmlformats.org/officeDocument/2006/relationships/oleObject" Target="../embeddings/oleObject32.bin"/><Relationship Id="rId5" Type="http://schemas.openxmlformats.org/officeDocument/2006/relationships/image" Target="../media/image31.wmf"/><Relationship Id="rId15" Type="http://schemas.openxmlformats.org/officeDocument/2006/relationships/image" Target="../media/image36.wmf"/><Relationship Id="rId23" Type="http://schemas.openxmlformats.org/officeDocument/2006/relationships/image" Target="../media/image40.wmf"/><Relationship Id="rId10" Type="http://schemas.openxmlformats.org/officeDocument/2006/relationships/oleObject" Target="../embeddings/oleObject25.bin"/><Relationship Id="rId19" Type="http://schemas.openxmlformats.org/officeDocument/2006/relationships/image" Target="../media/image38.wmf"/><Relationship Id="rId4" Type="http://schemas.openxmlformats.org/officeDocument/2006/relationships/oleObject" Target="../embeddings/oleObject22.bin"/><Relationship Id="rId9" Type="http://schemas.openxmlformats.org/officeDocument/2006/relationships/image" Target="../media/image33.wmf"/><Relationship Id="rId14" Type="http://schemas.openxmlformats.org/officeDocument/2006/relationships/oleObject" Target="../embeddings/oleObject27.bin"/><Relationship Id="rId22" Type="http://schemas.openxmlformats.org/officeDocument/2006/relationships/oleObject" Target="../embeddings/oleObject31.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7.wmf"/><Relationship Id="rId3" Type="http://schemas.openxmlformats.org/officeDocument/2006/relationships/image" Target="../media/image42.wmf"/><Relationship Id="rId7" Type="http://schemas.openxmlformats.org/officeDocument/2006/relationships/image" Target="../media/image44.wmf"/><Relationship Id="rId12" Type="http://schemas.openxmlformats.org/officeDocument/2006/relationships/oleObject" Target="../embeddings/oleObject38.bin"/><Relationship Id="rId2" Type="http://schemas.openxmlformats.org/officeDocument/2006/relationships/oleObject" Target="../embeddings/oleObject33.bin"/><Relationship Id="rId1" Type="http://schemas.openxmlformats.org/officeDocument/2006/relationships/slideLayout" Target="../slideLayouts/slideLayout1.xml"/><Relationship Id="rId6" Type="http://schemas.openxmlformats.org/officeDocument/2006/relationships/oleObject" Target="../embeddings/oleObject35.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48.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45.wmf"/><Relationship Id="rId14" Type="http://schemas.openxmlformats.org/officeDocument/2006/relationships/oleObject" Target="../embeddings/oleObject39.bin"/></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7" name="Picture 206"/>
          <p:cNvPicPr/>
          <p:nvPr/>
        </p:nvPicPr>
        <p:blipFill>
          <a:blip r:embed="rId3"/>
          <a:stretch>
            <a:fillRect/>
          </a:stretch>
        </p:blipFill>
        <p:spPr>
          <a:xfrm>
            <a:off x="3124199" y="2419806"/>
            <a:ext cx="5943600" cy="2464435"/>
          </a:xfrm>
          <a:prstGeom prst="rect">
            <a:avLst/>
          </a:prstGeom>
        </p:spPr>
      </p:pic>
      <p:sp>
        <p:nvSpPr>
          <p:cNvPr id="3" name="Rectangle 2"/>
          <p:cNvSpPr/>
          <p:nvPr/>
        </p:nvSpPr>
        <p:spPr>
          <a:xfrm>
            <a:off x="2335193" y="1496476"/>
            <a:ext cx="7521611" cy="923330"/>
          </a:xfrm>
          <a:prstGeom prst="rect">
            <a:avLst/>
          </a:prstGeom>
          <a:noFill/>
        </p:spPr>
        <p:txBody>
          <a:bodyPr wrap="none" lIns="91440" tIns="45720" rIns="91440" bIns="45720">
            <a:spAutoFit/>
          </a:bodyPr>
          <a:lstStyle/>
          <a:p>
            <a:pPr algn="ctr" rtl="1"/>
            <a:r>
              <a:rPr lang="fa-IR"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cs typeface="B Roya" panose="00000400000000000000" pitchFamily="2" charset="-78"/>
              </a:rPr>
              <a:t>یادگیری گروهی - </a:t>
            </a:r>
            <a:r>
              <a:rPr lang="en-US" sz="5400" b="1"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cs typeface="B Roya" panose="00000400000000000000" pitchFamily="2" charset="-78"/>
              </a:rPr>
              <a:t>Adaboost</a:t>
            </a:r>
            <a:endPar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4" name="Slide Number Placeholder 3"/>
          <p:cNvSpPr>
            <a:spLocks noGrp="1"/>
          </p:cNvSpPr>
          <p:nvPr>
            <p:ph type="sldNum" sz="quarter" idx="12"/>
          </p:nvPr>
        </p:nvSpPr>
        <p:spPr/>
        <p:txBody>
          <a:bodyPr/>
          <a:lstStyle/>
          <a:p>
            <a:fld id="{8ECB587C-A035-4190-A6F4-DC73ACEFC96D}" type="slidenum">
              <a:rPr lang="en-US" smtClean="0"/>
              <a:t>1</a:t>
            </a:fld>
            <a:endParaRPr lang="en-US"/>
          </a:p>
        </p:txBody>
      </p:sp>
      <p:sp>
        <p:nvSpPr>
          <p:cNvPr id="7" name="Rectangle 6"/>
          <p:cNvSpPr/>
          <p:nvPr/>
        </p:nvSpPr>
        <p:spPr>
          <a:xfrm>
            <a:off x="6315075" y="4715193"/>
            <a:ext cx="3541729" cy="646331"/>
          </a:xfrm>
          <a:prstGeom prst="rect">
            <a:avLst/>
          </a:prstGeom>
        </p:spPr>
        <p:txBody>
          <a:bodyPr wrap="square">
            <a:spAutoFit/>
          </a:bodyPr>
          <a:lstStyle/>
          <a:p>
            <a:pPr algn="r"/>
            <a:r>
              <a:rPr lang="fa-IR" b="1" dirty="0">
                <a:solidFill>
                  <a:srgbClr val="000000"/>
                </a:solidFill>
                <a:latin typeface="Vazirmatn-Regular"/>
                <a:cs typeface="B Roya" panose="00000400000000000000" pitchFamily="2" charset="-78"/>
              </a:rPr>
              <a:t>ارائه دهنده: مهدی محمدی</a:t>
            </a:r>
          </a:p>
          <a:p>
            <a:pPr algn="r"/>
            <a:r>
              <a:rPr lang="fa-IR" b="1" dirty="0">
                <a:solidFill>
                  <a:srgbClr val="000000"/>
                </a:solidFill>
                <a:latin typeface="Vazirmatn-Regular"/>
                <a:cs typeface="B Roya" panose="00000400000000000000" pitchFamily="2" charset="-78"/>
              </a:rPr>
              <a:t>استاد درس: جناب دکتر داورپناه جزی</a:t>
            </a:r>
            <a:endParaRPr lang="en-US" dirty="0">
              <a:cs typeface="B Roya" panose="00000400000000000000" pitchFamily="2" charset="-78"/>
            </a:endParaRPr>
          </a:p>
        </p:txBody>
      </p:sp>
      <p:sp>
        <p:nvSpPr>
          <p:cNvPr id="2" name="Rectangle 1">
            <a:extLst>
              <a:ext uri="{FF2B5EF4-FFF2-40B4-BE49-F238E27FC236}">
                <a16:creationId xmlns:a16="http://schemas.microsoft.com/office/drawing/2014/main" id="{3294FFC1-AD9D-2212-0EF9-93BF0501A5AF}"/>
              </a:ext>
            </a:extLst>
          </p:cNvPr>
          <p:cNvSpPr/>
          <p:nvPr/>
        </p:nvSpPr>
        <p:spPr>
          <a:xfrm>
            <a:off x="4146600" y="850145"/>
            <a:ext cx="3898800" cy="646331"/>
          </a:xfrm>
          <a:prstGeom prst="rect">
            <a:avLst/>
          </a:prstGeom>
        </p:spPr>
        <p:txBody>
          <a:bodyPr wrap="square">
            <a:spAutoFit/>
          </a:bodyPr>
          <a:lstStyle/>
          <a:p>
            <a:pPr algn="ctr"/>
            <a:r>
              <a:rPr lang="fa-IR" sz="3600" b="1" dirty="0">
                <a:solidFill>
                  <a:srgbClr val="FF0000"/>
                </a:solidFill>
                <a:latin typeface="Vazirmatn-Regular"/>
                <a:cs typeface="B Roya" panose="00000400000000000000" pitchFamily="2" charset="-78"/>
              </a:rPr>
              <a:t>پروژه درس داده‏کاوی</a:t>
            </a:r>
          </a:p>
        </p:txBody>
      </p:sp>
    </p:spTree>
    <p:extLst>
      <p:ext uri="{BB962C8B-B14F-4D97-AF65-F5344CB8AC3E}">
        <p14:creationId xmlns:p14="http://schemas.microsoft.com/office/powerpoint/2010/main" val="3199633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2847278" y="607962"/>
            <a:ext cx="6096000" cy="646331"/>
          </a:xfrm>
          <a:prstGeom prst="rect">
            <a:avLst/>
          </a:prstGeom>
        </p:spPr>
        <p:txBody>
          <a:bodyPr>
            <a:spAutoFit/>
          </a:bodyPr>
          <a:lstStyle/>
          <a:p>
            <a:pPr marL="285750" indent="-285750" algn="just" rtl="1">
              <a:buFont typeface="Wingdings" panose="05000000000000000000" pitchFamily="2" charset="2"/>
              <a:buChar char="ü"/>
            </a:pPr>
            <a:r>
              <a:rPr lang="fa-IR" dirty="0">
                <a:ea typeface="Calibri" panose="020F0502020204030204" pitchFamily="34" charset="0"/>
                <a:cs typeface="B Roya" panose="00000400000000000000" pitchFamily="2" charset="-78"/>
              </a:rPr>
              <a:t>شرکت در امتحانی با100 سؤال درست/غلط در موضوعات مختلف ازجمله ریاضی، جغرافیا، علوم، تاریخ و موسیقی </a:t>
            </a:r>
            <a:endParaRPr lang="en-US" dirty="0">
              <a:cs typeface="B Roya" panose="00000400000000000000" pitchFamily="2" charset="-78"/>
            </a:endParaRPr>
          </a:p>
        </p:txBody>
      </p:sp>
      <p:sp>
        <p:nvSpPr>
          <p:cNvPr id="3" name="Rectangle 2"/>
          <p:cNvSpPr/>
          <p:nvPr/>
        </p:nvSpPr>
        <p:spPr>
          <a:xfrm>
            <a:off x="3592133" y="1426685"/>
            <a:ext cx="5351145" cy="369332"/>
          </a:xfrm>
          <a:prstGeom prst="rect">
            <a:avLst/>
          </a:prstGeom>
        </p:spPr>
        <p:txBody>
          <a:bodyPr wrap="none">
            <a:spAutoFit/>
          </a:bodyPr>
          <a:lstStyle/>
          <a:p>
            <a:pPr marL="285750" indent="-285750" algn="just" rtl="1">
              <a:buFont typeface="Wingdings" panose="05000000000000000000" pitchFamily="2" charset="2"/>
              <a:buChar char="ü"/>
            </a:pPr>
            <a:r>
              <a:rPr lang="fa-IR" dirty="0">
                <a:ea typeface="Calibri" panose="020F0502020204030204" pitchFamily="34" charset="0"/>
                <a:cs typeface="B Roya" panose="00000400000000000000" pitchFamily="2" charset="-78"/>
              </a:rPr>
              <a:t>اجازه تماس با پنج دوست خود - آدریانا، باب، کارلوس، دانا و امیلی </a:t>
            </a:r>
            <a:endParaRPr lang="en-US" dirty="0">
              <a:cs typeface="B Roya" panose="00000400000000000000" pitchFamily="2" charset="-78"/>
            </a:endParaRPr>
          </a:p>
        </p:txBody>
      </p:sp>
      <p:sp>
        <p:nvSpPr>
          <p:cNvPr id="6" name="Rectangle 5"/>
          <p:cNvSpPr/>
          <p:nvPr/>
        </p:nvSpPr>
        <p:spPr>
          <a:xfrm>
            <a:off x="2000351" y="1968409"/>
            <a:ext cx="6942927" cy="369332"/>
          </a:xfrm>
          <a:prstGeom prst="rect">
            <a:avLst/>
          </a:prstGeom>
        </p:spPr>
        <p:txBody>
          <a:bodyPr wrap="none">
            <a:spAutoFit/>
          </a:bodyPr>
          <a:lstStyle/>
          <a:p>
            <a:pPr marL="285750" indent="-285750" algn="just" rtl="1">
              <a:buFont typeface="Wingdings" panose="05000000000000000000" pitchFamily="2" charset="2"/>
              <a:buChar char="ü"/>
            </a:pPr>
            <a:r>
              <a:rPr lang="fa-IR" dirty="0">
                <a:cs typeface="B Roya" panose="00000400000000000000" pitchFamily="2" charset="-78"/>
              </a:rPr>
              <a:t>عدم نداشتن فرصت کافی جهت پاسخ‏دهی به تمامی 100 سئوال به دلیل اشتغال تمام وقت</a:t>
            </a:r>
            <a:endParaRPr lang="en-US" dirty="0">
              <a:cs typeface="B Roya" panose="00000400000000000000" pitchFamily="2" charset="-78"/>
            </a:endParaRPr>
          </a:p>
        </p:txBody>
      </p:sp>
      <p:sp>
        <p:nvSpPr>
          <p:cNvPr id="4" name="Rectangle 3"/>
          <p:cNvSpPr/>
          <p:nvPr/>
        </p:nvSpPr>
        <p:spPr>
          <a:xfrm>
            <a:off x="7474606" y="2510133"/>
            <a:ext cx="1468672" cy="369332"/>
          </a:xfrm>
          <a:prstGeom prst="rect">
            <a:avLst/>
          </a:prstGeom>
        </p:spPr>
        <p:txBody>
          <a:bodyPr wrap="none">
            <a:spAutoFit/>
          </a:bodyPr>
          <a:lstStyle/>
          <a:p>
            <a:pPr algn="just" rtl="1"/>
            <a:r>
              <a:rPr lang="fa-IR" dirty="0">
                <a:solidFill>
                  <a:srgbClr val="FF0000"/>
                </a:solidFill>
                <a:ea typeface="Calibri" panose="020F0502020204030204" pitchFamily="34" charset="0"/>
                <a:cs typeface="B Roya" panose="00000400000000000000" pitchFamily="2" charset="-78"/>
              </a:rPr>
              <a:t>دو تکنیک ممکن: </a:t>
            </a:r>
            <a:endParaRPr lang="en-US" dirty="0">
              <a:solidFill>
                <a:srgbClr val="FF0000"/>
              </a:solidFill>
              <a:cs typeface="B Roya" panose="00000400000000000000" pitchFamily="2" charset="-78"/>
            </a:endParaRPr>
          </a:p>
        </p:txBody>
      </p:sp>
      <p:sp>
        <p:nvSpPr>
          <p:cNvPr id="5" name="Rectangle 4"/>
          <p:cNvSpPr/>
          <p:nvPr/>
        </p:nvSpPr>
        <p:spPr>
          <a:xfrm>
            <a:off x="2112942" y="5037445"/>
            <a:ext cx="6096000" cy="1574149"/>
          </a:xfrm>
          <a:prstGeom prst="rect">
            <a:avLst/>
          </a:prstGeom>
        </p:spPr>
        <p:txBody>
          <a:bodyPr>
            <a:spAutoFit/>
          </a:bodyPr>
          <a:lstStyle/>
          <a:p>
            <a:pPr algn="just" rtl="1">
              <a:lnSpc>
                <a:spcPct val="107000"/>
              </a:lnSpc>
              <a:spcAft>
                <a:spcPts val="800"/>
              </a:spcAft>
            </a:pPr>
            <a:r>
              <a:rPr lang="fa-IR" dirty="0">
                <a:latin typeface="Calibri" panose="020F0502020204030204" pitchFamily="34" charset="0"/>
                <a:ea typeface="Calibri" panose="020F0502020204030204" pitchFamily="34" charset="0"/>
                <a:cs typeface="B Roya" panose="00000400000000000000" pitchFamily="2" charset="-78"/>
              </a:rPr>
              <a:t>تکنیک 2: امتحان را به آدریانا می‌دهیم و از او می‌خواهیم که فقط به سؤالاتی که در مورد آن‌ها مطمئن است پاسخ دهد. ما فرض می‌کنیم که آن پاسخ‌ها خوب هستند و آن‌ها را از آزمون حذف می‌کنیم. اکنون سؤالات باقی‌مانده را با همان دستورالعمل به باب می‏دهیم. ما به این روش ادامه می‌دهیم تا آن را به هر پنج دوست منتقل کنیم.</a:t>
            </a:r>
            <a:endParaRPr lang="en-US" dirty="0">
              <a:effectLst/>
              <a:latin typeface="Calibri" panose="020F0502020204030204" pitchFamily="34" charset="0"/>
              <a:ea typeface="Calibri" panose="020F0502020204030204" pitchFamily="34" charset="0"/>
              <a:cs typeface="B Roya" panose="00000400000000000000" pitchFamily="2" charset="-78"/>
            </a:endParaRPr>
          </a:p>
        </p:txBody>
      </p:sp>
      <p:sp>
        <p:nvSpPr>
          <p:cNvPr id="7" name="Rectangle 6"/>
          <p:cNvSpPr/>
          <p:nvPr/>
        </p:nvSpPr>
        <p:spPr>
          <a:xfrm>
            <a:off x="2112942" y="2783119"/>
            <a:ext cx="6096000" cy="2166875"/>
          </a:xfrm>
          <a:prstGeom prst="rect">
            <a:avLst/>
          </a:prstGeom>
        </p:spPr>
        <p:txBody>
          <a:bodyPr>
            <a:spAutoFit/>
          </a:bodyPr>
          <a:lstStyle/>
          <a:p>
            <a:pPr algn="just" rtl="1">
              <a:lnSpc>
                <a:spcPct val="107000"/>
              </a:lnSpc>
              <a:spcAft>
                <a:spcPts val="800"/>
              </a:spcAft>
            </a:pPr>
            <a:r>
              <a:rPr lang="fa-IR" dirty="0">
                <a:latin typeface="Calibri" panose="020F0502020204030204" pitchFamily="34" charset="0"/>
                <a:ea typeface="Calibri" panose="020F0502020204030204" pitchFamily="34" charset="0"/>
                <a:cs typeface="B Roya" panose="00000400000000000000" pitchFamily="2" charset="-78"/>
              </a:rPr>
              <a:t>تکنیک 1: برای هر یک از دوستان، چندین سؤال تصادفی انتخاب کنید و از آن‌ها بخواهید که به آن‌ها پاسخ دهند (مطمئن شوید که هر سؤال حداقل توسط یکی از دوستان ما پاسخ داده شود). پس از دریافت پاسخ‌ها، با انتخاب گزینه‌ای که در بین کسانی که به آن سؤال پاسخ داده‌اند، بیشترین محبوبیت را داشت، به آزمون پاسخ دهید. به‌عنوان‌مثال، اگر دو نفر از دوستان ما در مورد سؤال 1 "درست" و یکی "نادرست" پاسخ داد، ما به سؤال 1 به‌عنوان "درست" پاسخ می‌دهیم (در صورت وجود مساوی، می‌توانیم یکی از پاسخ‌های برنده را به‌طور تصادفی انتخاب کنیم).</a:t>
            </a:r>
            <a:endParaRPr lang="en-US" dirty="0">
              <a:effectLst/>
              <a:latin typeface="Calibri" panose="020F0502020204030204" pitchFamily="34" charset="0"/>
              <a:ea typeface="Calibri" panose="020F0502020204030204" pitchFamily="34" charset="0"/>
              <a:cs typeface="B Roya" panose="00000400000000000000" pitchFamily="2" charset="-78"/>
            </a:endParaRPr>
          </a:p>
        </p:txBody>
      </p:sp>
      <p:sp>
        <p:nvSpPr>
          <p:cNvPr id="10" name="Rectangle 9"/>
          <p:cNvSpPr/>
          <p:nvPr/>
        </p:nvSpPr>
        <p:spPr>
          <a:xfrm>
            <a:off x="5220783" y="175319"/>
            <a:ext cx="502061" cy="369332"/>
          </a:xfrm>
          <a:prstGeom prst="rect">
            <a:avLst/>
          </a:prstGeom>
        </p:spPr>
        <p:txBody>
          <a:bodyPr wrap="none">
            <a:spAutoFit/>
          </a:bodyPr>
          <a:lstStyle/>
          <a:p>
            <a:pPr algn="just" rtl="1"/>
            <a:r>
              <a:rPr lang="fa-IR" dirty="0">
                <a:solidFill>
                  <a:srgbClr val="FF0000"/>
                </a:solidFill>
                <a:cs typeface="B Roya" panose="00000400000000000000" pitchFamily="2" charset="-78"/>
              </a:rPr>
              <a:t>مثال</a:t>
            </a:r>
            <a:endParaRPr lang="en-US" dirty="0">
              <a:solidFill>
                <a:srgbClr val="FF0000"/>
              </a:solidFill>
              <a:cs typeface="B Roya" panose="00000400000000000000" pitchFamily="2" charset="-78"/>
            </a:endParaRPr>
          </a:p>
        </p:txBody>
      </p:sp>
      <p:sp>
        <p:nvSpPr>
          <p:cNvPr id="8" name="Slide Number Placeholder 7"/>
          <p:cNvSpPr>
            <a:spLocks noGrp="1"/>
          </p:cNvSpPr>
          <p:nvPr>
            <p:ph type="sldNum" sz="quarter" idx="12"/>
          </p:nvPr>
        </p:nvSpPr>
        <p:spPr/>
        <p:txBody>
          <a:bodyPr/>
          <a:lstStyle/>
          <a:p>
            <a:fld id="{8ECB587C-A035-4190-A6F4-DC73ACEFC96D}" type="slidenum">
              <a:rPr lang="en-US" smtClean="0"/>
              <a:t>2</a:t>
            </a:fld>
            <a:endParaRPr lang="en-US"/>
          </a:p>
        </p:txBody>
      </p:sp>
    </p:spTree>
    <p:extLst>
      <p:ext uri="{BB962C8B-B14F-4D97-AF65-F5344CB8AC3E}">
        <p14:creationId xmlns:p14="http://schemas.microsoft.com/office/powerpoint/2010/main" val="1618378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7"/>
          <p:cNvSpPr>
            <a:spLocks noGrp="1"/>
          </p:cNvSpPr>
          <p:nvPr>
            <p:ph type="sldNum" sz="quarter" idx="12"/>
          </p:nvPr>
        </p:nvSpPr>
        <p:spPr/>
        <p:txBody>
          <a:bodyPr/>
          <a:lstStyle/>
          <a:p>
            <a:fld id="{8ECB587C-A035-4190-A6F4-DC73ACEFC96D}" type="slidenum">
              <a:rPr lang="en-US" smtClean="0"/>
              <a:t>3</a:t>
            </a:fld>
            <a:endParaRPr lang="en-US"/>
          </a:p>
        </p:txBody>
      </p:sp>
      <p:sp>
        <p:nvSpPr>
          <p:cNvPr id="5" name="Rectangle 4"/>
          <p:cNvSpPr/>
          <p:nvPr/>
        </p:nvSpPr>
        <p:spPr>
          <a:xfrm>
            <a:off x="5270791" y="228600"/>
            <a:ext cx="1348446" cy="369332"/>
          </a:xfrm>
          <a:prstGeom prst="rect">
            <a:avLst/>
          </a:prstGeom>
        </p:spPr>
        <p:txBody>
          <a:bodyPr wrap="none">
            <a:spAutoFit/>
          </a:bodyPr>
          <a:lstStyle/>
          <a:p>
            <a:pPr algn="just" rtl="1"/>
            <a:r>
              <a:rPr lang="fa-IR" dirty="0">
                <a:solidFill>
                  <a:srgbClr val="FF0000"/>
                </a:solidFill>
                <a:cs typeface="B Roya" panose="00000400000000000000" pitchFamily="2" charset="-78"/>
              </a:rPr>
              <a:t>نحوۀ تقسیم داده</a:t>
            </a:r>
            <a:endParaRPr lang="en-US" dirty="0">
              <a:solidFill>
                <a:srgbClr val="FF0000"/>
              </a:solidFill>
              <a:cs typeface="B Roya" panose="00000400000000000000" pitchFamily="2" charset="-78"/>
            </a:endParaRPr>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artisticPastelsSmooth trans="75000" scaling="10"/>
                    </a14:imgEffect>
                    <a14:imgEffect>
                      <a14:sharpenSoften amount="50000"/>
                    </a14:imgEffect>
                    <a14:imgEffect>
                      <a14:colorTemperature colorTemp="11200"/>
                    </a14:imgEffect>
                    <a14:imgEffect>
                      <a14:brightnessContrast bright="20000" contrast="-40000"/>
                    </a14:imgEffect>
                  </a14:imgLayer>
                </a14:imgProps>
              </a:ext>
            </a:extLst>
          </a:blip>
          <a:stretch>
            <a:fillRect/>
          </a:stretch>
        </p:blipFill>
        <p:spPr>
          <a:xfrm>
            <a:off x="2616027" y="1135885"/>
            <a:ext cx="6657975" cy="3743325"/>
          </a:xfrm>
          <a:prstGeom prst="rect">
            <a:avLst/>
          </a:prstGeom>
        </p:spPr>
      </p:pic>
    </p:spTree>
    <p:extLst>
      <p:ext uri="{BB962C8B-B14F-4D97-AF65-F5344CB8AC3E}">
        <p14:creationId xmlns:p14="http://schemas.microsoft.com/office/powerpoint/2010/main" val="2735819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7"/>
          <p:cNvSpPr>
            <a:spLocks noGrp="1"/>
          </p:cNvSpPr>
          <p:nvPr>
            <p:ph type="sldNum" sz="quarter" idx="12"/>
          </p:nvPr>
        </p:nvSpPr>
        <p:spPr/>
        <p:txBody>
          <a:bodyPr/>
          <a:lstStyle/>
          <a:p>
            <a:fld id="{8ECB587C-A035-4190-A6F4-DC73ACEFC96D}" type="slidenum">
              <a:rPr lang="en-US" smtClean="0"/>
              <a:t>4</a:t>
            </a:fld>
            <a:endParaRPr lang="en-US"/>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artisticPastelsSmooth trans="75000" scaling="10"/>
                    </a14:imgEffect>
                    <a14:imgEffect>
                      <a14:sharpenSoften amount="50000"/>
                    </a14:imgEffect>
                    <a14:imgEffect>
                      <a14:colorTemperature colorTemp="11200"/>
                    </a14:imgEffect>
                    <a14:imgEffect>
                      <a14:brightnessContrast bright="20000" contrast="-40000"/>
                    </a14:imgEffect>
                  </a14:imgLayer>
                </a14:imgProps>
              </a:ext>
            </a:extLst>
          </a:blip>
          <a:stretch>
            <a:fillRect/>
          </a:stretch>
        </p:blipFill>
        <p:spPr>
          <a:xfrm>
            <a:off x="3079076" y="672499"/>
            <a:ext cx="5336381" cy="5522119"/>
          </a:xfrm>
          <a:prstGeom prst="rect">
            <a:avLst/>
          </a:prstGeom>
        </p:spPr>
      </p:pic>
    </p:spTree>
    <p:extLst>
      <p:ext uri="{BB962C8B-B14F-4D97-AF65-F5344CB8AC3E}">
        <p14:creationId xmlns:p14="http://schemas.microsoft.com/office/powerpoint/2010/main" val="2790724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7"/>
          <p:cNvSpPr>
            <a:spLocks noGrp="1"/>
          </p:cNvSpPr>
          <p:nvPr>
            <p:ph type="sldNum" sz="quarter" idx="12"/>
          </p:nvPr>
        </p:nvSpPr>
        <p:spPr/>
        <p:txBody>
          <a:bodyPr/>
          <a:lstStyle/>
          <a:p>
            <a:fld id="{8ECB587C-A035-4190-A6F4-DC73ACEFC96D}" type="slidenum">
              <a:rPr lang="en-US" smtClean="0"/>
              <a:t>5</a:t>
            </a:fld>
            <a:endParaRPr lang="en-US"/>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artisticPastelsSmooth trans="75000" scaling="10"/>
                    </a14:imgEffect>
                    <a14:imgEffect>
                      <a14:sharpenSoften amount="50000"/>
                    </a14:imgEffect>
                    <a14:imgEffect>
                      <a14:colorTemperature colorTemp="11200"/>
                    </a14:imgEffect>
                    <a14:imgEffect>
                      <a14:brightnessContrast bright="20000" contrast="-40000"/>
                    </a14:imgEffect>
                  </a14:imgLayer>
                </a14:imgProps>
              </a:ext>
            </a:extLst>
          </a:blip>
          <a:stretch>
            <a:fillRect/>
          </a:stretch>
        </p:blipFill>
        <p:spPr>
          <a:xfrm>
            <a:off x="3179435" y="689815"/>
            <a:ext cx="5064919" cy="4650581"/>
          </a:xfrm>
          <a:prstGeom prst="rect">
            <a:avLst/>
          </a:prstGeom>
        </p:spPr>
      </p:pic>
    </p:spTree>
    <p:extLst>
      <p:ext uri="{BB962C8B-B14F-4D97-AF65-F5344CB8AC3E}">
        <p14:creationId xmlns:p14="http://schemas.microsoft.com/office/powerpoint/2010/main" val="2233550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9"/>
          <p:cNvSpPr/>
          <p:nvPr/>
        </p:nvSpPr>
        <p:spPr>
          <a:xfrm>
            <a:off x="4673666" y="166803"/>
            <a:ext cx="1758815" cy="369332"/>
          </a:xfrm>
          <a:prstGeom prst="rect">
            <a:avLst/>
          </a:prstGeom>
        </p:spPr>
        <p:txBody>
          <a:bodyPr wrap="none">
            <a:spAutoFit/>
          </a:bodyPr>
          <a:lstStyle/>
          <a:p>
            <a:pPr algn="ctr"/>
            <a:r>
              <a:rPr lang="en-US" dirty="0">
                <a:solidFill>
                  <a:srgbClr val="FF0000"/>
                </a:solidFill>
                <a:cs typeface="B Roya" panose="00000400000000000000" pitchFamily="2" charset="-78"/>
              </a:rPr>
              <a:t>Decision Stump</a:t>
            </a:r>
          </a:p>
        </p:txBody>
      </p:sp>
      <p:sp>
        <p:nvSpPr>
          <p:cNvPr id="8" name="Slide Number Placeholder 7"/>
          <p:cNvSpPr>
            <a:spLocks noGrp="1"/>
          </p:cNvSpPr>
          <p:nvPr>
            <p:ph type="sldNum" sz="quarter" idx="12"/>
          </p:nvPr>
        </p:nvSpPr>
        <p:spPr/>
        <p:txBody>
          <a:bodyPr/>
          <a:lstStyle/>
          <a:p>
            <a:fld id="{8ECB587C-A035-4190-A6F4-DC73ACEFC96D}" type="slidenum">
              <a:rPr lang="en-US" smtClean="0"/>
              <a:t>6</a:t>
            </a:fld>
            <a:endParaRPr lang="en-US"/>
          </a:p>
        </p:txBody>
      </p:sp>
      <p:sp>
        <p:nvSpPr>
          <p:cNvPr id="7" name="Rectangle 6"/>
          <p:cNvSpPr/>
          <p:nvPr/>
        </p:nvSpPr>
        <p:spPr>
          <a:xfrm>
            <a:off x="2505074" y="746276"/>
            <a:ext cx="6096000" cy="1477328"/>
          </a:xfrm>
          <a:prstGeom prst="rect">
            <a:avLst/>
          </a:prstGeom>
        </p:spPr>
        <p:txBody>
          <a:bodyPr>
            <a:spAutoFit/>
          </a:bodyPr>
          <a:lstStyle/>
          <a:p>
            <a:pPr algn="just" rtl="1"/>
            <a:r>
              <a:rPr lang="fa-IR" dirty="0">
                <a:cs typeface="B Roya" panose="00000400000000000000" pitchFamily="2" charset="-78"/>
              </a:rPr>
              <a:t>استامپ تصمیم یک مدل یادگیری ماشینی است که از درخت تصمیم یک سطحی تشکیل شده است. یعنی یک درخت تصمیم با یک گره داخلی (ریشه) است که بلافاصله به گره های پایانی (برگ های آن) متصل می شود. یک استامپ تصمیم بر اساس مقدار تنها یک ویژگی ورودی پیش بینی می کند. گاهی به آنها 1-قواعد نیز گفته می شود.</a:t>
            </a:r>
            <a:endParaRPr lang="en-US" dirty="0">
              <a:cs typeface="B Roya" panose="00000400000000000000" pitchFamily="2" charset="-78"/>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2463262929"/>
              </p:ext>
            </p:extLst>
          </p:nvPr>
        </p:nvGraphicFramePr>
        <p:xfrm>
          <a:off x="2505074" y="2750806"/>
          <a:ext cx="1460500" cy="406400"/>
        </p:xfrm>
        <a:graphic>
          <a:graphicData uri="http://schemas.openxmlformats.org/presentationml/2006/ole">
            <mc:AlternateContent xmlns:mc="http://schemas.openxmlformats.org/markup-compatibility/2006">
              <mc:Choice xmlns:v="urn:schemas-microsoft-com:vml" Requires="v">
                <p:oleObj name="Equation" r:id="rId2" imgW="1460160" imgH="406080" progId="Equation.DSMT4">
                  <p:embed/>
                </p:oleObj>
              </mc:Choice>
              <mc:Fallback>
                <p:oleObj name="Equation" r:id="rId2" imgW="1460160" imgH="406080" progId="Equation.DSMT4">
                  <p:embed/>
                  <p:pic>
                    <p:nvPicPr>
                      <p:cNvPr id="0" name=""/>
                      <p:cNvPicPr/>
                      <p:nvPr/>
                    </p:nvPicPr>
                    <p:blipFill>
                      <a:blip r:embed="rId3"/>
                      <a:stretch>
                        <a:fillRect/>
                      </a:stretch>
                    </p:blipFill>
                    <p:spPr>
                      <a:xfrm>
                        <a:off x="2505074" y="2750806"/>
                        <a:ext cx="1460500" cy="406400"/>
                      </a:xfrm>
                      <a:prstGeom prst="rect">
                        <a:avLst/>
                      </a:prstGeom>
                    </p:spPr>
                  </p:pic>
                </p:oleObj>
              </mc:Fallback>
            </mc:AlternateContent>
          </a:graphicData>
        </a:graphic>
      </p:graphicFrame>
      <p:pic>
        <p:nvPicPr>
          <p:cNvPr id="8196" name="Picture 4" descr="https://upload.wikimedia.org/wikipedia/commons/thumb/c/cf/Decision_stump.svg/250px-Decision_stump.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5074" y="4114003"/>
            <a:ext cx="2381250" cy="85725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2505074" y="3486151"/>
            <a:ext cx="6096000" cy="646331"/>
          </a:xfrm>
          <a:prstGeom prst="rect">
            <a:avLst/>
          </a:prstGeom>
        </p:spPr>
        <p:txBody>
          <a:bodyPr wrap="square">
            <a:spAutoFit/>
          </a:bodyPr>
          <a:lstStyle/>
          <a:p>
            <a:pPr algn="just" rtl="1"/>
            <a:r>
              <a:rPr lang="fa-IR" dirty="0">
                <a:cs typeface="B Roya" panose="00000400000000000000" pitchFamily="2" charset="-78"/>
              </a:rPr>
              <a:t>نمونه ای از یک استامپ تصمیم که بین دو تا از سه کلاس مجموعه داده گل زنبق تمایز قائل می شود:</a:t>
            </a:r>
            <a:r>
              <a:rPr lang="en-US" dirty="0">
                <a:cs typeface="B Roya" panose="00000400000000000000" pitchFamily="2" charset="-78"/>
              </a:rPr>
              <a:t>Iris </a:t>
            </a:r>
            <a:r>
              <a:rPr lang="en-US" dirty="0" err="1">
                <a:cs typeface="B Roya" panose="00000400000000000000" pitchFamily="2" charset="-78"/>
              </a:rPr>
              <a:t>versicolor</a:t>
            </a:r>
            <a:r>
              <a:rPr lang="en-US" dirty="0">
                <a:cs typeface="B Roya" panose="00000400000000000000" pitchFamily="2" charset="-78"/>
              </a:rPr>
              <a:t> </a:t>
            </a:r>
            <a:r>
              <a:rPr lang="fa-IR" dirty="0">
                <a:cs typeface="B Roya" panose="00000400000000000000" pitchFamily="2" charset="-78"/>
              </a:rPr>
              <a:t> و </a:t>
            </a:r>
            <a:r>
              <a:rPr lang="en-US" dirty="0">
                <a:cs typeface="B Roya" panose="00000400000000000000" pitchFamily="2" charset="-78"/>
              </a:rPr>
              <a:t>Iris </a:t>
            </a:r>
            <a:r>
              <a:rPr lang="en-US" dirty="0" err="1">
                <a:cs typeface="B Roya" panose="00000400000000000000" pitchFamily="2" charset="-78"/>
              </a:rPr>
              <a:t>virginica</a:t>
            </a:r>
            <a:r>
              <a:rPr lang="fa-IR" dirty="0">
                <a:cs typeface="B Roya" panose="00000400000000000000" pitchFamily="2" charset="-78"/>
              </a:rPr>
              <a:t>.</a:t>
            </a:r>
            <a:endParaRPr lang="en-US" dirty="0">
              <a:cs typeface="B Roya" panose="00000400000000000000" pitchFamily="2" charset="-78"/>
            </a:endParaRPr>
          </a:p>
        </p:txBody>
      </p:sp>
    </p:spTree>
    <p:extLst>
      <p:ext uri="{BB962C8B-B14F-4D97-AF65-F5344CB8AC3E}">
        <p14:creationId xmlns:p14="http://schemas.microsoft.com/office/powerpoint/2010/main" val="669775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3553232" y="1292871"/>
            <a:ext cx="5420074" cy="369332"/>
          </a:xfrm>
          <a:prstGeom prst="rect">
            <a:avLst/>
          </a:prstGeom>
        </p:spPr>
        <p:txBody>
          <a:bodyPr wrap="none">
            <a:spAutoFit/>
          </a:bodyPr>
          <a:lstStyle/>
          <a:p>
            <a:pPr algn="just" rtl="1"/>
            <a:r>
              <a:rPr lang="fa-IR" dirty="0">
                <a:latin typeface="Vazirmatn Light" pitchFamily="2" charset="-78"/>
                <a:ea typeface="Calibri" panose="020F0502020204030204" pitchFamily="34" charset="0"/>
                <a:cs typeface="B Roya" panose="00000400000000000000" pitchFamily="2" charset="-78"/>
              </a:rPr>
              <a:t>سه دوست داریم: ترزا راست‌گو، اومبرت غیرقابل‌پیش‌بینی، و لنی دروغ‌گو</a:t>
            </a:r>
            <a:endParaRPr lang="en-US" dirty="0"/>
          </a:p>
        </p:txBody>
      </p:sp>
      <p:sp>
        <p:nvSpPr>
          <p:cNvPr id="3" name="Rectangle 2"/>
          <p:cNvSpPr/>
          <p:nvPr/>
        </p:nvSpPr>
        <p:spPr>
          <a:xfrm>
            <a:off x="5512102" y="1830021"/>
            <a:ext cx="3461204" cy="369332"/>
          </a:xfrm>
          <a:prstGeom prst="rect">
            <a:avLst/>
          </a:prstGeom>
        </p:spPr>
        <p:txBody>
          <a:bodyPr wrap="none">
            <a:spAutoFit/>
          </a:bodyPr>
          <a:lstStyle/>
          <a:p>
            <a:pPr algn="just" rtl="1"/>
            <a:r>
              <a:rPr lang="fa-IR" dirty="0">
                <a:latin typeface="Vazirmatn Light" pitchFamily="2" charset="-78"/>
                <a:ea typeface="Calibri" panose="020F0502020204030204" pitchFamily="34" charset="0"/>
                <a:cs typeface="B Roya" panose="00000400000000000000" pitchFamily="2" charset="-78"/>
              </a:rPr>
              <a:t>ترزا راست‌گو تقریباً همیشه حقیقت را می‌گوید</a:t>
            </a:r>
            <a:endParaRPr lang="en-US" dirty="0"/>
          </a:p>
        </p:txBody>
      </p:sp>
      <p:sp>
        <p:nvSpPr>
          <p:cNvPr id="4" name="Rectangle 3"/>
          <p:cNvSpPr/>
          <p:nvPr/>
        </p:nvSpPr>
        <p:spPr>
          <a:xfrm>
            <a:off x="2877306" y="2367171"/>
            <a:ext cx="6096000" cy="646331"/>
          </a:xfrm>
          <a:prstGeom prst="rect">
            <a:avLst/>
          </a:prstGeom>
        </p:spPr>
        <p:txBody>
          <a:bodyPr>
            <a:spAutoFit/>
          </a:bodyPr>
          <a:lstStyle/>
          <a:p>
            <a:pPr algn="just" rtl="1"/>
            <a:r>
              <a:rPr lang="fa-IR" dirty="0">
                <a:latin typeface="Vazirmatn Light" pitchFamily="2" charset="-78"/>
                <a:ea typeface="Calibri" panose="020F0502020204030204" pitchFamily="34" charset="0"/>
                <a:cs typeface="B Roya" panose="00000400000000000000" pitchFamily="2" charset="-78"/>
              </a:rPr>
              <a:t>اومبرت غیرقابل‌پیش‌بینی حقیقت را تقریباً نیمی از زمان می‌گوید و نیمه دیگر پنهان می‌کند</a:t>
            </a:r>
            <a:endParaRPr lang="en-US" dirty="0"/>
          </a:p>
        </p:txBody>
      </p:sp>
      <p:sp>
        <p:nvSpPr>
          <p:cNvPr id="5" name="Rectangle 4"/>
          <p:cNvSpPr/>
          <p:nvPr/>
        </p:nvSpPr>
        <p:spPr>
          <a:xfrm>
            <a:off x="2464102" y="3718470"/>
            <a:ext cx="6096000" cy="923330"/>
          </a:xfrm>
          <a:prstGeom prst="rect">
            <a:avLst/>
          </a:prstGeom>
        </p:spPr>
        <p:txBody>
          <a:bodyPr>
            <a:spAutoFit/>
          </a:bodyPr>
          <a:lstStyle/>
          <a:p>
            <a:pPr marL="285750" indent="-285750" algn="just" rtl="1">
              <a:buFont typeface="Arial" panose="020B0604020202020204" pitchFamily="34" charset="0"/>
              <a:buChar char="•"/>
            </a:pPr>
            <a:r>
              <a:rPr lang="fa-IR" dirty="0">
                <a:ea typeface="Calibri" panose="020F0502020204030204" pitchFamily="34" charset="0"/>
                <a:cs typeface="B Roya" panose="00000400000000000000" pitchFamily="2" charset="-78"/>
              </a:rPr>
              <a:t>ترزا راست‌گو نمره مثبت بالا</a:t>
            </a:r>
          </a:p>
          <a:p>
            <a:pPr marL="285750" indent="-285750" algn="just" rtl="1">
              <a:buFont typeface="Arial" panose="020B0604020202020204" pitchFamily="34" charset="0"/>
              <a:buChar char="•"/>
            </a:pPr>
            <a:r>
              <a:rPr lang="fa-IR" dirty="0">
                <a:ea typeface="Calibri" panose="020F0502020204030204" pitchFamily="34" charset="0"/>
                <a:cs typeface="B Roya" panose="00000400000000000000" pitchFamily="2" charset="-78"/>
              </a:rPr>
              <a:t>لنی دروغ‌گو نمره منفی بالا</a:t>
            </a:r>
          </a:p>
          <a:p>
            <a:pPr marL="285750" indent="-285750" algn="just" rtl="1">
              <a:buFont typeface="Arial" panose="020B0604020202020204" pitchFamily="34" charset="0"/>
              <a:buChar char="•"/>
            </a:pPr>
            <a:r>
              <a:rPr lang="fa-IR" dirty="0">
                <a:ea typeface="Calibri" panose="020F0502020204030204" pitchFamily="34" charset="0"/>
                <a:cs typeface="B Roya" panose="00000400000000000000" pitchFamily="2" charset="-78"/>
              </a:rPr>
              <a:t>اومبرت غیرقابل‌پیش‌بینی نمره صفر</a:t>
            </a:r>
            <a:endParaRPr lang="en-US" dirty="0">
              <a:cs typeface="B Roya" panose="00000400000000000000" pitchFamily="2" charset="-78"/>
            </a:endParaRPr>
          </a:p>
        </p:txBody>
      </p:sp>
      <p:sp>
        <p:nvSpPr>
          <p:cNvPr id="6" name="Rectangle 5"/>
          <p:cNvSpPr/>
          <p:nvPr/>
        </p:nvSpPr>
        <p:spPr>
          <a:xfrm>
            <a:off x="5895219" y="3181320"/>
            <a:ext cx="3078087" cy="369332"/>
          </a:xfrm>
          <a:prstGeom prst="rect">
            <a:avLst/>
          </a:prstGeom>
        </p:spPr>
        <p:txBody>
          <a:bodyPr wrap="none">
            <a:spAutoFit/>
          </a:bodyPr>
          <a:lstStyle/>
          <a:p>
            <a:r>
              <a:rPr lang="fa-IR" dirty="0">
                <a:latin typeface="Vazirmatn Light" pitchFamily="2" charset="-78"/>
                <a:ea typeface="Calibri" panose="020F0502020204030204" pitchFamily="34" charset="0"/>
                <a:cs typeface="B Roya" panose="00000400000000000000" pitchFamily="2" charset="-78"/>
              </a:rPr>
              <a:t>لنی دروغ‌گو تقریباً همیشه دروغ می‌گوید</a:t>
            </a:r>
            <a:endParaRPr lang="en-US" dirty="0"/>
          </a:p>
        </p:txBody>
      </p:sp>
      <p:sp>
        <p:nvSpPr>
          <p:cNvPr id="10" name="Rectangle 9"/>
          <p:cNvSpPr/>
          <p:nvPr/>
        </p:nvSpPr>
        <p:spPr>
          <a:xfrm>
            <a:off x="5261071" y="218571"/>
            <a:ext cx="502061" cy="369332"/>
          </a:xfrm>
          <a:prstGeom prst="rect">
            <a:avLst/>
          </a:prstGeom>
        </p:spPr>
        <p:txBody>
          <a:bodyPr wrap="none">
            <a:spAutoFit/>
          </a:bodyPr>
          <a:lstStyle/>
          <a:p>
            <a:pPr algn="just" rtl="1"/>
            <a:r>
              <a:rPr lang="fa-IR" dirty="0">
                <a:solidFill>
                  <a:srgbClr val="FF0000"/>
                </a:solidFill>
                <a:cs typeface="B Roya" panose="00000400000000000000" pitchFamily="2" charset="-78"/>
              </a:rPr>
              <a:t>مثال</a:t>
            </a:r>
            <a:endParaRPr lang="en-US" dirty="0">
              <a:solidFill>
                <a:srgbClr val="FF0000"/>
              </a:solidFill>
              <a:cs typeface="B Roya" panose="00000400000000000000" pitchFamily="2" charset="-78"/>
            </a:endParaRPr>
          </a:p>
        </p:txBody>
      </p:sp>
      <p:sp>
        <p:nvSpPr>
          <p:cNvPr id="8" name="Slide Number Placeholder 7"/>
          <p:cNvSpPr>
            <a:spLocks noGrp="1"/>
          </p:cNvSpPr>
          <p:nvPr>
            <p:ph type="sldNum" sz="quarter" idx="12"/>
          </p:nvPr>
        </p:nvSpPr>
        <p:spPr/>
        <p:txBody>
          <a:bodyPr/>
          <a:lstStyle/>
          <a:p>
            <a:fld id="{8ECB587C-A035-4190-A6F4-DC73ACEFC96D}" type="slidenum">
              <a:rPr lang="en-US" smtClean="0"/>
              <a:t>7</a:t>
            </a:fld>
            <a:endParaRPr lang="en-US"/>
          </a:p>
        </p:txBody>
      </p:sp>
    </p:spTree>
    <p:extLst>
      <p:ext uri="{BB962C8B-B14F-4D97-AF65-F5344CB8AC3E}">
        <p14:creationId xmlns:p14="http://schemas.microsoft.com/office/powerpoint/2010/main" val="1666754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5207110" y="2827306"/>
            <a:ext cx="2292295" cy="1377816"/>
          </a:xfrm>
          <a:prstGeom prst="rect">
            <a:avLst/>
          </a:prstGeom>
          <a:ln>
            <a:solidFill>
              <a:schemeClr val="tx1"/>
            </a:solidFill>
          </a:ln>
        </p:spPr>
      </p:pic>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99" name="Group 898"/>
          <p:cNvGrpSpPr/>
          <p:nvPr/>
        </p:nvGrpSpPr>
        <p:grpSpPr>
          <a:xfrm>
            <a:off x="918772" y="954241"/>
            <a:ext cx="3858602" cy="1456055"/>
            <a:chOff x="914400" y="982936"/>
            <a:chExt cx="3858602" cy="1456055"/>
          </a:xfrm>
        </p:grpSpPr>
        <p:sp>
          <p:nvSpPr>
            <p:cNvPr id="599" name="Right Arrow 598"/>
            <p:cNvSpPr/>
            <p:nvPr/>
          </p:nvSpPr>
          <p:spPr>
            <a:xfrm>
              <a:off x="2613025" y="1596663"/>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77" name="Group 76"/>
            <p:cNvGrpSpPr/>
            <p:nvPr/>
          </p:nvGrpSpPr>
          <p:grpSpPr>
            <a:xfrm>
              <a:off x="3381533" y="1058632"/>
              <a:ext cx="408940" cy="919480"/>
              <a:chOff x="3298825" y="932180"/>
              <a:chExt cx="408940" cy="919480"/>
            </a:xfrm>
          </p:grpSpPr>
          <p:cxnSp>
            <p:nvCxnSpPr>
              <p:cNvPr id="645" name="Straight Arrow Connector 644"/>
              <p:cNvCxnSpPr/>
              <p:nvPr/>
            </p:nvCxnSpPr>
            <p:spPr>
              <a:xfrm>
                <a:off x="3512512" y="1162819"/>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6" name="Straight Arrow Connector 645"/>
              <p:cNvCxnSpPr/>
              <p:nvPr/>
            </p:nvCxnSpPr>
            <p:spPr>
              <a:xfrm flipH="1">
                <a:off x="3313462" y="1160780"/>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7" name="Text Box 104"/>
              <p:cNvSpPr txBox="1"/>
              <p:nvPr/>
            </p:nvSpPr>
            <p:spPr>
              <a:xfrm>
                <a:off x="3298825" y="937260"/>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648" name="Text Box 105"/>
              <p:cNvSpPr txBox="1"/>
              <p:nvPr/>
            </p:nvSpPr>
            <p:spPr>
              <a:xfrm>
                <a:off x="3475355" y="932180"/>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652" name="Rectangle 651"/>
            <p:cNvSpPr/>
            <p:nvPr/>
          </p:nvSpPr>
          <p:spPr>
            <a:xfrm>
              <a:off x="3278768" y="1021030"/>
              <a:ext cx="306473" cy="1373771"/>
            </a:xfrm>
            <a:prstGeom prst="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53" name="Rectangle 652"/>
            <p:cNvSpPr/>
            <p:nvPr/>
          </p:nvSpPr>
          <p:spPr>
            <a:xfrm>
              <a:off x="3585001" y="1021965"/>
              <a:ext cx="1126848" cy="1372021"/>
            </a:xfrm>
            <a:prstGeom prst="rect">
              <a:avLst/>
            </a:prstGeom>
            <a:solidFill>
              <a:srgbClr val="FF0000">
                <a:alpha val="20000"/>
              </a:srgbClr>
            </a:solidFill>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790" name="Group 789"/>
            <p:cNvGrpSpPr/>
            <p:nvPr/>
          </p:nvGrpSpPr>
          <p:grpSpPr>
            <a:xfrm>
              <a:off x="914400" y="982936"/>
              <a:ext cx="1499870" cy="1456055"/>
              <a:chOff x="914400" y="970280"/>
              <a:chExt cx="1499870" cy="1456055"/>
            </a:xfrm>
          </p:grpSpPr>
          <p:sp>
            <p:nvSpPr>
              <p:cNvPr id="791" name="Rectangle 790"/>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2" name="Plus 791"/>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3" name="Minus 792"/>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4"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795"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796"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797"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798"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799"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00"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01"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02"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03"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04" name="Plus 803"/>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5" name="Plus 804"/>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6" name="Plus 805"/>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7" name="Plus 806"/>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8" name="Minus 807"/>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9" name="Minus 808"/>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0" name="Minus 809"/>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1" name="Minus 810"/>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12" name="Group 811"/>
            <p:cNvGrpSpPr/>
            <p:nvPr/>
          </p:nvGrpSpPr>
          <p:grpSpPr>
            <a:xfrm>
              <a:off x="3273132" y="982936"/>
              <a:ext cx="1499870" cy="1456055"/>
              <a:chOff x="914400" y="970280"/>
              <a:chExt cx="1499870" cy="1456055"/>
            </a:xfrm>
          </p:grpSpPr>
          <p:sp>
            <p:nvSpPr>
              <p:cNvPr id="813" name="Rectangle 812"/>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4" name="Plus 813"/>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5" name="Minus 814"/>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6"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817"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818"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819"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820"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821"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22"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23"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24"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25"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26" name="Plus 825"/>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7" name="Plus 826"/>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8" name="Plus 827"/>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9" name="Plus 828"/>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0" name="Minus 829"/>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1" name="Minus 830"/>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2" name="Minus 831"/>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3" name="Minus 832"/>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856" name="Oval 855"/>
            <p:cNvSpPr/>
            <p:nvPr/>
          </p:nvSpPr>
          <p:spPr>
            <a:xfrm>
              <a:off x="4272933" y="134733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7" name="Oval 856"/>
            <p:cNvSpPr/>
            <p:nvPr/>
          </p:nvSpPr>
          <p:spPr>
            <a:xfrm>
              <a:off x="3941564" y="1253507"/>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8" name="Oval 857"/>
            <p:cNvSpPr/>
            <p:nvPr/>
          </p:nvSpPr>
          <p:spPr>
            <a:xfrm>
              <a:off x="4111062" y="1164720"/>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98" name="Group 897"/>
          <p:cNvGrpSpPr/>
          <p:nvPr/>
        </p:nvGrpSpPr>
        <p:grpSpPr>
          <a:xfrm>
            <a:off x="910824" y="2791170"/>
            <a:ext cx="3857986" cy="1461321"/>
            <a:chOff x="910824" y="2793453"/>
            <a:chExt cx="3857986" cy="1461321"/>
          </a:xfrm>
        </p:grpSpPr>
        <p:grpSp>
          <p:nvGrpSpPr>
            <p:cNvPr id="72" name="Group 71"/>
            <p:cNvGrpSpPr/>
            <p:nvPr/>
          </p:nvGrpSpPr>
          <p:grpSpPr>
            <a:xfrm>
              <a:off x="910824" y="2798719"/>
              <a:ext cx="1499870" cy="1456055"/>
              <a:chOff x="914400" y="970280"/>
              <a:chExt cx="1499870" cy="1456055"/>
            </a:xfrm>
          </p:grpSpPr>
          <p:sp>
            <p:nvSpPr>
              <p:cNvPr id="601" name="Rectangle 600"/>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02" name="Plus 601"/>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03" name="Minus 602"/>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04"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605"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606"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607"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608"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609"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610"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611"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612"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613"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614" name="Plus 613"/>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5" name="Plus 614"/>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6" name="Plus 615"/>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7" name="Plus 616"/>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8" name="Minus 617"/>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9" name="Minus 618"/>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20" name="Minus 619"/>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21" name="Minus 620"/>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655" name="Right Arrow 654"/>
            <p:cNvSpPr/>
            <p:nvPr/>
          </p:nvSpPr>
          <p:spPr>
            <a:xfrm>
              <a:off x="2597150" y="3412446"/>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08" name="Rectangle 707"/>
            <p:cNvSpPr/>
            <p:nvPr/>
          </p:nvSpPr>
          <p:spPr>
            <a:xfrm>
              <a:off x="3264121" y="2836847"/>
              <a:ext cx="1173261" cy="1370559"/>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p:cNvSpPr/>
            <p:nvPr/>
          </p:nvSpPr>
          <p:spPr>
            <a:xfrm>
              <a:off x="4437865" y="2836846"/>
              <a:ext cx="273162" cy="1370559"/>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34" name="Group 833"/>
            <p:cNvGrpSpPr/>
            <p:nvPr/>
          </p:nvGrpSpPr>
          <p:grpSpPr>
            <a:xfrm>
              <a:off x="3268940" y="2798719"/>
              <a:ext cx="1499870" cy="1456055"/>
              <a:chOff x="914400" y="970280"/>
              <a:chExt cx="1499870" cy="1456055"/>
            </a:xfrm>
          </p:grpSpPr>
          <p:sp>
            <p:nvSpPr>
              <p:cNvPr id="835" name="Rectangle 834"/>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6" name="Plus 835"/>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7" name="Minus 836"/>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8"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839"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840"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841"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842"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843"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44"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45"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46"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47"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48" name="Plus 847"/>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49" name="Plus 848"/>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0" name="Plus 849"/>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1" name="Plus 850"/>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2" name="Minus 851"/>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3" name="Minus 852"/>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4" name="Minus 853"/>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5" name="Minus 854"/>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859" name="Oval 858"/>
            <p:cNvSpPr/>
            <p:nvPr/>
          </p:nvSpPr>
          <p:spPr>
            <a:xfrm>
              <a:off x="3599462" y="398160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0" name="Oval 859"/>
            <p:cNvSpPr/>
            <p:nvPr/>
          </p:nvSpPr>
          <p:spPr>
            <a:xfrm>
              <a:off x="3583579" y="33003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1" name="Oval 860"/>
            <p:cNvSpPr/>
            <p:nvPr/>
          </p:nvSpPr>
          <p:spPr>
            <a:xfrm>
              <a:off x="3887080" y="3378154"/>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866" name="Group 865"/>
            <p:cNvGrpSpPr/>
            <p:nvPr/>
          </p:nvGrpSpPr>
          <p:grpSpPr>
            <a:xfrm>
              <a:off x="4237881" y="2793453"/>
              <a:ext cx="408940" cy="919480"/>
              <a:chOff x="3533933" y="1211032"/>
              <a:chExt cx="408940" cy="919480"/>
            </a:xfrm>
          </p:grpSpPr>
          <p:cxnSp>
            <p:nvCxnSpPr>
              <p:cNvPr id="862" name="Straight Arrow Connector 861"/>
              <p:cNvCxnSpPr/>
              <p:nvPr/>
            </p:nvCxnSpPr>
            <p:spPr>
              <a:xfrm>
                <a:off x="3739382"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3" name="Straight Arrow Connector 862"/>
              <p:cNvCxnSpPr/>
              <p:nvPr/>
            </p:nvCxnSpPr>
            <p:spPr>
              <a:xfrm flipH="1">
                <a:off x="3548570"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4"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865"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grpSp>
      <p:grpSp>
        <p:nvGrpSpPr>
          <p:cNvPr id="897" name="Group 896"/>
          <p:cNvGrpSpPr/>
          <p:nvPr/>
        </p:nvGrpSpPr>
        <p:grpSpPr>
          <a:xfrm>
            <a:off x="910824" y="4605223"/>
            <a:ext cx="3853167" cy="1456055"/>
            <a:chOff x="910824" y="4605223"/>
            <a:chExt cx="3853167" cy="1456055"/>
          </a:xfrm>
        </p:grpSpPr>
        <p:sp>
          <p:nvSpPr>
            <p:cNvPr id="711" name="Right Arrow 710"/>
            <p:cNvSpPr/>
            <p:nvPr/>
          </p:nvSpPr>
          <p:spPr>
            <a:xfrm>
              <a:off x="2597078" y="5218950"/>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66" name="Rectangle 765"/>
            <p:cNvSpPr/>
            <p:nvPr/>
          </p:nvSpPr>
          <p:spPr>
            <a:xfrm>
              <a:off x="3264121" y="4649838"/>
              <a:ext cx="1438717" cy="515584"/>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p:cNvSpPr/>
            <p:nvPr/>
          </p:nvSpPr>
          <p:spPr>
            <a:xfrm>
              <a:off x="3264121" y="5165126"/>
              <a:ext cx="1438717" cy="85275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8" name="Group 767"/>
            <p:cNvGrpSpPr/>
            <p:nvPr/>
          </p:nvGrpSpPr>
          <p:grpSpPr>
            <a:xfrm>
              <a:off x="910824" y="4605223"/>
              <a:ext cx="1499870" cy="1456055"/>
              <a:chOff x="914400" y="970280"/>
              <a:chExt cx="1499870" cy="1456055"/>
            </a:xfrm>
          </p:grpSpPr>
          <p:sp>
            <p:nvSpPr>
              <p:cNvPr id="769" name="Rectangle 768"/>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0" name="Plus 769"/>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1" name="Minus 770"/>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2"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773"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774"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775"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776"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777"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778"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779"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780"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781"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782" name="Plus 781"/>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3" name="Plus 782"/>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4" name="Plus 783"/>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5" name="Plus 784"/>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6" name="Minus 785"/>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7" name="Minus 786"/>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8" name="Minus 787"/>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9" name="Minus 788"/>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67" name="Group 866"/>
            <p:cNvGrpSpPr/>
            <p:nvPr/>
          </p:nvGrpSpPr>
          <p:grpSpPr>
            <a:xfrm>
              <a:off x="3264121" y="4605223"/>
              <a:ext cx="1499870" cy="1456055"/>
              <a:chOff x="914400" y="970280"/>
              <a:chExt cx="1499870" cy="1456055"/>
            </a:xfrm>
          </p:grpSpPr>
          <p:sp>
            <p:nvSpPr>
              <p:cNvPr id="868" name="Rectangle 867"/>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9" name="Plus 868"/>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70" name="Minus 869"/>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71"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872"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873"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874"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875"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876"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877"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878"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879"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880"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881" name="Plus 880"/>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2" name="Plus 881"/>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3" name="Plus 882"/>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4" name="Plus 883"/>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5" name="Minus 884"/>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6" name="Minus 885"/>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7" name="Minus 886"/>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8" name="Minus 887"/>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89" name="Group 888"/>
            <p:cNvGrpSpPr/>
            <p:nvPr/>
          </p:nvGrpSpPr>
          <p:grpSpPr>
            <a:xfrm rot="5400000">
              <a:off x="3964483" y="4695916"/>
              <a:ext cx="408940" cy="919480"/>
              <a:chOff x="3533933" y="1211032"/>
              <a:chExt cx="408940" cy="919480"/>
            </a:xfrm>
          </p:grpSpPr>
          <p:cxnSp>
            <p:nvCxnSpPr>
              <p:cNvPr id="890" name="Straight Arrow Connector 889"/>
              <p:cNvCxnSpPr/>
              <p:nvPr/>
            </p:nvCxnSpPr>
            <p:spPr>
              <a:xfrm>
                <a:off x="3751739"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1" name="Straight Arrow Connector 890"/>
              <p:cNvCxnSpPr/>
              <p:nvPr/>
            </p:nvCxnSpPr>
            <p:spPr>
              <a:xfrm flipH="1">
                <a:off x="3560927"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2"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893"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894" name="Oval 893"/>
            <p:cNvSpPr/>
            <p:nvPr/>
          </p:nvSpPr>
          <p:spPr>
            <a:xfrm>
              <a:off x="4448988" y="48796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95" name="Oval 894"/>
            <p:cNvSpPr/>
            <p:nvPr/>
          </p:nvSpPr>
          <p:spPr>
            <a:xfrm>
              <a:off x="3411238" y="5664385"/>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96" name="Oval 895"/>
            <p:cNvSpPr/>
            <p:nvPr/>
          </p:nvSpPr>
          <p:spPr>
            <a:xfrm>
              <a:off x="3310873" y="5303533"/>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136" name="Group 1135"/>
          <p:cNvGrpSpPr/>
          <p:nvPr/>
        </p:nvGrpSpPr>
        <p:grpSpPr>
          <a:xfrm>
            <a:off x="7999145" y="2796436"/>
            <a:ext cx="1499870" cy="1456055"/>
            <a:chOff x="6575324" y="3603050"/>
            <a:chExt cx="1499870" cy="1456055"/>
          </a:xfrm>
        </p:grpSpPr>
        <p:sp>
          <p:nvSpPr>
            <p:cNvPr id="1073" name="Rectangle 1072"/>
            <p:cNvSpPr/>
            <p:nvPr/>
          </p:nvSpPr>
          <p:spPr>
            <a:xfrm>
              <a:off x="6887699" y="4168965"/>
              <a:ext cx="853296" cy="845912"/>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p:cNvSpPr/>
            <p:nvPr/>
          </p:nvSpPr>
          <p:spPr>
            <a:xfrm>
              <a:off x="7742474" y="3645328"/>
              <a:ext cx="265332" cy="52197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p:cNvSpPr/>
            <p:nvPr/>
          </p:nvSpPr>
          <p:spPr>
            <a:xfrm>
              <a:off x="7736451" y="4168140"/>
              <a:ext cx="271354" cy="84673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Rectangle 1075"/>
            <p:cNvSpPr/>
            <p:nvPr/>
          </p:nvSpPr>
          <p:spPr>
            <a:xfrm>
              <a:off x="6578694" y="3645328"/>
              <a:ext cx="310077" cy="522812"/>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Rectangle 1076"/>
            <p:cNvSpPr/>
            <p:nvPr/>
          </p:nvSpPr>
          <p:spPr>
            <a:xfrm>
              <a:off x="6889763" y="3646162"/>
              <a:ext cx="850170" cy="522802"/>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p:cNvSpPr/>
            <p:nvPr/>
          </p:nvSpPr>
          <p:spPr>
            <a:xfrm>
              <a:off x="6576153" y="4167635"/>
              <a:ext cx="311546" cy="847242"/>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4" name="Group 1083"/>
            <p:cNvGrpSpPr/>
            <p:nvPr/>
          </p:nvGrpSpPr>
          <p:grpSpPr>
            <a:xfrm>
              <a:off x="6575324" y="3603050"/>
              <a:ext cx="1499870" cy="1456055"/>
              <a:chOff x="914400" y="970280"/>
              <a:chExt cx="1499870" cy="1456055"/>
            </a:xfrm>
          </p:grpSpPr>
          <p:sp>
            <p:nvSpPr>
              <p:cNvPr id="1115" name="Rectangle 1114"/>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6" name="Plus 1115"/>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7" name="Minus 1116"/>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8"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119"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120"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121"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122"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123"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124"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125"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126"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127"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128" name="Plus 1127"/>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9" name="Plus 1128"/>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0" name="Plus 1129"/>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1" name="Plus 1130"/>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2" name="Minus 1131"/>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3" name="Minus 1132"/>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4" name="Minus 1133"/>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5" name="Minus 1134"/>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cxnSp>
        <p:nvCxnSpPr>
          <p:cNvPr id="1141" name="Curved Connector 1140"/>
          <p:cNvCxnSpPr>
            <a:stCxn id="813" idx="2"/>
            <a:endCxn id="601" idx="0"/>
          </p:cNvCxnSpPr>
          <p:nvPr/>
        </p:nvCxnSpPr>
        <p:spPr>
          <a:xfrm rot="5400000">
            <a:off x="2578887" y="1418198"/>
            <a:ext cx="469273" cy="236668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3" name="Curved Connector 1142"/>
          <p:cNvCxnSpPr>
            <a:stCxn id="835" idx="2"/>
            <a:endCxn id="769" idx="0"/>
          </p:cNvCxnSpPr>
          <p:nvPr/>
        </p:nvCxnSpPr>
        <p:spPr>
          <a:xfrm rot="5400000">
            <a:off x="2591309" y="3247971"/>
            <a:ext cx="435865" cy="235811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7" name="Curved Connector 1146"/>
          <p:cNvCxnSpPr>
            <a:stCxn id="868" idx="3"/>
            <a:endCxn id="1115" idx="1"/>
          </p:cNvCxnSpPr>
          <p:nvPr/>
        </p:nvCxnSpPr>
        <p:spPr>
          <a:xfrm flipV="1">
            <a:off x="4702838" y="3522636"/>
            <a:ext cx="3296307" cy="180878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8ECB587C-A035-4190-A6F4-DC73ACEFC96D}" type="slidenum">
              <a:rPr lang="en-US" smtClean="0"/>
              <a:t>8</a:t>
            </a:fld>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4286160575"/>
              </p:ext>
            </p:extLst>
          </p:nvPr>
        </p:nvGraphicFramePr>
        <p:xfrm>
          <a:off x="3513138" y="2409825"/>
          <a:ext cx="1117600" cy="228600"/>
        </p:xfrm>
        <a:graphic>
          <a:graphicData uri="http://schemas.openxmlformats.org/presentationml/2006/ole">
            <mc:AlternateContent xmlns:mc="http://schemas.openxmlformats.org/markup-compatibility/2006">
              <mc:Choice xmlns:v="urn:schemas-microsoft-com:vml" Requires="v">
                <p:oleObj name="Equation" r:id="rId3" imgW="1117440" imgH="228600" progId="Equation.DSMT4">
                  <p:embed/>
                </p:oleObj>
              </mc:Choice>
              <mc:Fallback>
                <p:oleObj name="Equation" r:id="rId3" imgW="1117440" imgH="228600" progId="Equation.DSMT4">
                  <p:embed/>
                  <p:pic>
                    <p:nvPicPr>
                      <p:cNvPr id="0" name=""/>
                      <p:cNvPicPr/>
                      <p:nvPr/>
                    </p:nvPicPr>
                    <p:blipFill>
                      <a:blip r:embed="rId4"/>
                      <a:stretch>
                        <a:fillRect/>
                      </a:stretch>
                    </p:blipFill>
                    <p:spPr>
                      <a:xfrm>
                        <a:off x="3513138" y="2409825"/>
                        <a:ext cx="1117600" cy="228600"/>
                      </a:xfrm>
                      <a:prstGeom prst="rect">
                        <a:avLst/>
                      </a:prstGeom>
                    </p:spPr>
                  </p:pic>
                </p:oleObj>
              </mc:Fallback>
            </mc:AlternateContent>
          </a:graphicData>
        </a:graphic>
      </p:graphicFrame>
      <p:graphicFrame>
        <p:nvGraphicFramePr>
          <p:cNvPr id="209" name="Object 208"/>
          <p:cNvGraphicFramePr>
            <a:graphicFrameLocks noChangeAspect="1"/>
          </p:cNvGraphicFramePr>
          <p:nvPr>
            <p:extLst>
              <p:ext uri="{D42A27DB-BD31-4B8C-83A1-F6EECF244321}">
                <p14:modId xmlns:p14="http://schemas.microsoft.com/office/powerpoint/2010/main" val="244818431"/>
              </p:ext>
            </p:extLst>
          </p:nvPr>
        </p:nvGraphicFramePr>
        <p:xfrm>
          <a:off x="4365625" y="4248150"/>
          <a:ext cx="1143000" cy="228600"/>
        </p:xfrm>
        <a:graphic>
          <a:graphicData uri="http://schemas.openxmlformats.org/presentationml/2006/ole">
            <mc:AlternateContent xmlns:mc="http://schemas.openxmlformats.org/markup-compatibility/2006">
              <mc:Choice xmlns:v="urn:schemas-microsoft-com:vml" Requires="v">
                <p:oleObj name="Equation" r:id="rId5" imgW="1143000" imgH="228600" progId="Equation.DSMT4">
                  <p:embed/>
                </p:oleObj>
              </mc:Choice>
              <mc:Fallback>
                <p:oleObj name="Equation" r:id="rId5" imgW="1143000" imgH="228600" progId="Equation.DSMT4">
                  <p:embed/>
                  <p:pic>
                    <p:nvPicPr>
                      <p:cNvPr id="0" name=""/>
                      <p:cNvPicPr/>
                      <p:nvPr/>
                    </p:nvPicPr>
                    <p:blipFill>
                      <a:blip r:embed="rId6"/>
                      <a:stretch>
                        <a:fillRect/>
                      </a:stretch>
                    </p:blipFill>
                    <p:spPr>
                      <a:xfrm>
                        <a:off x="4365625" y="4248150"/>
                        <a:ext cx="1143000" cy="228600"/>
                      </a:xfrm>
                      <a:prstGeom prst="rect">
                        <a:avLst/>
                      </a:prstGeom>
                    </p:spPr>
                  </p:pic>
                </p:oleObj>
              </mc:Fallback>
            </mc:AlternateContent>
          </a:graphicData>
        </a:graphic>
      </p:graphicFrame>
      <p:graphicFrame>
        <p:nvGraphicFramePr>
          <p:cNvPr id="210" name="Object 209"/>
          <p:cNvGraphicFramePr>
            <a:graphicFrameLocks noChangeAspect="1"/>
          </p:cNvGraphicFramePr>
          <p:nvPr>
            <p:extLst>
              <p:ext uri="{D42A27DB-BD31-4B8C-83A1-F6EECF244321}">
                <p14:modId xmlns:p14="http://schemas.microsoft.com/office/powerpoint/2010/main" val="2809150660"/>
              </p:ext>
            </p:extLst>
          </p:nvPr>
        </p:nvGraphicFramePr>
        <p:xfrm>
          <a:off x="4765675" y="5049838"/>
          <a:ext cx="1155700" cy="228600"/>
        </p:xfrm>
        <a:graphic>
          <a:graphicData uri="http://schemas.openxmlformats.org/presentationml/2006/ole">
            <mc:AlternateContent xmlns:mc="http://schemas.openxmlformats.org/markup-compatibility/2006">
              <mc:Choice xmlns:v="urn:schemas-microsoft-com:vml" Requires="v">
                <p:oleObj name="Equation" r:id="rId7" imgW="1155600" imgH="228600" progId="Equation.DSMT4">
                  <p:embed/>
                </p:oleObj>
              </mc:Choice>
              <mc:Fallback>
                <p:oleObj name="Equation" r:id="rId7" imgW="1155600" imgH="228600" progId="Equation.DSMT4">
                  <p:embed/>
                  <p:pic>
                    <p:nvPicPr>
                      <p:cNvPr id="0" name=""/>
                      <p:cNvPicPr/>
                      <p:nvPr/>
                    </p:nvPicPr>
                    <p:blipFill>
                      <a:blip r:embed="rId8"/>
                      <a:stretch>
                        <a:fillRect/>
                      </a:stretch>
                    </p:blipFill>
                    <p:spPr>
                      <a:xfrm>
                        <a:off x="4765675" y="5049838"/>
                        <a:ext cx="1155700" cy="228600"/>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3209149404"/>
              </p:ext>
            </p:extLst>
          </p:nvPr>
        </p:nvGraphicFramePr>
        <p:xfrm>
          <a:off x="5022850" y="2654300"/>
          <a:ext cx="114300" cy="165100"/>
        </p:xfrm>
        <a:graphic>
          <a:graphicData uri="http://schemas.openxmlformats.org/presentationml/2006/ole">
            <mc:AlternateContent xmlns:mc="http://schemas.openxmlformats.org/markup-compatibility/2006">
              <mc:Choice xmlns:v="urn:schemas-microsoft-com:vml" Requires="v">
                <p:oleObj name="Equation" r:id="rId9" imgW="114120" imgH="164880" progId="Equation.DSMT4">
                  <p:embed/>
                </p:oleObj>
              </mc:Choice>
              <mc:Fallback>
                <p:oleObj name="Equation" r:id="rId9" imgW="114120" imgH="164880" progId="Equation.DSMT4">
                  <p:embed/>
                  <p:pic>
                    <p:nvPicPr>
                      <p:cNvPr id="0" name=""/>
                      <p:cNvPicPr/>
                      <p:nvPr/>
                    </p:nvPicPr>
                    <p:blipFill>
                      <a:blip r:embed="rId10"/>
                      <a:stretch>
                        <a:fillRect/>
                      </a:stretch>
                    </p:blipFill>
                    <p:spPr>
                      <a:xfrm>
                        <a:off x="5022850" y="2654300"/>
                        <a:ext cx="114300" cy="1651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740185602"/>
              </p:ext>
            </p:extLst>
          </p:nvPr>
        </p:nvGraphicFramePr>
        <p:xfrm>
          <a:off x="7999145" y="4447314"/>
          <a:ext cx="3187700" cy="419100"/>
        </p:xfrm>
        <a:graphic>
          <a:graphicData uri="http://schemas.openxmlformats.org/presentationml/2006/ole">
            <mc:AlternateContent xmlns:mc="http://schemas.openxmlformats.org/markup-compatibility/2006">
              <mc:Choice xmlns:v="urn:schemas-microsoft-com:vml" Requires="v">
                <p:oleObj name="Equation" r:id="rId11" imgW="3187440" imgH="419040" progId="Equation.DSMT4">
                  <p:embed/>
                </p:oleObj>
              </mc:Choice>
              <mc:Fallback>
                <p:oleObj name="Equation" r:id="rId11" imgW="3187440" imgH="419040" progId="Equation.DSMT4">
                  <p:embed/>
                  <p:pic>
                    <p:nvPicPr>
                      <p:cNvPr id="0" name=""/>
                      <p:cNvPicPr/>
                      <p:nvPr/>
                    </p:nvPicPr>
                    <p:blipFill>
                      <a:blip r:embed="rId12"/>
                      <a:stretch>
                        <a:fillRect/>
                      </a:stretch>
                    </p:blipFill>
                    <p:spPr>
                      <a:xfrm>
                        <a:off x="7999145" y="4447314"/>
                        <a:ext cx="3187700" cy="4191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037084792"/>
              </p:ext>
            </p:extLst>
          </p:nvPr>
        </p:nvGraphicFramePr>
        <p:xfrm>
          <a:off x="8000820" y="4990659"/>
          <a:ext cx="685800" cy="381000"/>
        </p:xfrm>
        <a:graphic>
          <a:graphicData uri="http://schemas.openxmlformats.org/presentationml/2006/ole">
            <mc:AlternateContent xmlns:mc="http://schemas.openxmlformats.org/markup-compatibility/2006">
              <mc:Choice xmlns:v="urn:schemas-microsoft-com:vml" Requires="v">
                <p:oleObj name="Equation" r:id="rId13" imgW="685800" imgH="380880" progId="Equation.DSMT4">
                  <p:embed/>
                </p:oleObj>
              </mc:Choice>
              <mc:Fallback>
                <p:oleObj name="Equation" r:id="rId13" imgW="685800" imgH="380880" progId="Equation.DSMT4">
                  <p:embed/>
                  <p:pic>
                    <p:nvPicPr>
                      <p:cNvPr id="0" name=""/>
                      <p:cNvPicPr/>
                      <p:nvPr/>
                    </p:nvPicPr>
                    <p:blipFill>
                      <a:blip r:embed="rId14"/>
                      <a:stretch>
                        <a:fillRect/>
                      </a:stretch>
                    </p:blipFill>
                    <p:spPr>
                      <a:xfrm>
                        <a:off x="8000820" y="4990659"/>
                        <a:ext cx="685800" cy="381000"/>
                      </a:xfrm>
                      <a:prstGeom prst="rect">
                        <a:avLst/>
                      </a:prstGeom>
                    </p:spPr>
                  </p:pic>
                </p:oleObj>
              </mc:Fallback>
            </mc:AlternateContent>
          </a:graphicData>
        </a:graphic>
      </p:graphicFrame>
      <p:graphicFrame>
        <p:nvGraphicFramePr>
          <p:cNvPr id="217" name="Object 216"/>
          <p:cNvGraphicFramePr>
            <a:graphicFrameLocks noChangeAspect="1"/>
          </p:cNvGraphicFramePr>
          <p:nvPr>
            <p:extLst>
              <p:ext uri="{D42A27DB-BD31-4B8C-83A1-F6EECF244321}">
                <p14:modId xmlns:p14="http://schemas.microsoft.com/office/powerpoint/2010/main" val="3068532606"/>
              </p:ext>
            </p:extLst>
          </p:nvPr>
        </p:nvGraphicFramePr>
        <p:xfrm>
          <a:off x="7999145" y="5492533"/>
          <a:ext cx="3556000" cy="254000"/>
        </p:xfrm>
        <a:graphic>
          <a:graphicData uri="http://schemas.openxmlformats.org/presentationml/2006/ole">
            <mc:AlternateContent xmlns:mc="http://schemas.openxmlformats.org/markup-compatibility/2006">
              <mc:Choice xmlns:v="urn:schemas-microsoft-com:vml" Requires="v">
                <p:oleObj name="Equation" r:id="rId15" imgW="3555720" imgH="253800" progId="Equation.DSMT4">
                  <p:embed/>
                </p:oleObj>
              </mc:Choice>
              <mc:Fallback>
                <p:oleObj name="Equation" r:id="rId15" imgW="3555720" imgH="253800" progId="Equation.DSMT4">
                  <p:embed/>
                  <p:pic>
                    <p:nvPicPr>
                      <p:cNvPr id="0" name=""/>
                      <p:cNvPicPr/>
                      <p:nvPr/>
                    </p:nvPicPr>
                    <p:blipFill>
                      <a:blip r:embed="rId16"/>
                      <a:stretch>
                        <a:fillRect/>
                      </a:stretch>
                    </p:blipFill>
                    <p:spPr>
                      <a:xfrm>
                        <a:off x="7999145" y="5492533"/>
                        <a:ext cx="3556000" cy="254000"/>
                      </a:xfrm>
                      <a:prstGeom prst="rect">
                        <a:avLst/>
                      </a:prstGeom>
                    </p:spPr>
                  </p:pic>
                </p:oleObj>
              </mc:Fallback>
            </mc:AlternateContent>
          </a:graphicData>
        </a:graphic>
      </p:graphicFrame>
      <p:pic>
        <p:nvPicPr>
          <p:cNvPr id="9" name="Picture 8"/>
          <p:cNvPicPr>
            <a:picLocks noChangeAspect="1"/>
          </p:cNvPicPr>
          <p:nvPr/>
        </p:nvPicPr>
        <p:blipFill>
          <a:blip r:embed="rId17"/>
          <a:stretch>
            <a:fillRect/>
          </a:stretch>
        </p:blipFill>
        <p:spPr>
          <a:xfrm>
            <a:off x="5203028" y="1003635"/>
            <a:ext cx="2292295" cy="1377816"/>
          </a:xfrm>
          <a:prstGeom prst="rect">
            <a:avLst/>
          </a:prstGeom>
          <a:ln>
            <a:solidFill>
              <a:schemeClr val="tx1"/>
            </a:solidFill>
          </a:ln>
        </p:spPr>
      </p:pic>
    </p:spTree>
    <p:extLst>
      <p:ext uri="{BB962C8B-B14F-4D97-AF65-F5344CB8AC3E}">
        <p14:creationId xmlns:p14="http://schemas.microsoft.com/office/powerpoint/2010/main" val="8154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Slide Number Placeholder 1"/>
          <p:cNvSpPr>
            <a:spLocks noGrp="1"/>
          </p:cNvSpPr>
          <p:nvPr>
            <p:ph type="sldNum" sz="quarter" idx="12"/>
          </p:nvPr>
        </p:nvSpPr>
        <p:spPr/>
        <p:txBody>
          <a:bodyPr/>
          <a:lstStyle/>
          <a:p>
            <a:fld id="{8ECB587C-A035-4190-A6F4-DC73ACEFC96D}" type="slidenum">
              <a:rPr lang="en-US" smtClean="0"/>
              <a:t>9</a:t>
            </a:fld>
            <a:endParaRPr lang="en-US"/>
          </a:p>
        </p:txBody>
      </p:sp>
      <p:pic>
        <p:nvPicPr>
          <p:cNvPr id="3" name="Picture 2"/>
          <p:cNvPicPr>
            <a:picLocks noChangeAspect="1"/>
          </p:cNvPicPr>
          <p:nvPr/>
        </p:nvPicPr>
        <p:blipFill>
          <a:blip r:embed="rId2"/>
          <a:stretch>
            <a:fillRect/>
          </a:stretch>
        </p:blipFill>
        <p:spPr>
          <a:xfrm>
            <a:off x="3930650" y="1546439"/>
            <a:ext cx="4330700" cy="3765121"/>
          </a:xfrm>
          <a:prstGeom prst="rect">
            <a:avLst/>
          </a:prstGeom>
        </p:spPr>
      </p:pic>
      <p:graphicFrame>
        <p:nvGraphicFramePr>
          <p:cNvPr id="4" name="Object 3"/>
          <p:cNvGraphicFramePr>
            <a:graphicFrameLocks noChangeAspect="1"/>
          </p:cNvGraphicFramePr>
          <p:nvPr>
            <p:extLst>
              <p:ext uri="{D42A27DB-BD31-4B8C-83A1-F6EECF244321}">
                <p14:modId xmlns:p14="http://schemas.microsoft.com/office/powerpoint/2010/main" val="4119785768"/>
              </p:ext>
            </p:extLst>
          </p:nvPr>
        </p:nvGraphicFramePr>
        <p:xfrm>
          <a:off x="2406650" y="2984499"/>
          <a:ext cx="965200" cy="444500"/>
        </p:xfrm>
        <a:graphic>
          <a:graphicData uri="http://schemas.openxmlformats.org/presentationml/2006/ole">
            <mc:AlternateContent xmlns:mc="http://schemas.openxmlformats.org/markup-compatibility/2006">
              <mc:Choice xmlns:v="urn:schemas-microsoft-com:vml" Requires="v">
                <p:oleObj name="Equation" r:id="rId3" imgW="965160" imgH="444240" progId="Equation.DSMT4">
                  <p:embed/>
                </p:oleObj>
              </mc:Choice>
              <mc:Fallback>
                <p:oleObj name="Equation" r:id="rId3" imgW="965160" imgH="444240" progId="Equation.DSMT4">
                  <p:embed/>
                  <p:pic>
                    <p:nvPicPr>
                      <p:cNvPr id="0" name=""/>
                      <p:cNvPicPr/>
                      <p:nvPr/>
                    </p:nvPicPr>
                    <p:blipFill>
                      <a:blip r:embed="rId4"/>
                      <a:stretch>
                        <a:fillRect/>
                      </a:stretch>
                    </p:blipFill>
                    <p:spPr>
                      <a:xfrm>
                        <a:off x="2406650" y="2984499"/>
                        <a:ext cx="965200" cy="444500"/>
                      </a:xfrm>
                      <a:prstGeom prst="rect">
                        <a:avLst/>
                      </a:prstGeom>
                    </p:spPr>
                  </p:pic>
                </p:oleObj>
              </mc:Fallback>
            </mc:AlternateContent>
          </a:graphicData>
        </a:graphic>
      </p:graphicFrame>
      <p:sp>
        <p:nvSpPr>
          <p:cNvPr id="87" name="Rectangle 86"/>
          <p:cNvSpPr/>
          <p:nvPr/>
        </p:nvSpPr>
        <p:spPr>
          <a:xfrm>
            <a:off x="5227012" y="457200"/>
            <a:ext cx="1737976" cy="369332"/>
          </a:xfrm>
          <a:prstGeom prst="rect">
            <a:avLst/>
          </a:prstGeom>
        </p:spPr>
        <p:txBody>
          <a:bodyPr wrap="none">
            <a:spAutoFit/>
          </a:bodyPr>
          <a:lstStyle/>
          <a:p>
            <a:pPr algn="just" rtl="1"/>
            <a:r>
              <a:rPr lang="fa-IR" b="1" dirty="0">
                <a:solidFill>
                  <a:srgbClr val="FF0000"/>
                </a:solidFill>
                <a:cs typeface="B Roya" panose="00000400000000000000" pitchFamily="2" charset="-78"/>
              </a:rPr>
              <a:t>میزان خطای طبقه‏بند</a:t>
            </a:r>
            <a:endParaRPr lang="en-US" b="1" dirty="0">
              <a:solidFill>
                <a:srgbClr val="FF0000"/>
              </a:solidFill>
              <a:cs typeface="B Roya" panose="00000400000000000000" pitchFamily="2" charset="-78"/>
            </a:endParaRPr>
          </a:p>
        </p:txBody>
      </p:sp>
    </p:spTree>
    <p:extLst>
      <p:ext uri="{BB962C8B-B14F-4D97-AF65-F5344CB8AC3E}">
        <p14:creationId xmlns:p14="http://schemas.microsoft.com/office/powerpoint/2010/main" val="4275272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881437" y="1628775"/>
            <a:ext cx="4429125" cy="3600450"/>
          </a:xfrm>
          <a:prstGeom prst="rect">
            <a:avLst/>
          </a:prstGeom>
        </p:spPr>
      </p:pic>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Slide Number Placeholder 1"/>
          <p:cNvSpPr>
            <a:spLocks noGrp="1"/>
          </p:cNvSpPr>
          <p:nvPr>
            <p:ph type="sldNum" sz="quarter" idx="12"/>
          </p:nvPr>
        </p:nvSpPr>
        <p:spPr/>
        <p:txBody>
          <a:bodyPr/>
          <a:lstStyle/>
          <a:p>
            <a:fld id="{8ECB587C-A035-4190-A6F4-DC73ACEFC96D}" type="slidenum">
              <a:rPr lang="en-US" smtClean="0"/>
              <a:t>10</a:t>
            </a:fld>
            <a:endParaRPr lang="en-US"/>
          </a:p>
        </p:txBody>
      </p:sp>
      <p:sp>
        <p:nvSpPr>
          <p:cNvPr id="6" name="Rectangle 5"/>
          <p:cNvSpPr/>
          <p:nvPr/>
        </p:nvSpPr>
        <p:spPr>
          <a:xfrm>
            <a:off x="4737293" y="488989"/>
            <a:ext cx="2717411" cy="369332"/>
          </a:xfrm>
          <a:prstGeom prst="rect">
            <a:avLst/>
          </a:prstGeom>
        </p:spPr>
        <p:txBody>
          <a:bodyPr wrap="none">
            <a:spAutoFit/>
          </a:bodyPr>
          <a:lstStyle/>
          <a:p>
            <a:pPr algn="just" rtl="1"/>
            <a:r>
              <a:rPr lang="fa-IR" b="1" dirty="0">
                <a:solidFill>
                  <a:srgbClr val="FF0000"/>
                </a:solidFill>
                <a:cs typeface="B Roya" panose="00000400000000000000" pitchFamily="2" charset="-78"/>
              </a:rPr>
              <a:t>درک چگونگی رفتار عبارت نمایی</a:t>
            </a:r>
            <a:endParaRPr lang="en-US" b="1" dirty="0">
              <a:solidFill>
                <a:srgbClr val="FF0000"/>
              </a:solidFill>
              <a:cs typeface="B Roya" panose="00000400000000000000" pitchFamily="2" charset="-78"/>
            </a:endParaRPr>
          </a:p>
        </p:txBody>
      </p:sp>
    </p:spTree>
    <p:extLst>
      <p:ext uri="{BB962C8B-B14F-4D97-AF65-F5344CB8AC3E}">
        <p14:creationId xmlns:p14="http://schemas.microsoft.com/office/powerpoint/2010/main" val="3324165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0" name="Table 59"/>
          <p:cNvGraphicFramePr>
            <a:graphicFrameLocks noGrp="1"/>
          </p:cNvGraphicFramePr>
          <p:nvPr>
            <p:extLst>
              <p:ext uri="{D42A27DB-BD31-4B8C-83A1-F6EECF244321}">
                <p14:modId xmlns:p14="http://schemas.microsoft.com/office/powerpoint/2010/main" val="2772640044"/>
              </p:ext>
            </p:extLst>
          </p:nvPr>
        </p:nvGraphicFramePr>
        <p:xfrm>
          <a:off x="914400" y="4905031"/>
          <a:ext cx="8128000" cy="148336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370840">
                <a:tc>
                  <a:txBody>
                    <a:bodyPr/>
                    <a:lstStyle/>
                    <a:p>
                      <a:pPr algn="ctr"/>
                      <a:r>
                        <a:rPr lang="en-US" sz="1400" dirty="0">
                          <a:solidFill>
                            <a:schemeClr val="tx1"/>
                          </a:solidFill>
                          <a:cs typeface="B Roya" panose="00000400000000000000" pitchFamily="2" charset="-78"/>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1400" u="sng"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1400" dirty="0">
                          <a:solidFill>
                            <a:schemeClr val="tx1"/>
                          </a:solidFill>
                          <a:cs typeface="B Roya" panose="00000400000000000000" pitchFamily="2" charset="-78"/>
                        </a:rPr>
                        <a:t>0.1528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solidFill>
                            <a:schemeClr val="tx1"/>
                          </a:solidFill>
                          <a:cs typeface="B Roya" panose="00000400000000000000" pitchFamily="2" charset="-78"/>
                        </a:rPr>
                        <a:t>0.1528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0.1528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2" name="TextBox 61"/>
          <p:cNvSpPr txBox="1"/>
          <p:nvPr/>
        </p:nvSpPr>
        <p:spPr>
          <a:xfrm>
            <a:off x="7365685" y="1153032"/>
            <a:ext cx="3472425" cy="369332"/>
          </a:xfrm>
          <a:prstGeom prst="rect">
            <a:avLst/>
          </a:prstGeom>
          <a:noFill/>
        </p:spPr>
        <p:txBody>
          <a:bodyPr wrap="none" rtlCol="0">
            <a:spAutoFit/>
          </a:bodyPr>
          <a:lstStyle/>
          <a:p>
            <a:pPr algn="just" rtl="1"/>
            <a:r>
              <a:rPr lang="fa-IR" dirty="0">
                <a:cs typeface="B Roya" panose="00000400000000000000" pitchFamily="2" charset="-78"/>
              </a:rPr>
              <a:t>مجموع وزن داده‏های به اشتباه دسته‏بندی‏شده</a:t>
            </a:r>
            <a:endParaRPr lang="en-US" dirty="0">
              <a:cs typeface="B Roya" panose="00000400000000000000" pitchFamily="2" charset="-78"/>
            </a:endParaRPr>
          </a:p>
        </p:txBody>
      </p:sp>
      <p:graphicFrame>
        <p:nvGraphicFramePr>
          <p:cNvPr id="65" name="Object 64"/>
          <p:cNvGraphicFramePr>
            <a:graphicFrameLocks noChangeAspect="1"/>
          </p:cNvGraphicFramePr>
          <p:nvPr>
            <p:extLst>
              <p:ext uri="{D42A27DB-BD31-4B8C-83A1-F6EECF244321}">
                <p14:modId xmlns:p14="http://schemas.microsoft.com/office/powerpoint/2010/main" val="3691410626"/>
              </p:ext>
            </p:extLst>
          </p:nvPr>
        </p:nvGraphicFramePr>
        <p:xfrm>
          <a:off x="4843463" y="1236098"/>
          <a:ext cx="1358900" cy="203200"/>
        </p:xfrm>
        <a:graphic>
          <a:graphicData uri="http://schemas.openxmlformats.org/presentationml/2006/ole">
            <mc:AlternateContent xmlns:mc="http://schemas.openxmlformats.org/markup-compatibility/2006">
              <mc:Choice xmlns:v="urn:schemas-microsoft-com:vml" Requires="v">
                <p:oleObj name="Equation" r:id="rId2" imgW="1358640" imgH="203040" progId="Equation.DSMT4">
                  <p:embed/>
                </p:oleObj>
              </mc:Choice>
              <mc:Fallback>
                <p:oleObj name="Equation" r:id="rId2" imgW="1358640" imgH="203040" progId="Equation.DSMT4">
                  <p:embed/>
                  <p:pic>
                    <p:nvPicPr>
                      <p:cNvPr id="0" name=""/>
                      <p:cNvPicPr/>
                      <p:nvPr/>
                    </p:nvPicPr>
                    <p:blipFill>
                      <a:blip r:embed="rId3"/>
                      <a:stretch>
                        <a:fillRect/>
                      </a:stretch>
                    </p:blipFill>
                    <p:spPr>
                      <a:xfrm>
                        <a:off x="4843463" y="1236098"/>
                        <a:ext cx="1358900" cy="203200"/>
                      </a:xfrm>
                      <a:prstGeom prst="rect">
                        <a:avLst/>
                      </a:prstGeom>
                    </p:spPr>
                  </p:pic>
                </p:oleObj>
              </mc:Fallback>
            </mc:AlternateContent>
          </a:graphicData>
        </a:graphic>
      </p:graphicFrame>
      <p:graphicFrame>
        <p:nvGraphicFramePr>
          <p:cNvPr id="66" name="Object 65"/>
          <p:cNvGraphicFramePr>
            <a:graphicFrameLocks noChangeAspect="1"/>
          </p:cNvGraphicFramePr>
          <p:nvPr>
            <p:extLst>
              <p:ext uri="{D42A27DB-BD31-4B8C-83A1-F6EECF244321}">
                <p14:modId xmlns:p14="http://schemas.microsoft.com/office/powerpoint/2010/main" val="2765716714"/>
              </p:ext>
            </p:extLst>
          </p:nvPr>
        </p:nvGraphicFramePr>
        <p:xfrm>
          <a:off x="4843463" y="1504950"/>
          <a:ext cx="1384300" cy="584200"/>
        </p:xfrm>
        <a:graphic>
          <a:graphicData uri="http://schemas.openxmlformats.org/presentationml/2006/ole">
            <mc:AlternateContent xmlns:mc="http://schemas.openxmlformats.org/markup-compatibility/2006">
              <mc:Choice xmlns:v="urn:schemas-microsoft-com:vml" Requires="v">
                <p:oleObj name="Equation" r:id="rId4" imgW="1384200" imgH="583920" progId="Equation.DSMT4">
                  <p:embed/>
                </p:oleObj>
              </mc:Choice>
              <mc:Fallback>
                <p:oleObj name="Equation" r:id="rId4" imgW="1384200" imgH="583920" progId="Equation.DSMT4">
                  <p:embed/>
                  <p:pic>
                    <p:nvPicPr>
                      <p:cNvPr id="0" name=""/>
                      <p:cNvPicPr/>
                      <p:nvPr/>
                    </p:nvPicPr>
                    <p:blipFill>
                      <a:blip r:embed="rId5"/>
                      <a:stretch>
                        <a:fillRect/>
                      </a:stretch>
                    </p:blipFill>
                    <p:spPr>
                      <a:xfrm>
                        <a:off x="4843463" y="1504950"/>
                        <a:ext cx="1384300" cy="584200"/>
                      </a:xfrm>
                      <a:prstGeom prst="rect">
                        <a:avLst/>
                      </a:prstGeom>
                    </p:spPr>
                  </p:pic>
                </p:oleObj>
              </mc:Fallback>
            </mc:AlternateContent>
          </a:graphicData>
        </a:graphic>
      </p:graphicFrame>
      <p:sp>
        <p:nvSpPr>
          <p:cNvPr id="67" name="TextBox 66"/>
          <p:cNvSpPr txBox="1"/>
          <p:nvPr/>
        </p:nvSpPr>
        <p:spPr>
          <a:xfrm>
            <a:off x="7365685" y="1612674"/>
            <a:ext cx="1186543" cy="369332"/>
          </a:xfrm>
          <a:prstGeom prst="rect">
            <a:avLst/>
          </a:prstGeom>
          <a:noFill/>
        </p:spPr>
        <p:txBody>
          <a:bodyPr wrap="none" rtlCol="0">
            <a:spAutoFit/>
          </a:bodyPr>
          <a:lstStyle/>
          <a:p>
            <a:pPr algn="just" rtl="1"/>
            <a:r>
              <a:rPr lang="fa-IR" dirty="0">
                <a:cs typeface="B Roya" panose="00000400000000000000" pitchFamily="2" charset="-78"/>
              </a:rPr>
              <a:t>خطای مناسب</a:t>
            </a:r>
            <a:endParaRPr lang="en-US" dirty="0">
              <a:cs typeface="B Roya" panose="00000400000000000000" pitchFamily="2" charset="-78"/>
            </a:endParaRPr>
          </a:p>
        </p:txBody>
      </p:sp>
      <p:graphicFrame>
        <p:nvGraphicFramePr>
          <p:cNvPr id="68" name="Object 67"/>
          <p:cNvGraphicFramePr>
            <a:graphicFrameLocks noChangeAspect="1"/>
          </p:cNvGraphicFramePr>
          <p:nvPr>
            <p:extLst>
              <p:ext uri="{D42A27DB-BD31-4B8C-83A1-F6EECF244321}">
                <p14:modId xmlns:p14="http://schemas.microsoft.com/office/powerpoint/2010/main" val="1876594809"/>
              </p:ext>
            </p:extLst>
          </p:nvPr>
        </p:nvGraphicFramePr>
        <p:xfrm>
          <a:off x="4843463" y="2150697"/>
          <a:ext cx="2235200" cy="444500"/>
        </p:xfrm>
        <a:graphic>
          <a:graphicData uri="http://schemas.openxmlformats.org/presentationml/2006/ole">
            <mc:AlternateContent xmlns:mc="http://schemas.openxmlformats.org/markup-compatibility/2006">
              <mc:Choice xmlns:v="urn:schemas-microsoft-com:vml" Requires="v">
                <p:oleObj name="Equation" r:id="rId6" imgW="2234880" imgH="444240" progId="Equation.DSMT4">
                  <p:embed/>
                </p:oleObj>
              </mc:Choice>
              <mc:Fallback>
                <p:oleObj name="Equation" r:id="rId6" imgW="2234880" imgH="444240" progId="Equation.DSMT4">
                  <p:embed/>
                  <p:pic>
                    <p:nvPicPr>
                      <p:cNvPr id="0" name=""/>
                      <p:cNvPicPr/>
                      <p:nvPr/>
                    </p:nvPicPr>
                    <p:blipFill>
                      <a:blip r:embed="rId7"/>
                      <a:stretch>
                        <a:fillRect/>
                      </a:stretch>
                    </p:blipFill>
                    <p:spPr>
                      <a:xfrm>
                        <a:off x="4843463" y="2150697"/>
                        <a:ext cx="2235200" cy="444500"/>
                      </a:xfrm>
                      <a:prstGeom prst="rect">
                        <a:avLst/>
                      </a:prstGeom>
                    </p:spPr>
                  </p:pic>
                </p:oleObj>
              </mc:Fallback>
            </mc:AlternateContent>
          </a:graphicData>
        </a:graphic>
      </p:graphicFrame>
      <p:sp>
        <p:nvSpPr>
          <p:cNvPr id="69" name="TextBox 68"/>
          <p:cNvSpPr txBox="1"/>
          <p:nvPr/>
        </p:nvSpPr>
        <p:spPr>
          <a:xfrm>
            <a:off x="7365685" y="2188281"/>
            <a:ext cx="1600118" cy="369332"/>
          </a:xfrm>
          <a:prstGeom prst="rect">
            <a:avLst/>
          </a:prstGeom>
          <a:noFill/>
        </p:spPr>
        <p:txBody>
          <a:bodyPr wrap="none" rtlCol="0">
            <a:spAutoFit/>
          </a:bodyPr>
          <a:lstStyle/>
          <a:p>
            <a:pPr algn="just" rtl="1"/>
            <a:r>
              <a:rPr lang="fa-IR" dirty="0">
                <a:cs typeface="B Roya" panose="00000400000000000000" pitchFamily="2" charset="-78"/>
              </a:rPr>
              <a:t>ضریب دسته‏بند </a:t>
            </a:r>
            <a:r>
              <a:rPr lang="en-US" dirty="0">
                <a:cs typeface="B Roya" panose="00000400000000000000" pitchFamily="2" charset="-78"/>
              </a:rPr>
              <a:t>h</a:t>
            </a:r>
            <a:r>
              <a:rPr lang="en-US" baseline="-25000" dirty="0">
                <a:cs typeface="B Roya" panose="00000400000000000000" pitchFamily="2" charset="-78"/>
              </a:rPr>
              <a:t>1</a:t>
            </a:r>
            <a:endParaRPr lang="en-US" dirty="0">
              <a:cs typeface="B Roya" panose="00000400000000000000" pitchFamily="2" charset="-78"/>
            </a:endParaRPr>
          </a:p>
        </p:txBody>
      </p:sp>
      <p:sp>
        <p:nvSpPr>
          <p:cNvPr id="70" name="TextBox 69"/>
          <p:cNvSpPr txBox="1"/>
          <p:nvPr/>
        </p:nvSpPr>
        <p:spPr>
          <a:xfrm>
            <a:off x="7365685" y="2711882"/>
            <a:ext cx="1874232" cy="369332"/>
          </a:xfrm>
          <a:prstGeom prst="rect">
            <a:avLst/>
          </a:prstGeom>
          <a:noFill/>
        </p:spPr>
        <p:txBody>
          <a:bodyPr wrap="none" rtlCol="0">
            <a:spAutoFit/>
          </a:bodyPr>
          <a:lstStyle/>
          <a:p>
            <a:pPr algn="just" rtl="1"/>
            <a:r>
              <a:rPr lang="fa-IR" dirty="0">
                <a:cs typeface="B Roya" panose="00000400000000000000" pitchFamily="2" charset="-78"/>
              </a:rPr>
              <a:t>محاسبۀ وزن‏های جدید:</a:t>
            </a:r>
            <a:endParaRPr lang="en-US" dirty="0">
              <a:cs typeface="B Roya" panose="00000400000000000000" pitchFamily="2" charset="-78"/>
            </a:endParaRPr>
          </a:p>
        </p:txBody>
      </p:sp>
      <p:sp>
        <p:nvSpPr>
          <p:cNvPr id="73" name="TextBox 72"/>
          <p:cNvSpPr txBox="1"/>
          <p:nvPr/>
        </p:nvSpPr>
        <p:spPr>
          <a:xfrm>
            <a:off x="5598108" y="3017198"/>
            <a:ext cx="1584088" cy="369332"/>
          </a:xfrm>
          <a:prstGeom prst="rect">
            <a:avLst/>
          </a:prstGeom>
          <a:noFill/>
        </p:spPr>
        <p:txBody>
          <a:bodyPr wrap="none" rtlCol="0">
            <a:spAutoFit/>
          </a:bodyPr>
          <a:lstStyle/>
          <a:p>
            <a:pPr algn="just" rtl="1"/>
            <a:r>
              <a:rPr lang="fa-IR" dirty="0">
                <a:cs typeface="B Roya" panose="00000400000000000000" pitchFamily="2" charset="-78"/>
              </a:rPr>
              <a:t>دسته‏بندی نادرست</a:t>
            </a:r>
            <a:endParaRPr lang="en-US" dirty="0">
              <a:cs typeface="B Roya" panose="00000400000000000000" pitchFamily="2" charset="-78"/>
            </a:endParaRPr>
          </a:p>
        </p:txBody>
      </p:sp>
      <p:sp>
        <p:nvSpPr>
          <p:cNvPr id="74" name="TextBox 73"/>
          <p:cNvSpPr txBox="1"/>
          <p:nvPr/>
        </p:nvSpPr>
        <p:spPr>
          <a:xfrm>
            <a:off x="5697494" y="3450489"/>
            <a:ext cx="1484702" cy="369332"/>
          </a:xfrm>
          <a:prstGeom prst="rect">
            <a:avLst/>
          </a:prstGeom>
          <a:noFill/>
        </p:spPr>
        <p:txBody>
          <a:bodyPr wrap="none" rtlCol="0">
            <a:spAutoFit/>
          </a:bodyPr>
          <a:lstStyle/>
          <a:p>
            <a:pPr algn="just" rtl="1"/>
            <a:r>
              <a:rPr lang="fa-IR" dirty="0">
                <a:cs typeface="B Roya" panose="00000400000000000000" pitchFamily="2" charset="-78"/>
              </a:rPr>
              <a:t>دسته‏بندی درست</a:t>
            </a:r>
            <a:endParaRPr lang="en-US" dirty="0">
              <a:cs typeface="B Roya" panose="00000400000000000000" pitchFamily="2" charset="-78"/>
            </a:endParaRPr>
          </a:p>
        </p:txBody>
      </p:sp>
      <p:sp>
        <p:nvSpPr>
          <p:cNvPr id="75" name="Left Arrow 74"/>
          <p:cNvSpPr/>
          <p:nvPr/>
        </p:nvSpPr>
        <p:spPr>
          <a:xfrm>
            <a:off x="5292541"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Left Arrow 75"/>
          <p:cNvSpPr/>
          <p:nvPr/>
        </p:nvSpPr>
        <p:spPr>
          <a:xfrm>
            <a:off x="5292541"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9384162" y="5650018"/>
            <a:ext cx="1231427" cy="369332"/>
          </a:xfrm>
          <a:prstGeom prst="rect">
            <a:avLst/>
          </a:prstGeom>
          <a:noFill/>
        </p:spPr>
        <p:txBody>
          <a:bodyPr wrap="none" rtlCol="0">
            <a:spAutoFit/>
          </a:bodyPr>
          <a:lstStyle/>
          <a:p>
            <a:pPr algn="just" rtl="1"/>
            <a:r>
              <a:rPr lang="fa-IR" dirty="0">
                <a:cs typeface="B Roya" panose="00000400000000000000" pitchFamily="2" charset="-78"/>
              </a:rPr>
              <a:t>وزن‏های جدید</a:t>
            </a:r>
            <a:endParaRPr lang="en-US" dirty="0">
              <a:cs typeface="B Roya" panose="00000400000000000000" pitchFamily="2" charset="-78"/>
            </a:endParaRPr>
          </a:p>
        </p:txBody>
      </p:sp>
      <p:sp>
        <p:nvSpPr>
          <p:cNvPr id="79" name="TextBox 78"/>
          <p:cNvSpPr txBox="1"/>
          <p:nvPr/>
        </p:nvSpPr>
        <p:spPr>
          <a:xfrm>
            <a:off x="9461106" y="5275924"/>
            <a:ext cx="1154483" cy="369332"/>
          </a:xfrm>
          <a:prstGeom prst="rect">
            <a:avLst/>
          </a:prstGeom>
          <a:noFill/>
        </p:spPr>
        <p:txBody>
          <a:bodyPr wrap="none" rtlCol="0">
            <a:spAutoFit/>
          </a:bodyPr>
          <a:lstStyle/>
          <a:p>
            <a:pPr algn="just" rtl="1"/>
            <a:r>
              <a:rPr lang="fa-IR" dirty="0">
                <a:cs typeface="B Roya" panose="00000400000000000000" pitchFamily="2" charset="-78"/>
              </a:rPr>
              <a:t>وزن‏های اولیۀ</a:t>
            </a:r>
            <a:endParaRPr lang="en-US" dirty="0">
              <a:cs typeface="B Roya" panose="00000400000000000000" pitchFamily="2" charset="-78"/>
            </a:endParaRPr>
          </a:p>
        </p:txBody>
      </p:sp>
      <p:sp>
        <p:nvSpPr>
          <p:cNvPr id="80" name="TextBox 79"/>
          <p:cNvSpPr txBox="1"/>
          <p:nvPr/>
        </p:nvSpPr>
        <p:spPr>
          <a:xfrm>
            <a:off x="9061959" y="6009825"/>
            <a:ext cx="1553630" cy="369332"/>
          </a:xfrm>
          <a:prstGeom prst="rect">
            <a:avLst/>
          </a:prstGeom>
          <a:noFill/>
        </p:spPr>
        <p:txBody>
          <a:bodyPr wrap="none" rtlCol="0">
            <a:spAutoFit/>
          </a:bodyPr>
          <a:lstStyle/>
          <a:p>
            <a:pPr algn="just" rtl="1"/>
            <a:r>
              <a:rPr lang="fa-IR" dirty="0">
                <a:cs typeface="B Roya" panose="00000400000000000000" pitchFamily="2" charset="-78"/>
              </a:rPr>
              <a:t>نرمال کردن وزن‏ها</a:t>
            </a:r>
            <a:endParaRPr lang="en-US" dirty="0">
              <a:cs typeface="B Roya" panose="00000400000000000000" pitchFamily="2" charset="-78"/>
            </a:endParaRPr>
          </a:p>
        </p:txBody>
      </p:sp>
      <p:graphicFrame>
        <p:nvGraphicFramePr>
          <p:cNvPr id="81" name="Object 80"/>
          <p:cNvGraphicFramePr>
            <a:graphicFrameLocks noChangeAspect="1"/>
          </p:cNvGraphicFramePr>
          <p:nvPr>
            <p:extLst>
              <p:ext uri="{D42A27DB-BD31-4B8C-83A1-F6EECF244321}">
                <p14:modId xmlns:p14="http://schemas.microsoft.com/office/powerpoint/2010/main" val="3397627101"/>
              </p:ext>
            </p:extLst>
          </p:nvPr>
        </p:nvGraphicFramePr>
        <p:xfrm>
          <a:off x="3037644" y="3074988"/>
          <a:ext cx="1600200" cy="254000"/>
        </p:xfrm>
        <a:graphic>
          <a:graphicData uri="http://schemas.openxmlformats.org/presentationml/2006/ole">
            <mc:AlternateContent xmlns:mc="http://schemas.openxmlformats.org/markup-compatibility/2006">
              <mc:Choice xmlns:v="urn:schemas-microsoft-com:vml" Requires="v">
                <p:oleObj name="Equation" r:id="rId8" imgW="1600200" imgH="253800" progId="Equation.DSMT4">
                  <p:embed/>
                </p:oleObj>
              </mc:Choice>
              <mc:Fallback>
                <p:oleObj name="Equation" r:id="rId8" imgW="1600200" imgH="253800" progId="Equation.DSMT4">
                  <p:embed/>
                  <p:pic>
                    <p:nvPicPr>
                      <p:cNvPr id="0" name=""/>
                      <p:cNvPicPr/>
                      <p:nvPr/>
                    </p:nvPicPr>
                    <p:blipFill>
                      <a:blip r:embed="rId9"/>
                      <a:stretch>
                        <a:fillRect/>
                      </a:stretch>
                    </p:blipFill>
                    <p:spPr>
                      <a:xfrm>
                        <a:off x="3037644" y="3074988"/>
                        <a:ext cx="1600200" cy="2540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3545800478"/>
              </p:ext>
            </p:extLst>
          </p:nvPr>
        </p:nvGraphicFramePr>
        <p:xfrm>
          <a:off x="3037644" y="3508375"/>
          <a:ext cx="2209800" cy="254000"/>
        </p:xfrm>
        <a:graphic>
          <a:graphicData uri="http://schemas.openxmlformats.org/presentationml/2006/ole">
            <mc:AlternateContent xmlns:mc="http://schemas.openxmlformats.org/markup-compatibility/2006">
              <mc:Choice xmlns:v="urn:schemas-microsoft-com:vml" Requires="v">
                <p:oleObj name="Equation" r:id="rId10" imgW="2209680" imgH="253800" progId="Equation.DSMT4">
                  <p:embed/>
                </p:oleObj>
              </mc:Choice>
              <mc:Fallback>
                <p:oleObj name="Equation" r:id="rId10" imgW="2209680" imgH="253800" progId="Equation.DSMT4">
                  <p:embed/>
                  <p:pic>
                    <p:nvPicPr>
                      <p:cNvPr id="0" name=""/>
                      <p:cNvPicPr/>
                      <p:nvPr/>
                    </p:nvPicPr>
                    <p:blipFill>
                      <a:blip r:embed="rId11"/>
                      <a:stretch>
                        <a:fillRect/>
                      </a:stretch>
                    </p:blipFill>
                    <p:spPr>
                      <a:xfrm>
                        <a:off x="3037644" y="3508375"/>
                        <a:ext cx="2209800" cy="254000"/>
                      </a:xfrm>
                      <a:prstGeom prst="rect">
                        <a:avLst/>
                      </a:prstGeom>
                    </p:spPr>
                  </p:pic>
                </p:oleObj>
              </mc:Fallback>
            </mc:AlternateContent>
          </a:graphicData>
        </a:graphic>
      </p:graphicFrame>
      <p:graphicFrame>
        <p:nvGraphicFramePr>
          <p:cNvPr id="83" name="Object 82"/>
          <p:cNvGraphicFramePr>
            <a:graphicFrameLocks noChangeAspect="1"/>
          </p:cNvGraphicFramePr>
          <p:nvPr>
            <p:extLst>
              <p:ext uri="{D42A27DB-BD31-4B8C-83A1-F6EECF244321}">
                <p14:modId xmlns:p14="http://schemas.microsoft.com/office/powerpoint/2010/main" val="1641121883"/>
              </p:ext>
            </p:extLst>
          </p:nvPr>
        </p:nvGraphicFramePr>
        <p:xfrm>
          <a:off x="1398588" y="3106738"/>
          <a:ext cx="1117600" cy="190500"/>
        </p:xfrm>
        <a:graphic>
          <a:graphicData uri="http://schemas.openxmlformats.org/presentationml/2006/ole">
            <mc:AlternateContent xmlns:mc="http://schemas.openxmlformats.org/markup-compatibility/2006">
              <mc:Choice xmlns:v="urn:schemas-microsoft-com:vml" Requires="v">
                <p:oleObj name="Equation" r:id="rId12" imgW="1117440" imgH="190440" progId="Equation.DSMT4">
                  <p:embed/>
                </p:oleObj>
              </mc:Choice>
              <mc:Fallback>
                <p:oleObj name="Equation" r:id="rId12" imgW="1117440" imgH="190440" progId="Equation.DSMT4">
                  <p:embed/>
                  <p:pic>
                    <p:nvPicPr>
                      <p:cNvPr id="0" name=""/>
                      <p:cNvPicPr/>
                      <p:nvPr/>
                    </p:nvPicPr>
                    <p:blipFill>
                      <a:blip r:embed="rId13"/>
                      <a:stretch>
                        <a:fillRect/>
                      </a:stretch>
                    </p:blipFill>
                    <p:spPr>
                      <a:xfrm>
                        <a:off x="1398588" y="3106738"/>
                        <a:ext cx="1117600" cy="190500"/>
                      </a:xfrm>
                      <a:prstGeom prst="rect">
                        <a:avLst/>
                      </a:prstGeom>
                    </p:spPr>
                  </p:pic>
                </p:oleObj>
              </mc:Fallback>
            </mc:AlternateContent>
          </a:graphicData>
        </a:graphic>
      </p:graphicFrame>
      <p:graphicFrame>
        <p:nvGraphicFramePr>
          <p:cNvPr id="84" name="Object 83"/>
          <p:cNvGraphicFramePr>
            <a:graphicFrameLocks noChangeAspect="1"/>
          </p:cNvGraphicFramePr>
          <p:nvPr>
            <p:extLst>
              <p:ext uri="{D42A27DB-BD31-4B8C-83A1-F6EECF244321}">
                <p14:modId xmlns:p14="http://schemas.microsoft.com/office/powerpoint/2010/main" val="20583742"/>
              </p:ext>
            </p:extLst>
          </p:nvPr>
        </p:nvGraphicFramePr>
        <p:xfrm>
          <a:off x="1398588" y="3540125"/>
          <a:ext cx="1117600" cy="190500"/>
        </p:xfrm>
        <a:graphic>
          <a:graphicData uri="http://schemas.openxmlformats.org/presentationml/2006/ole">
            <mc:AlternateContent xmlns:mc="http://schemas.openxmlformats.org/markup-compatibility/2006">
              <mc:Choice xmlns:v="urn:schemas-microsoft-com:vml" Requires="v">
                <p:oleObj name="Equation" r:id="rId14" imgW="1117440" imgH="190440" progId="Equation.DSMT4">
                  <p:embed/>
                </p:oleObj>
              </mc:Choice>
              <mc:Fallback>
                <p:oleObj name="Equation" r:id="rId14" imgW="1117440" imgH="190440" progId="Equation.DSMT4">
                  <p:embed/>
                  <p:pic>
                    <p:nvPicPr>
                      <p:cNvPr id="0" name=""/>
                      <p:cNvPicPr/>
                      <p:nvPr/>
                    </p:nvPicPr>
                    <p:blipFill>
                      <a:blip r:embed="rId15"/>
                      <a:stretch>
                        <a:fillRect/>
                      </a:stretch>
                    </p:blipFill>
                    <p:spPr>
                      <a:xfrm>
                        <a:off x="1398588" y="3540125"/>
                        <a:ext cx="1117600" cy="190500"/>
                      </a:xfrm>
                      <a:prstGeom prst="rect">
                        <a:avLst/>
                      </a:prstGeom>
                    </p:spPr>
                  </p:pic>
                </p:oleObj>
              </mc:Fallback>
            </mc:AlternateContent>
          </a:graphicData>
        </a:graphic>
      </p:graphicFrame>
      <p:sp>
        <p:nvSpPr>
          <p:cNvPr id="85" name="Left Arrow 84"/>
          <p:cNvSpPr/>
          <p:nvPr/>
        </p:nvSpPr>
        <p:spPr>
          <a:xfrm>
            <a:off x="2635514"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Left Arrow 85"/>
          <p:cNvSpPr/>
          <p:nvPr/>
        </p:nvSpPr>
        <p:spPr>
          <a:xfrm>
            <a:off x="2635514"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Left Arrow 90"/>
          <p:cNvSpPr/>
          <p:nvPr/>
        </p:nvSpPr>
        <p:spPr>
          <a:xfrm rot="10800000">
            <a:off x="1448289" y="4513004"/>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2" name="Object 91"/>
          <p:cNvGraphicFramePr>
            <a:graphicFrameLocks noChangeAspect="1"/>
          </p:cNvGraphicFramePr>
          <p:nvPr>
            <p:extLst>
              <p:ext uri="{D42A27DB-BD31-4B8C-83A1-F6EECF244321}">
                <p14:modId xmlns:p14="http://schemas.microsoft.com/office/powerpoint/2010/main" val="1563173485"/>
              </p:ext>
            </p:extLst>
          </p:nvPr>
        </p:nvGraphicFramePr>
        <p:xfrm>
          <a:off x="2046288" y="4421187"/>
          <a:ext cx="1549400" cy="368300"/>
        </p:xfrm>
        <a:graphic>
          <a:graphicData uri="http://schemas.openxmlformats.org/presentationml/2006/ole">
            <mc:AlternateContent xmlns:mc="http://schemas.openxmlformats.org/markup-compatibility/2006">
              <mc:Choice xmlns:v="urn:schemas-microsoft-com:vml" Requires="v">
                <p:oleObj name="Equation" r:id="rId16" imgW="1549080" imgH="368280" progId="Equation.DSMT4">
                  <p:embed/>
                </p:oleObj>
              </mc:Choice>
              <mc:Fallback>
                <p:oleObj name="Equation" r:id="rId16" imgW="1549080" imgH="368280" progId="Equation.DSMT4">
                  <p:embed/>
                  <p:pic>
                    <p:nvPicPr>
                      <p:cNvPr id="0" name=""/>
                      <p:cNvPicPr/>
                      <p:nvPr/>
                    </p:nvPicPr>
                    <p:blipFill>
                      <a:blip r:embed="rId17"/>
                      <a:stretch>
                        <a:fillRect/>
                      </a:stretch>
                    </p:blipFill>
                    <p:spPr>
                      <a:xfrm>
                        <a:off x="2046288" y="4421187"/>
                        <a:ext cx="1549400" cy="368300"/>
                      </a:xfrm>
                      <a:prstGeom prst="rect">
                        <a:avLst/>
                      </a:prstGeom>
                    </p:spPr>
                  </p:pic>
                </p:oleObj>
              </mc:Fallback>
            </mc:AlternateContent>
          </a:graphicData>
        </a:graphic>
      </p:graphicFrame>
      <p:graphicFrame>
        <p:nvGraphicFramePr>
          <p:cNvPr id="93" name="Object 92"/>
          <p:cNvGraphicFramePr>
            <a:graphicFrameLocks noChangeAspect="1"/>
          </p:cNvGraphicFramePr>
          <p:nvPr>
            <p:extLst>
              <p:ext uri="{D42A27DB-BD31-4B8C-83A1-F6EECF244321}">
                <p14:modId xmlns:p14="http://schemas.microsoft.com/office/powerpoint/2010/main" val="3548482412"/>
              </p:ext>
            </p:extLst>
          </p:nvPr>
        </p:nvGraphicFramePr>
        <p:xfrm>
          <a:off x="3699388" y="4421187"/>
          <a:ext cx="1600200" cy="368300"/>
        </p:xfrm>
        <a:graphic>
          <a:graphicData uri="http://schemas.openxmlformats.org/presentationml/2006/ole">
            <mc:AlternateContent xmlns:mc="http://schemas.openxmlformats.org/markup-compatibility/2006">
              <mc:Choice xmlns:v="urn:schemas-microsoft-com:vml" Requires="v">
                <p:oleObj name="Equation" r:id="rId18" imgW="1600200" imgH="368280" progId="Equation.DSMT4">
                  <p:embed/>
                </p:oleObj>
              </mc:Choice>
              <mc:Fallback>
                <p:oleObj name="Equation" r:id="rId18" imgW="1600200" imgH="368280" progId="Equation.DSMT4">
                  <p:embed/>
                  <p:pic>
                    <p:nvPicPr>
                      <p:cNvPr id="0" name=""/>
                      <p:cNvPicPr/>
                      <p:nvPr/>
                    </p:nvPicPr>
                    <p:blipFill>
                      <a:blip r:embed="rId19"/>
                      <a:stretch>
                        <a:fillRect/>
                      </a:stretch>
                    </p:blipFill>
                    <p:spPr>
                      <a:xfrm>
                        <a:off x="3699388" y="4421187"/>
                        <a:ext cx="1600200" cy="368300"/>
                      </a:xfrm>
                      <a:prstGeom prst="rect">
                        <a:avLst/>
                      </a:prstGeom>
                    </p:spPr>
                  </p:pic>
                </p:oleObj>
              </mc:Fallback>
            </mc:AlternateContent>
          </a:graphicData>
        </a:graphic>
      </p:graphicFrame>
      <p:sp>
        <p:nvSpPr>
          <p:cNvPr id="94" name="TextBox 93"/>
          <p:cNvSpPr txBox="1"/>
          <p:nvPr/>
        </p:nvSpPr>
        <p:spPr>
          <a:xfrm>
            <a:off x="7365685" y="3970996"/>
            <a:ext cx="1553630" cy="369332"/>
          </a:xfrm>
          <a:prstGeom prst="rect">
            <a:avLst/>
          </a:prstGeom>
          <a:noFill/>
        </p:spPr>
        <p:txBody>
          <a:bodyPr wrap="none" rtlCol="0">
            <a:spAutoFit/>
          </a:bodyPr>
          <a:lstStyle/>
          <a:p>
            <a:pPr algn="just" rtl="1"/>
            <a:r>
              <a:rPr lang="fa-IR" dirty="0">
                <a:cs typeface="B Roya" panose="00000400000000000000" pitchFamily="2" charset="-78"/>
              </a:rPr>
              <a:t>نرمال کردن وزن‏ها</a:t>
            </a:r>
            <a:endParaRPr lang="en-US" dirty="0">
              <a:cs typeface="B Roya" panose="00000400000000000000" pitchFamily="2" charset="-78"/>
            </a:endParaRPr>
          </a:p>
        </p:txBody>
      </p:sp>
      <p:graphicFrame>
        <p:nvGraphicFramePr>
          <p:cNvPr id="95" name="Object 94"/>
          <p:cNvGraphicFramePr>
            <a:graphicFrameLocks noChangeAspect="1"/>
          </p:cNvGraphicFramePr>
          <p:nvPr>
            <p:extLst>
              <p:ext uri="{D42A27DB-BD31-4B8C-83A1-F6EECF244321}">
                <p14:modId xmlns:p14="http://schemas.microsoft.com/office/powerpoint/2010/main" val="1805852226"/>
              </p:ext>
            </p:extLst>
          </p:nvPr>
        </p:nvGraphicFramePr>
        <p:xfrm>
          <a:off x="5362575" y="3939762"/>
          <a:ext cx="1612900" cy="431800"/>
        </p:xfrm>
        <a:graphic>
          <a:graphicData uri="http://schemas.openxmlformats.org/presentationml/2006/ole">
            <mc:AlternateContent xmlns:mc="http://schemas.openxmlformats.org/markup-compatibility/2006">
              <mc:Choice xmlns:v="urn:schemas-microsoft-com:vml" Requires="v">
                <p:oleObj name="Equation" r:id="rId20" imgW="1612800" imgH="431640" progId="Equation.DSMT4">
                  <p:embed/>
                </p:oleObj>
              </mc:Choice>
              <mc:Fallback>
                <p:oleObj name="Equation" r:id="rId20" imgW="1612800" imgH="431640" progId="Equation.DSMT4">
                  <p:embed/>
                  <p:pic>
                    <p:nvPicPr>
                      <p:cNvPr id="0" name=""/>
                      <p:cNvPicPr/>
                      <p:nvPr/>
                    </p:nvPicPr>
                    <p:blipFill>
                      <a:blip r:embed="rId21"/>
                      <a:stretch>
                        <a:fillRect/>
                      </a:stretch>
                    </p:blipFill>
                    <p:spPr>
                      <a:xfrm>
                        <a:off x="5362575" y="3939762"/>
                        <a:ext cx="1612900" cy="431800"/>
                      </a:xfrm>
                      <a:prstGeom prst="rect">
                        <a:avLst/>
                      </a:prstGeom>
                    </p:spPr>
                  </p:pic>
                </p:oleObj>
              </mc:Fallback>
            </mc:AlternateContent>
          </a:graphicData>
        </a:graphic>
      </p:graphicFrame>
      <p:graphicFrame>
        <p:nvGraphicFramePr>
          <p:cNvPr id="96" name="Object 95"/>
          <p:cNvGraphicFramePr>
            <a:graphicFrameLocks noChangeAspect="1"/>
          </p:cNvGraphicFramePr>
          <p:nvPr>
            <p:extLst>
              <p:ext uri="{D42A27DB-BD31-4B8C-83A1-F6EECF244321}">
                <p14:modId xmlns:p14="http://schemas.microsoft.com/office/powerpoint/2010/main" val="3187091461"/>
              </p:ext>
            </p:extLst>
          </p:nvPr>
        </p:nvGraphicFramePr>
        <p:xfrm>
          <a:off x="1402518" y="3952462"/>
          <a:ext cx="2730500" cy="406400"/>
        </p:xfrm>
        <a:graphic>
          <a:graphicData uri="http://schemas.openxmlformats.org/presentationml/2006/ole">
            <mc:AlternateContent xmlns:mc="http://schemas.openxmlformats.org/markup-compatibility/2006">
              <mc:Choice xmlns:v="urn:schemas-microsoft-com:vml" Requires="v">
                <p:oleObj name="Equation" r:id="rId22" imgW="2730240" imgH="406080" progId="Equation.DSMT4">
                  <p:embed/>
                </p:oleObj>
              </mc:Choice>
              <mc:Fallback>
                <p:oleObj name="Equation" r:id="rId22" imgW="2730240" imgH="406080" progId="Equation.DSMT4">
                  <p:embed/>
                  <p:pic>
                    <p:nvPicPr>
                      <p:cNvPr id="0" name=""/>
                      <p:cNvPicPr/>
                      <p:nvPr/>
                    </p:nvPicPr>
                    <p:blipFill>
                      <a:blip r:embed="rId23"/>
                      <a:stretch>
                        <a:fillRect/>
                      </a:stretch>
                    </p:blipFill>
                    <p:spPr>
                      <a:xfrm>
                        <a:off x="1402518" y="3952462"/>
                        <a:ext cx="2730500" cy="406400"/>
                      </a:xfrm>
                      <a:prstGeom prst="rect">
                        <a:avLst/>
                      </a:prstGeom>
                    </p:spPr>
                  </p:pic>
                </p:oleObj>
              </mc:Fallback>
            </mc:AlternateContent>
          </a:graphicData>
        </a:graphic>
      </p:graphicFrame>
      <p:grpSp>
        <p:nvGrpSpPr>
          <p:cNvPr id="150" name="Group 149"/>
          <p:cNvGrpSpPr/>
          <p:nvPr/>
        </p:nvGrpSpPr>
        <p:grpSpPr>
          <a:xfrm>
            <a:off x="918772" y="954241"/>
            <a:ext cx="3858602" cy="1770003"/>
            <a:chOff x="918772" y="954241"/>
            <a:chExt cx="3858602" cy="1770003"/>
          </a:xfrm>
        </p:grpSpPr>
        <p:sp>
          <p:nvSpPr>
            <p:cNvPr id="151" name="TextBox 150"/>
            <p:cNvSpPr txBox="1"/>
            <p:nvPr/>
          </p:nvSpPr>
          <p:spPr>
            <a:xfrm>
              <a:off x="3433119" y="2354912"/>
              <a:ext cx="391453" cy="369332"/>
            </a:xfrm>
            <a:prstGeom prst="rect">
              <a:avLst/>
            </a:prstGeom>
            <a:noFill/>
          </p:spPr>
          <p:txBody>
            <a:bodyPr wrap="none" rtlCol="0">
              <a:spAutoFit/>
            </a:bodyPr>
            <a:lstStyle/>
            <a:p>
              <a:pPr algn="just" rtl="1"/>
              <a:r>
                <a:rPr lang="en-US" dirty="0">
                  <a:cs typeface="B Roya" panose="00000400000000000000" pitchFamily="2" charset="-78"/>
                </a:rPr>
                <a:t>h</a:t>
              </a:r>
              <a:r>
                <a:rPr lang="en-US" baseline="-25000" dirty="0">
                  <a:cs typeface="B Roya" panose="00000400000000000000" pitchFamily="2" charset="-78"/>
                </a:rPr>
                <a:t>1</a:t>
              </a:r>
              <a:endParaRPr lang="en-US" dirty="0">
                <a:cs typeface="B Roya" panose="00000400000000000000" pitchFamily="2" charset="-78"/>
              </a:endParaRPr>
            </a:p>
          </p:txBody>
        </p:sp>
        <p:grpSp>
          <p:nvGrpSpPr>
            <p:cNvPr id="152" name="Group 151"/>
            <p:cNvGrpSpPr/>
            <p:nvPr/>
          </p:nvGrpSpPr>
          <p:grpSpPr>
            <a:xfrm>
              <a:off x="918772" y="954241"/>
              <a:ext cx="3858602" cy="1456055"/>
              <a:chOff x="914400" y="982936"/>
              <a:chExt cx="3858602" cy="1456055"/>
            </a:xfrm>
          </p:grpSpPr>
          <p:sp>
            <p:nvSpPr>
              <p:cNvPr id="153" name="Right Arrow 152"/>
              <p:cNvSpPr/>
              <p:nvPr/>
            </p:nvSpPr>
            <p:spPr>
              <a:xfrm>
                <a:off x="2613025" y="1596663"/>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54" name="Group 153"/>
              <p:cNvGrpSpPr/>
              <p:nvPr/>
            </p:nvGrpSpPr>
            <p:grpSpPr>
              <a:xfrm>
                <a:off x="3381533" y="1058632"/>
                <a:ext cx="408940" cy="919480"/>
                <a:chOff x="3298825" y="932180"/>
                <a:chExt cx="408940" cy="919480"/>
              </a:xfrm>
            </p:grpSpPr>
            <p:cxnSp>
              <p:nvCxnSpPr>
                <p:cNvPr id="204" name="Straight Arrow Connector 203"/>
                <p:cNvCxnSpPr/>
                <p:nvPr/>
              </p:nvCxnSpPr>
              <p:spPr>
                <a:xfrm>
                  <a:off x="3512512" y="1162819"/>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p:nvPr/>
              </p:nvCxnSpPr>
              <p:spPr>
                <a:xfrm flipH="1">
                  <a:off x="3313462" y="1160780"/>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6" name="Text Box 104"/>
                <p:cNvSpPr txBox="1"/>
                <p:nvPr/>
              </p:nvSpPr>
              <p:spPr>
                <a:xfrm>
                  <a:off x="3298825" y="937260"/>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207" name="Text Box 105"/>
                <p:cNvSpPr txBox="1"/>
                <p:nvPr/>
              </p:nvSpPr>
              <p:spPr>
                <a:xfrm>
                  <a:off x="3475355" y="932180"/>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155" name="Rectangle 154"/>
              <p:cNvSpPr/>
              <p:nvPr/>
            </p:nvSpPr>
            <p:spPr>
              <a:xfrm>
                <a:off x="3278768" y="1021030"/>
                <a:ext cx="306473" cy="1373771"/>
              </a:xfrm>
              <a:prstGeom prst="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6" name="Rectangle 155"/>
              <p:cNvSpPr/>
              <p:nvPr/>
            </p:nvSpPr>
            <p:spPr>
              <a:xfrm>
                <a:off x="3585001" y="1021965"/>
                <a:ext cx="1126848" cy="1372021"/>
              </a:xfrm>
              <a:prstGeom prst="rect">
                <a:avLst/>
              </a:prstGeom>
              <a:solidFill>
                <a:srgbClr val="FF0000">
                  <a:alpha val="20000"/>
                </a:srgbClr>
              </a:solidFill>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57" name="Group 156"/>
              <p:cNvGrpSpPr/>
              <p:nvPr/>
            </p:nvGrpSpPr>
            <p:grpSpPr>
              <a:xfrm>
                <a:off x="914400" y="982936"/>
                <a:ext cx="1499870" cy="1456055"/>
                <a:chOff x="914400" y="970280"/>
                <a:chExt cx="1499870" cy="1456055"/>
              </a:xfrm>
            </p:grpSpPr>
            <p:sp>
              <p:nvSpPr>
                <p:cNvPr id="183" name="Rectangle 182"/>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Plus 183"/>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Minus 184"/>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87"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88"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89"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90"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91"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92"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93"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94"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95"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96" name="Plus 195"/>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7" name="Plus 196"/>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Plus 197"/>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9" name="Plus 198"/>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0" name="Minus 199"/>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Minus 200"/>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2" name="Minus 201"/>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3" name="Minus 202"/>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8" name="Group 157"/>
              <p:cNvGrpSpPr/>
              <p:nvPr/>
            </p:nvGrpSpPr>
            <p:grpSpPr>
              <a:xfrm>
                <a:off x="3273132" y="982936"/>
                <a:ext cx="1499870" cy="1456055"/>
                <a:chOff x="914400" y="970280"/>
                <a:chExt cx="1499870" cy="1456055"/>
              </a:xfrm>
            </p:grpSpPr>
            <p:sp>
              <p:nvSpPr>
                <p:cNvPr id="162" name="Rectangle 161"/>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3" name="Plus 162"/>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Minus 163"/>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5"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66"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67"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68"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69"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70"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71"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72"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73"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74"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75" name="Plus 174"/>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6" name="Plus 175"/>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7" name="Plus 176"/>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8" name="Plus 177"/>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9" name="Minus 178"/>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0" name="Minus 179"/>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Minus 180"/>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Minus 181"/>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59" name="Oval 158"/>
              <p:cNvSpPr/>
              <p:nvPr/>
            </p:nvSpPr>
            <p:spPr>
              <a:xfrm>
                <a:off x="4272933" y="134733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0" name="Oval 159"/>
              <p:cNvSpPr/>
              <p:nvPr/>
            </p:nvSpPr>
            <p:spPr>
              <a:xfrm>
                <a:off x="3941564" y="1253507"/>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1" name="Oval 160"/>
              <p:cNvSpPr/>
              <p:nvPr/>
            </p:nvSpPr>
            <p:spPr>
              <a:xfrm>
                <a:off x="4111062" y="1164720"/>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sp>
        <p:nvSpPr>
          <p:cNvPr id="2" name="Slide Number Placeholder 1"/>
          <p:cNvSpPr>
            <a:spLocks noGrp="1"/>
          </p:cNvSpPr>
          <p:nvPr>
            <p:ph type="sldNum" sz="quarter" idx="12"/>
          </p:nvPr>
        </p:nvSpPr>
        <p:spPr/>
        <p:txBody>
          <a:bodyPr/>
          <a:lstStyle/>
          <a:p>
            <a:fld id="{8ECB587C-A035-4190-A6F4-DC73ACEFC96D}" type="slidenum">
              <a:rPr lang="en-US" smtClean="0"/>
              <a:t>11</a:t>
            </a:fld>
            <a:endParaRPr lang="en-US"/>
          </a:p>
        </p:txBody>
      </p:sp>
    </p:spTree>
    <p:extLst>
      <p:ext uri="{BB962C8B-B14F-4D97-AF65-F5344CB8AC3E}">
        <p14:creationId xmlns:p14="http://schemas.microsoft.com/office/powerpoint/2010/main" val="1744694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0" name="Table 59"/>
          <p:cNvGraphicFramePr>
            <a:graphicFrameLocks noGrp="1"/>
          </p:cNvGraphicFramePr>
          <p:nvPr>
            <p:extLst>
              <p:ext uri="{D42A27DB-BD31-4B8C-83A1-F6EECF244321}">
                <p14:modId xmlns:p14="http://schemas.microsoft.com/office/powerpoint/2010/main" val="1318732721"/>
              </p:ext>
            </p:extLst>
          </p:nvPr>
        </p:nvGraphicFramePr>
        <p:xfrm>
          <a:off x="914400" y="4905031"/>
          <a:ext cx="8128000" cy="148336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370840">
                <a:tc>
                  <a:txBody>
                    <a:bodyPr/>
                    <a:lstStyle/>
                    <a:p>
                      <a:pPr algn="ctr"/>
                      <a:r>
                        <a:rPr lang="en-US" sz="1400" dirty="0">
                          <a:solidFill>
                            <a:schemeClr val="tx1"/>
                          </a:solidFill>
                          <a:cs typeface="B Roya" panose="00000400000000000000" pitchFamily="2" charset="-78"/>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0.0714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1400" dirty="0">
                          <a:solidFill>
                            <a:schemeClr val="tx1"/>
                          </a:solidFill>
                          <a:cs typeface="B Roya" panose="00000400000000000000" pitchFamily="2" charset="-78"/>
                        </a:rPr>
                        <a:t>0.0870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solidFill>
                            <a:schemeClr val="tx1"/>
                          </a:solidFill>
                          <a:cs typeface="B Roya" panose="00000400000000000000" pitchFamily="2" charset="-78"/>
                        </a:rPr>
                        <a:t>0.0870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0.0870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0.0373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0.0373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0.1367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0.1367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0.0373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0.1367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0.0373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sz="1400" dirty="0">
                          <a:solidFill>
                            <a:schemeClr val="tx1"/>
                          </a:solidFill>
                          <a:cs typeface="B Roya" panose="00000400000000000000" pitchFamily="2" charset="-78"/>
                        </a:rPr>
                        <a:t>0.1061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2" name="TextBox 61"/>
          <p:cNvSpPr txBox="1"/>
          <p:nvPr/>
        </p:nvSpPr>
        <p:spPr>
          <a:xfrm>
            <a:off x="7365685" y="1153032"/>
            <a:ext cx="3472425" cy="369332"/>
          </a:xfrm>
          <a:prstGeom prst="rect">
            <a:avLst/>
          </a:prstGeom>
          <a:noFill/>
        </p:spPr>
        <p:txBody>
          <a:bodyPr wrap="none" rtlCol="0">
            <a:spAutoFit/>
          </a:bodyPr>
          <a:lstStyle/>
          <a:p>
            <a:pPr algn="just" rtl="1"/>
            <a:r>
              <a:rPr lang="fa-IR" dirty="0">
                <a:cs typeface="B Roya" panose="00000400000000000000" pitchFamily="2" charset="-78"/>
              </a:rPr>
              <a:t>مجموع وزن داده‏های به اشتباه دسته‏بندی‏شده</a:t>
            </a:r>
            <a:endParaRPr lang="en-US" dirty="0">
              <a:cs typeface="B Roya" panose="00000400000000000000" pitchFamily="2" charset="-78"/>
            </a:endParaRPr>
          </a:p>
        </p:txBody>
      </p:sp>
      <p:graphicFrame>
        <p:nvGraphicFramePr>
          <p:cNvPr id="65" name="Object 64"/>
          <p:cNvGraphicFramePr>
            <a:graphicFrameLocks noChangeAspect="1"/>
          </p:cNvGraphicFramePr>
          <p:nvPr>
            <p:extLst>
              <p:ext uri="{D42A27DB-BD31-4B8C-83A1-F6EECF244321}">
                <p14:modId xmlns:p14="http://schemas.microsoft.com/office/powerpoint/2010/main" val="2968109269"/>
              </p:ext>
            </p:extLst>
          </p:nvPr>
        </p:nvGraphicFramePr>
        <p:xfrm>
          <a:off x="4776788" y="1227372"/>
          <a:ext cx="2247900" cy="203200"/>
        </p:xfrm>
        <a:graphic>
          <a:graphicData uri="http://schemas.openxmlformats.org/presentationml/2006/ole">
            <mc:AlternateContent xmlns:mc="http://schemas.openxmlformats.org/markup-compatibility/2006">
              <mc:Choice xmlns:v="urn:schemas-microsoft-com:vml" Requires="v">
                <p:oleObj name="Equation" r:id="rId2" imgW="2247840" imgH="203040" progId="Equation.DSMT4">
                  <p:embed/>
                </p:oleObj>
              </mc:Choice>
              <mc:Fallback>
                <p:oleObj name="Equation" r:id="rId2" imgW="2247840" imgH="203040" progId="Equation.DSMT4">
                  <p:embed/>
                  <p:pic>
                    <p:nvPicPr>
                      <p:cNvPr id="0" name=""/>
                      <p:cNvPicPr/>
                      <p:nvPr/>
                    </p:nvPicPr>
                    <p:blipFill>
                      <a:blip r:embed="rId3"/>
                      <a:stretch>
                        <a:fillRect/>
                      </a:stretch>
                    </p:blipFill>
                    <p:spPr>
                      <a:xfrm>
                        <a:off x="4776788" y="1227372"/>
                        <a:ext cx="2247900" cy="203200"/>
                      </a:xfrm>
                      <a:prstGeom prst="rect">
                        <a:avLst/>
                      </a:prstGeom>
                    </p:spPr>
                  </p:pic>
                </p:oleObj>
              </mc:Fallback>
            </mc:AlternateContent>
          </a:graphicData>
        </a:graphic>
      </p:graphicFrame>
      <p:graphicFrame>
        <p:nvGraphicFramePr>
          <p:cNvPr id="66" name="Object 65"/>
          <p:cNvGraphicFramePr>
            <a:graphicFrameLocks noChangeAspect="1"/>
          </p:cNvGraphicFramePr>
          <p:nvPr>
            <p:extLst>
              <p:ext uri="{D42A27DB-BD31-4B8C-83A1-F6EECF244321}">
                <p14:modId xmlns:p14="http://schemas.microsoft.com/office/powerpoint/2010/main" val="2783922647"/>
              </p:ext>
            </p:extLst>
          </p:nvPr>
        </p:nvGraphicFramePr>
        <p:xfrm>
          <a:off x="4776788" y="1504950"/>
          <a:ext cx="1612900" cy="584200"/>
        </p:xfrm>
        <a:graphic>
          <a:graphicData uri="http://schemas.openxmlformats.org/presentationml/2006/ole">
            <mc:AlternateContent xmlns:mc="http://schemas.openxmlformats.org/markup-compatibility/2006">
              <mc:Choice xmlns:v="urn:schemas-microsoft-com:vml" Requires="v">
                <p:oleObj name="Equation" r:id="rId4" imgW="1612800" imgH="583920" progId="Equation.DSMT4">
                  <p:embed/>
                </p:oleObj>
              </mc:Choice>
              <mc:Fallback>
                <p:oleObj name="Equation" r:id="rId4" imgW="1612800" imgH="583920" progId="Equation.DSMT4">
                  <p:embed/>
                  <p:pic>
                    <p:nvPicPr>
                      <p:cNvPr id="0" name=""/>
                      <p:cNvPicPr/>
                      <p:nvPr/>
                    </p:nvPicPr>
                    <p:blipFill>
                      <a:blip r:embed="rId5"/>
                      <a:stretch>
                        <a:fillRect/>
                      </a:stretch>
                    </p:blipFill>
                    <p:spPr>
                      <a:xfrm>
                        <a:off x="4776788" y="1504950"/>
                        <a:ext cx="1612900" cy="584200"/>
                      </a:xfrm>
                      <a:prstGeom prst="rect">
                        <a:avLst/>
                      </a:prstGeom>
                    </p:spPr>
                  </p:pic>
                </p:oleObj>
              </mc:Fallback>
            </mc:AlternateContent>
          </a:graphicData>
        </a:graphic>
      </p:graphicFrame>
      <p:sp>
        <p:nvSpPr>
          <p:cNvPr id="67" name="TextBox 66"/>
          <p:cNvSpPr txBox="1"/>
          <p:nvPr/>
        </p:nvSpPr>
        <p:spPr>
          <a:xfrm>
            <a:off x="7365685" y="1612674"/>
            <a:ext cx="1186543" cy="369332"/>
          </a:xfrm>
          <a:prstGeom prst="rect">
            <a:avLst/>
          </a:prstGeom>
          <a:noFill/>
        </p:spPr>
        <p:txBody>
          <a:bodyPr wrap="none" rtlCol="0">
            <a:spAutoFit/>
          </a:bodyPr>
          <a:lstStyle/>
          <a:p>
            <a:pPr algn="just" rtl="1"/>
            <a:r>
              <a:rPr lang="fa-IR" dirty="0">
                <a:cs typeface="B Roya" panose="00000400000000000000" pitchFamily="2" charset="-78"/>
              </a:rPr>
              <a:t>خطای مناسب</a:t>
            </a:r>
            <a:endParaRPr lang="en-US" dirty="0">
              <a:cs typeface="B Roya" panose="00000400000000000000" pitchFamily="2" charset="-78"/>
            </a:endParaRPr>
          </a:p>
        </p:txBody>
      </p:sp>
      <p:graphicFrame>
        <p:nvGraphicFramePr>
          <p:cNvPr id="68" name="Object 67"/>
          <p:cNvGraphicFramePr>
            <a:graphicFrameLocks noChangeAspect="1"/>
          </p:cNvGraphicFramePr>
          <p:nvPr>
            <p:extLst>
              <p:ext uri="{D42A27DB-BD31-4B8C-83A1-F6EECF244321}">
                <p14:modId xmlns:p14="http://schemas.microsoft.com/office/powerpoint/2010/main" val="3891006998"/>
              </p:ext>
            </p:extLst>
          </p:nvPr>
        </p:nvGraphicFramePr>
        <p:xfrm>
          <a:off x="4776788" y="2151063"/>
          <a:ext cx="2616200" cy="444500"/>
        </p:xfrm>
        <a:graphic>
          <a:graphicData uri="http://schemas.openxmlformats.org/presentationml/2006/ole">
            <mc:AlternateContent xmlns:mc="http://schemas.openxmlformats.org/markup-compatibility/2006">
              <mc:Choice xmlns:v="urn:schemas-microsoft-com:vml" Requires="v">
                <p:oleObj name="Equation" r:id="rId6" imgW="2616120" imgH="444240" progId="Equation.DSMT4">
                  <p:embed/>
                </p:oleObj>
              </mc:Choice>
              <mc:Fallback>
                <p:oleObj name="Equation" r:id="rId6" imgW="2616120" imgH="444240" progId="Equation.DSMT4">
                  <p:embed/>
                  <p:pic>
                    <p:nvPicPr>
                      <p:cNvPr id="0" name=""/>
                      <p:cNvPicPr/>
                      <p:nvPr/>
                    </p:nvPicPr>
                    <p:blipFill>
                      <a:blip r:embed="rId7"/>
                      <a:stretch>
                        <a:fillRect/>
                      </a:stretch>
                    </p:blipFill>
                    <p:spPr>
                      <a:xfrm>
                        <a:off x="4776788" y="2151063"/>
                        <a:ext cx="2616200" cy="444500"/>
                      </a:xfrm>
                      <a:prstGeom prst="rect">
                        <a:avLst/>
                      </a:prstGeom>
                    </p:spPr>
                  </p:pic>
                </p:oleObj>
              </mc:Fallback>
            </mc:AlternateContent>
          </a:graphicData>
        </a:graphic>
      </p:graphicFrame>
      <p:sp>
        <p:nvSpPr>
          <p:cNvPr id="69" name="TextBox 68"/>
          <p:cNvSpPr txBox="1"/>
          <p:nvPr/>
        </p:nvSpPr>
        <p:spPr>
          <a:xfrm>
            <a:off x="7365685" y="2175505"/>
            <a:ext cx="1600118" cy="369332"/>
          </a:xfrm>
          <a:prstGeom prst="rect">
            <a:avLst/>
          </a:prstGeom>
          <a:noFill/>
        </p:spPr>
        <p:txBody>
          <a:bodyPr wrap="none" rtlCol="0">
            <a:spAutoFit/>
          </a:bodyPr>
          <a:lstStyle/>
          <a:p>
            <a:pPr algn="just" rtl="1"/>
            <a:r>
              <a:rPr lang="fa-IR" dirty="0">
                <a:cs typeface="B Roya" panose="00000400000000000000" pitchFamily="2" charset="-78"/>
              </a:rPr>
              <a:t>ضریب دسته‏بند </a:t>
            </a:r>
            <a:r>
              <a:rPr lang="en-US" dirty="0">
                <a:cs typeface="B Roya" panose="00000400000000000000" pitchFamily="2" charset="-78"/>
              </a:rPr>
              <a:t>h</a:t>
            </a:r>
            <a:r>
              <a:rPr lang="en-US" baseline="-25000" dirty="0">
                <a:cs typeface="B Roya" panose="00000400000000000000" pitchFamily="2" charset="-78"/>
              </a:rPr>
              <a:t>2</a:t>
            </a:r>
            <a:endParaRPr lang="en-US" dirty="0">
              <a:cs typeface="B Roya" panose="00000400000000000000" pitchFamily="2" charset="-78"/>
            </a:endParaRPr>
          </a:p>
        </p:txBody>
      </p:sp>
      <p:sp>
        <p:nvSpPr>
          <p:cNvPr id="70" name="TextBox 69"/>
          <p:cNvSpPr txBox="1"/>
          <p:nvPr/>
        </p:nvSpPr>
        <p:spPr>
          <a:xfrm>
            <a:off x="7365685" y="2711882"/>
            <a:ext cx="1874232" cy="369332"/>
          </a:xfrm>
          <a:prstGeom prst="rect">
            <a:avLst/>
          </a:prstGeom>
          <a:noFill/>
        </p:spPr>
        <p:txBody>
          <a:bodyPr wrap="none" rtlCol="0">
            <a:spAutoFit/>
          </a:bodyPr>
          <a:lstStyle/>
          <a:p>
            <a:pPr algn="just" rtl="1"/>
            <a:r>
              <a:rPr lang="fa-IR" dirty="0">
                <a:cs typeface="B Roya" panose="00000400000000000000" pitchFamily="2" charset="-78"/>
              </a:rPr>
              <a:t>محاسبۀ وزن‏های جدید:</a:t>
            </a:r>
            <a:endParaRPr lang="en-US" dirty="0">
              <a:cs typeface="B Roya" panose="00000400000000000000" pitchFamily="2" charset="-78"/>
            </a:endParaRPr>
          </a:p>
        </p:txBody>
      </p:sp>
      <p:sp>
        <p:nvSpPr>
          <p:cNvPr id="73" name="TextBox 72"/>
          <p:cNvSpPr txBox="1"/>
          <p:nvPr/>
        </p:nvSpPr>
        <p:spPr>
          <a:xfrm>
            <a:off x="5598108" y="3017198"/>
            <a:ext cx="1584088" cy="369332"/>
          </a:xfrm>
          <a:prstGeom prst="rect">
            <a:avLst/>
          </a:prstGeom>
          <a:noFill/>
        </p:spPr>
        <p:txBody>
          <a:bodyPr wrap="none" rtlCol="0">
            <a:spAutoFit/>
          </a:bodyPr>
          <a:lstStyle/>
          <a:p>
            <a:pPr algn="just" rtl="1"/>
            <a:r>
              <a:rPr lang="fa-IR" dirty="0">
                <a:cs typeface="B Roya" panose="00000400000000000000" pitchFamily="2" charset="-78"/>
              </a:rPr>
              <a:t>دسته‏بندی نادرست</a:t>
            </a:r>
            <a:endParaRPr lang="en-US" dirty="0">
              <a:cs typeface="B Roya" panose="00000400000000000000" pitchFamily="2" charset="-78"/>
            </a:endParaRPr>
          </a:p>
        </p:txBody>
      </p:sp>
      <p:sp>
        <p:nvSpPr>
          <p:cNvPr id="74" name="TextBox 73"/>
          <p:cNvSpPr txBox="1"/>
          <p:nvPr/>
        </p:nvSpPr>
        <p:spPr>
          <a:xfrm>
            <a:off x="5697494" y="3450489"/>
            <a:ext cx="1484702" cy="369332"/>
          </a:xfrm>
          <a:prstGeom prst="rect">
            <a:avLst/>
          </a:prstGeom>
          <a:noFill/>
        </p:spPr>
        <p:txBody>
          <a:bodyPr wrap="none" rtlCol="0">
            <a:spAutoFit/>
          </a:bodyPr>
          <a:lstStyle/>
          <a:p>
            <a:pPr algn="just" rtl="1"/>
            <a:r>
              <a:rPr lang="fa-IR" dirty="0">
                <a:cs typeface="B Roya" panose="00000400000000000000" pitchFamily="2" charset="-78"/>
              </a:rPr>
              <a:t>دسته‏بندی درست</a:t>
            </a:r>
            <a:endParaRPr lang="en-US" dirty="0">
              <a:cs typeface="B Roya" panose="00000400000000000000" pitchFamily="2" charset="-78"/>
            </a:endParaRPr>
          </a:p>
        </p:txBody>
      </p:sp>
      <p:sp>
        <p:nvSpPr>
          <p:cNvPr id="75" name="Left Arrow 74"/>
          <p:cNvSpPr/>
          <p:nvPr/>
        </p:nvSpPr>
        <p:spPr>
          <a:xfrm>
            <a:off x="5292541"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Left Arrow 75"/>
          <p:cNvSpPr/>
          <p:nvPr/>
        </p:nvSpPr>
        <p:spPr>
          <a:xfrm>
            <a:off x="5292541"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9384162" y="5650018"/>
            <a:ext cx="1231427" cy="369332"/>
          </a:xfrm>
          <a:prstGeom prst="rect">
            <a:avLst/>
          </a:prstGeom>
          <a:noFill/>
        </p:spPr>
        <p:txBody>
          <a:bodyPr wrap="none" rtlCol="0">
            <a:spAutoFit/>
          </a:bodyPr>
          <a:lstStyle/>
          <a:p>
            <a:pPr algn="just" rtl="1"/>
            <a:r>
              <a:rPr lang="fa-IR" dirty="0">
                <a:cs typeface="B Roya" panose="00000400000000000000" pitchFamily="2" charset="-78"/>
              </a:rPr>
              <a:t>وزن‏های جدید</a:t>
            </a:r>
            <a:endParaRPr lang="en-US" dirty="0">
              <a:cs typeface="B Roya" panose="00000400000000000000" pitchFamily="2" charset="-78"/>
            </a:endParaRPr>
          </a:p>
        </p:txBody>
      </p:sp>
      <p:sp>
        <p:nvSpPr>
          <p:cNvPr id="79" name="TextBox 78"/>
          <p:cNvSpPr txBox="1"/>
          <p:nvPr/>
        </p:nvSpPr>
        <p:spPr>
          <a:xfrm>
            <a:off x="9461106" y="5275924"/>
            <a:ext cx="1154483" cy="369332"/>
          </a:xfrm>
          <a:prstGeom prst="rect">
            <a:avLst/>
          </a:prstGeom>
          <a:noFill/>
        </p:spPr>
        <p:txBody>
          <a:bodyPr wrap="none" rtlCol="0">
            <a:spAutoFit/>
          </a:bodyPr>
          <a:lstStyle/>
          <a:p>
            <a:pPr algn="just" rtl="1"/>
            <a:r>
              <a:rPr lang="fa-IR" dirty="0">
                <a:cs typeface="B Roya" panose="00000400000000000000" pitchFamily="2" charset="-78"/>
              </a:rPr>
              <a:t>وزن‏های اولیۀ</a:t>
            </a:r>
            <a:endParaRPr lang="en-US" dirty="0">
              <a:cs typeface="B Roya" panose="00000400000000000000" pitchFamily="2" charset="-78"/>
            </a:endParaRPr>
          </a:p>
        </p:txBody>
      </p:sp>
      <p:sp>
        <p:nvSpPr>
          <p:cNvPr id="80" name="TextBox 79"/>
          <p:cNvSpPr txBox="1"/>
          <p:nvPr/>
        </p:nvSpPr>
        <p:spPr>
          <a:xfrm>
            <a:off x="9061959" y="6009825"/>
            <a:ext cx="1553630" cy="369332"/>
          </a:xfrm>
          <a:prstGeom prst="rect">
            <a:avLst/>
          </a:prstGeom>
          <a:noFill/>
        </p:spPr>
        <p:txBody>
          <a:bodyPr wrap="none" rtlCol="0">
            <a:spAutoFit/>
          </a:bodyPr>
          <a:lstStyle/>
          <a:p>
            <a:pPr algn="just" rtl="1"/>
            <a:r>
              <a:rPr lang="fa-IR" dirty="0">
                <a:cs typeface="B Roya" panose="00000400000000000000" pitchFamily="2" charset="-78"/>
              </a:rPr>
              <a:t>نرمال کردن وزن‏ها</a:t>
            </a:r>
            <a:endParaRPr lang="en-US" dirty="0">
              <a:cs typeface="B Roya" panose="00000400000000000000" pitchFamily="2" charset="-78"/>
            </a:endParaRPr>
          </a:p>
        </p:txBody>
      </p:sp>
      <p:graphicFrame>
        <p:nvGraphicFramePr>
          <p:cNvPr id="81" name="Object 80"/>
          <p:cNvGraphicFramePr>
            <a:graphicFrameLocks noChangeAspect="1"/>
          </p:cNvGraphicFramePr>
          <p:nvPr>
            <p:extLst>
              <p:ext uri="{D42A27DB-BD31-4B8C-83A1-F6EECF244321}">
                <p14:modId xmlns:p14="http://schemas.microsoft.com/office/powerpoint/2010/main" val="3871237112"/>
              </p:ext>
            </p:extLst>
          </p:nvPr>
        </p:nvGraphicFramePr>
        <p:xfrm>
          <a:off x="3036888" y="3074988"/>
          <a:ext cx="1638300" cy="254000"/>
        </p:xfrm>
        <a:graphic>
          <a:graphicData uri="http://schemas.openxmlformats.org/presentationml/2006/ole">
            <mc:AlternateContent xmlns:mc="http://schemas.openxmlformats.org/markup-compatibility/2006">
              <mc:Choice xmlns:v="urn:schemas-microsoft-com:vml" Requires="v">
                <p:oleObj name="Equation" r:id="rId8" imgW="1638000" imgH="253800" progId="Equation.DSMT4">
                  <p:embed/>
                </p:oleObj>
              </mc:Choice>
              <mc:Fallback>
                <p:oleObj name="Equation" r:id="rId8" imgW="1638000" imgH="253800" progId="Equation.DSMT4">
                  <p:embed/>
                  <p:pic>
                    <p:nvPicPr>
                      <p:cNvPr id="0" name=""/>
                      <p:cNvPicPr/>
                      <p:nvPr/>
                    </p:nvPicPr>
                    <p:blipFill>
                      <a:blip r:embed="rId9"/>
                      <a:stretch>
                        <a:fillRect/>
                      </a:stretch>
                    </p:blipFill>
                    <p:spPr>
                      <a:xfrm>
                        <a:off x="3036888" y="3074988"/>
                        <a:ext cx="1638300" cy="2540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3857594175"/>
              </p:ext>
            </p:extLst>
          </p:nvPr>
        </p:nvGraphicFramePr>
        <p:xfrm>
          <a:off x="3036888" y="3508375"/>
          <a:ext cx="2184400" cy="254000"/>
        </p:xfrm>
        <a:graphic>
          <a:graphicData uri="http://schemas.openxmlformats.org/presentationml/2006/ole">
            <mc:AlternateContent xmlns:mc="http://schemas.openxmlformats.org/markup-compatibility/2006">
              <mc:Choice xmlns:v="urn:schemas-microsoft-com:vml" Requires="v">
                <p:oleObj name="Equation" r:id="rId10" imgW="2184120" imgH="253800" progId="Equation.DSMT4">
                  <p:embed/>
                </p:oleObj>
              </mc:Choice>
              <mc:Fallback>
                <p:oleObj name="Equation" r:id="rId10" imgW="2184120" imgH="253800" progId="Equation.DSMT4">
                  <p:embed/>
                  <p:pic>
                    <p:nvPicPr>
                      <p:cNvPr id="0" name=""/>
                      <p:cNvPicPr/>
                      <p:nvPr/>
                    </p:nvPicPr>
                    <p:blipFill>
                      <a:blip r:embed="rId11"/>
                      <a:stretch>
                        <a:fillRect/>
                      </a:stretch>
                    </p:blipFill>
                    <p:spPr>
                      <a:xfrm>
                        <a:off x="3036888" y="3508375"/>
                        <a:ext cx="2184400" cy="254000"/>
                      </a:xfrm>
                      <a:prstGeom prst="rect">
                        <a:avLst/>
                      </a:prstGeom>
                    </p:spPr>
                  </p:pic>
                </p:oleObj>
              </mc:Fallback>
            </mc:AlternateContent>
          </a:graphicData>
        </a:graphic>
      </p:graphicFrame>
      <p:graphicFrame>
        <p:nvGraphicFramePr>
          <p:cNvPr id="83" name="Object 82"/>
          <p:cNvGraphicFramePr>
            <a:graphicFrameLocks noChangeAspect="1"/>
          </p:cNvGraphicFramePr>
          <p:nvPr>
            <p:extLst>
              <p:ext uri="{D42A27DB-BD31-4B8C-83A1-F6EECF244321}">
                <p14:modId xmlns:p14="http://schemas.microsoft.com/office/powerpoint/2010/main" val="3534923059"/>
              </p:ext>
            </p:extLst>
          </p:nvPr>
        </p:nvGraphicFramePr>
        <p:xfrm>
          <a:off x="1179513" y="3106738"/>
          <a:ext cx="1422400" cy="190500"/>
        </p:xfrm>
        <a:graphic>
          <a:graphicData uri="http://schemas.openxmlformats.org/presentationml/2006/ole">
            <mc:AlternateContent xmlns:mc="http://schemas.openxmlformats.org/markup-compatibility/2006">
              <mc:Choice xmlns:v="urn:schemas-microsoft-com:vml" Requires="v">
                <p:oleObj name="Equation" r:id="rId12" imgW="1422360" imgH="190440" progId="Equation.DSMT4">
                  <p:embed/>
                </p:oleObj>
              </mc:Choice>
              <mc:Fallback>
                <p:oleObj name="Equation" r:id="rId12" imgW="1422360" imgH="190440" progId="Equation.DSMT4">
                  <p:embed/>
                  <p:pic>
                    <p:nvPicPr>
                      <p:cNvPr id="0" name=""/>
                      <p:cNvPicPr/>
                      <p:nvPr/>
                    </p:nvPicPr>
                    <p:blipFill>
                      <a:blip r:embed="rId13"/>
                      <a:stretch>
                        <a:fillRect/>
                      </a:stretch>
                    </p:blipFill>
                    <p:spPr>
                      <a:xfrm>
                        <a:off x="1179513" y="3106738"/>
                        <a:ext cx="1422400" cy="190500"/>
                      </a:xfrm>
                      <a:prstGeom prst="rect">
                        <a:avLst/>
                      </a:prstGeom>
                    </p:spPr>
                  </p:pic>
                </p:oleObj>
              </mc:Fallback>
            </mc:AlternateContent>
          </a:graphicData>
        </a:graphic>
      </p:graphicFrame>
      <p:graphicFrame>
        <p:nvGraphicFramePr>
          <p:cNvPr id="84" name="Object 83"/>
          <p:cNvGraphicFramePr>
            <a:graphicFrameLocks noChangeAspect="1"/>
          </p:cNvGraphicFramePr>
          <p:nvPr>
            <p:extLst>
              <p:ext uri="{D42A27DB-BD31-4B8C-83A1-F6EECF244321}">
                <p14:modId xmlns:p14="http://schemas.microsoft.com/office/powerpoint/2010/main" val="2916039720"/>
              </p:ext>
            </p:extLst>
          </p:nvPr>
        </p:nvGraphicFramePr>
        <p:xfrm>
          <a:off x="1179513" y="3451225"/>
          <a:ext cx="1422400" cy="368300"/>
        </p:xfrm>
        <a:graphic>
          <a:graphicData uri="http://schemas.openxmlformats.org/presentationml/2006/ole">
            <mc:AlternateContent xmlns:mc="http://schemas.openxmlformats.org/markup-compatibility/2006">
              <mc:Choice xmlns:v="urn:schemas-microsoft-com:vml" Requires="v">
                <p:oleObj name="Equation" r:id="rId14" imgW="1422360" imgH="368280" progId="Equation.DSMT4">
                  <p:embed/>
                </p:oleObj>
              </mc:Choice>
              <mc:Fallback>
                <p:oleObj name="Equation" r:id="rId14" imgW="1422360" imgH="368280" progId="Equation.DSMT4">
                  <p:embed/>
                  <p:pic>
                    <p:nvPicPr>
                      <p:cNvPr id="0" name=""/>
                      <p:cNvPicPr/>
                      <p:nvPr/>
                    </p:nvPicPr>
                    <p:blipFill>
                      <a:blip r:embed="rId15"/>
                      <a:stretch>
                        <a:fillRect/>
                      </a:stretch>
                    </p:blipFill>
                    <p:spPr>
                      <a:xfrm>
                        <a:off x="1179513" y="3451225"/>
                        <a:ext cx="1422400" cy="368300"/>
                      </a:xfrm>
                      <a:prstGeom prst="rect">
                        <a:avLst/>
                      </a:prstGeom>
                    </p:spPr>
                  </p:pic>
                </p:oleObj>
              </mc:Fallback>
            </mc:AlternateContent>
          </a:graphicData>
        </a:graphic>
      </p:graphicFrame>
      <p:sp>
        <p:nvSpPr>
          <p:cNvPr id="85" name="Left Arrow 84"/>
          <p:cNvSpPr/>
          <p:nvPr/>
        </p:nvSpPr>
        <p:spPr>
          <a:xfrm>
            <a:off x="2635514"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Left Arrow 85"/>
          <p:cNvSpPr/>
          <p:nvPr/>
        </p:nvSpPr>
        <p:spPr>
          <a:xfrm>
            <a:off x="2635514"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7365685" y="3970996"/>
            <a:ext cx="1553630" cy="369332"/>
          </a:xfrm>
          <a:prstGeom prst="rect">
            <a:avLst/>
          </a:prstGeom>
          <a:noFill/>
        </p:spPr>
        <p:txBody>
          <a:bodyPr wrap="none" rtlCol="0">
            <a:spAutoFit/>
          </a:bodyPr>
          <a:lstStyle/>
          <a:p>
            <a:pPr algn="just" rtl="1"/>
            <a:r>
              <a:rPr lang="fa-IR" dirty="0">
                <a:cs typeface="B Roya" panose="00000400000000000000" pitchFamily="2" charset="-78"/>
              </a:rPr>
              <a:t>نرمال کردن وزن‏ها</a:t>
            </a:r>
            <a:endParaRPr lang="en-US" dirty="0">
              <a:cs typeface="B Roya" panose="00000400000000000000" pitchFamily="2" charset="-78"/>
            </a:endParaRPr>
          </a:p>
        </p:txBody>
      </p:sp>
      <p:graphicFrame>
        <p:nvGraphicFramePr>
          <p:cNvPr id="89" name="Object 88"/>
          <p:cNvGraphicFramePr>
            <a:graphicFrameLocks noChangeAspect="1"/>
          </p:cNvGraphicFramePr>
          <p:nvPr>
            <p:extLst>
              <p:ext uri="{D42A27DB-BD31-4B8C-83A1-F6EECF244321}">
                <p14:modId xmlns:p14="http://schemas.microsoft.com/office/powerpoint/2010/main" val="2520438781"/>
              </p:ext>
            </p:extLst>
          </p:nvPr>
        </p:nvGraphicFramePr>
        <p:xfrm>
          <a:off x="5362575" y="3939762"/>
          <a:ext cx="1612900" cy="431800"/>
        </p:xfrm>
        <a:graphic>
          <a:graphicData uri="http://schemas.openxmlformats.org/presentationml/2006/ole">
            <mc:AlternateContent xmlns:mc="http://schemas.openxmlformats.org/markup-compatibility/2006">
              <mc:Choice xmlns:v="urn:schemas-microsoft-com:vml" Requires="v">
                <p:oleObj name="Equation" r:id="rId16" imgW="1612800" imgH="431640" progId="Equation.DSMT4">
                  <p:embed/>
                </p:oleObj>
              </mc:Choice>
              <mc:Fallback>
                <p:oleObj name="Equation" r:id="rId16" imgW="1612800" imgH="431640" progId="Equation.DSMT4">
                  <p:embed/>
                  <p:pic>
                    <p:nvPicPr>
                      <p:cNvPr id="0" name=""/>
                      <p:cNvPicPr/>
                      <p:nvPr/>
                    </p:nvPicPr>
                    <p:blipFill>
                      <a:blip r:embed="rId17"/>
                      <a:stretch>
                        <a:fillRect/>
                      </a:stretch>
                    </p:blipFill>
                    <p:spPr>
                      <a:xfrm>
                        <a:off x="5362575" y="3939762"/>
                        <a:ext cx="1612900" cy="431800"/>
                      </a:xfrm>
                      <a:prstGeom prst="rect">
                        <a:avLst/>
                      </a:prstGeom>
                    </p:spPr>
                  </p:pic>
                </p:oleObj>
              </mc:Fallback>
            </mc:AlternateContent>
          </a:graphicData>
        </a:graphic>
      </p:graphicFrame>
      <p:graphicFrame>
        <p:nvGraphicFramePr>
          <p:cNvPr id="90" name="Object 89"/>
          <p:cNvGraphicFramePr>
            <a:graphicFrameLocks noChangeAspect="1"/>
          </p:cNvGraphicFramePr>
          <p:nvPr>
            <p:extLst>
              <p:ext uri="{D42A27DB-BD31-4B8C-83A1-F6EECF244321}">
                <p14:modId xmlns:p14="http://schemas.microsoft.com/office/powerpoint/2010/main" val="829465643"/>
              </p:ext>
            </p:extLst>
          </p:nvPr>
        </p:nvGraphicFramePr>
        <p:xfrm>
          <a:off x="1185863" y="3952875"/>
          <a:ext cx="3429000" cy="406400"/>
        </p:xfrm>
        <a:graphic>
          <a:graphicData uri="http://schemas.openxmlformats.org/presentationml/2006/ole">
            <mc:AlternateContent xmlns:mc="http://schemas.openxmlformats.org/markup-compatibility/2006">
              <mc:Choice xmlns:v="urn:schemas-microsoft-com:vml" Requires="v">
                <p:oleObj name="Equation" r:id="rId18" imgW="3429000" imgH="406080" progId="Equation.DSMT4">
                  <p:embed/>
                </p:oleObj>
              </mc:Choice>
              <mc:Fallback>
                <p:oleObj name="Equation" r:id="rId18" imgW="3429000" imgH="406080" progId="Equation.DSMT4">
                  <p:embed/>
                  <p:pic>
                    <p:nvPicPr>
                      <p:cNvPr id="0" name=""/>
                      <p:cNvPicPr/>
                      <p:nvPr/>
                    </p:nvPicPr>
                    <p:blipFill>
                      <a:blip r:embed="rId19"/>
                      <a:stretch>
                        <a:fillRect/>
                      </a:stretch>
                    </p:blipFill>
                    <p:spPr>
                      <a:xfrm>
                        <a:off x="1185863" y="3952875"/>
                        <a:ext cx="3429000" cy="406400"/>
                      </a:xfrm>
                      <a:prstGeom prst="rect">
                        <a:avLst/>
                      </a:prstGeom>
                    </p:spPr>
                  </p:pic>
                </p:oleObj>
              </mc:Fallback>
            </mc:AlternateContent>
          </a:graphicData>
        </a:graphic>
      </p:graphicFrame>
      <p:sp>
        <p:nvSpPr>
          <p:cNvPr id="91" name="Left Arrow 90"/>
          <p:cNvSpPr/>
          <p:nvPr/>
        </p:nvSpPr>
        <p:spPr>
          <a:xfrm rot="10800000">
            <a:off x="1448289" y="4513004"/>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2" name="Object 91"/>
          <p:cNvGraphicFramePr>
            <a:graphicFrameLocks noChangeAspect="1"/>
          </p:cNvGraphicFramePr>
          <p:nvPr>
            <p:extLst>
              <p:ext uri="{D42A27DB-BD31-4B8C-83A1-F6EECF244321}">
                <p14:modId xmlns:p14="http://schemas.microsoft.com/office/powerpoint/2010/main" val="2298507658"/>
              </p:ext>
            </p:extLst>
          </p:nvPr>
        </p:nvGraphicFramePr>
        <p:xfrm>
          <a:off x="2052638" y="4421188"/>
          <a:ext cx="1536700" cy="368300"/>
        </p:xfrm>
        <a:graphic>
          <a:graphicData uri="http://schemas.openxmlformats.org/presentationml/2006/ole">
            <mc:AlternateContent xmlns:mc="http://schemas.openxmlformats.org/markup-compatibility/2006">
              <mc:Choice xmlns:v="urn:schemas-microsoft-com:vml" Requires="v">
                <p:oleObj name="Equation" r:id="rId20" imgW="1536480" imgH="368280" progId="Equation.DSMT4">
                  <p:embed/>
                </p:oleObj>
              </mc:Choice>
              <mc:Fallback>
                <p:oleObj name="Equation" r:id="rId20" imgW="1536480" imgH="368280" progId="Equation.DSMT4">
                  <p:embed/>
                  <p:pic>
                    <p:nvPicPr>
                      <p:cNvPr id="0" name=""/>
                      <p:cNvPicPr/>
                      <p:nvPr/>
                    </p:nvPicPr>
                    <p:blipFill>
                      <a:blip r:embed="rId21"/>
                      <a:stretch>
                        <a:fillRect/>
                      </a:stretch>
                    </p:blipFill>
                    <p:spPr>
                      <a:xfrm>
                        <a:off x="2052638" y="4421188"/>
                        <a:ext cx="1536700" cy="368300"/>
                      </a:xfrm>
                      <a:prstGeom prst="rect">
                        <a:avLst/>
                      </a:prstGeom>
                    </p:spPr>
                  </p:pic>
                </p:oleObj>
              </mc:Fallback>
            </mc:AlternateContent>
          </a:graphicData>
        </a:graphic>
      </p:graphicFrame>
      <p:graphicFrame>
        <p:nvGraphicFramePr>
          <p:cNvPr id="93" name="Object 92"/>
          <p:cNvGraphicFramePr>
            <a:graphicFrameLocks noChangeAspect="1"/>
          </p:cNvGraphicFramePr>
          <p:nvPr>
            <p:extLst>
              <p:ext uri="{D42A27DB-BD31-4B8C-83A1-F6EECF244321}">
                <p14:modId xmlns:p14="http://schemas.microsoft.com/office/powerpoint/2010/main" val="3267733850"/>
              </p:ext>
            </p:extLst>
          </p:nvPr>
        </p:nvGraphicFramePr>
        <p:xfrm>
          <a:off x="3702050" y="4421188"/>
          <a:ext cx="1727200" cy="368300"/>
        </p:xfrm>
        <a:graphic>
          <a:graphicData uri="http://schemas.openxmlformats.org/presentationml/2006/ole">
            <mc:AlternateContent xmlns:mc="http://schemas.openxmlformats.org/markup-compatibility/2006">
              <mc:Choice xmlns:v="urn:schemas-microsoft-com:vml" Requires="v">
                <p:oleObj name="Equation" r:id="rId22" imgW="1726920" imgH="368280" progId="Equation.DSMT4">
                  <p:embed/>
                </p:oleObj>
              </mc:Choice>
              <mc:Fallback>
                <p:oleObj name="Equation" r:id="rId22" imgW="1726920" imgH="368280" progId="Equation.DSMT4">
                  <p:embed/>
                  <p:pic>
                    <p:nvPicPr>
                      <p:cNvPr id="0" name=""/>
                      <p:cNvPicPr/>
                      <p:nvPr/>
                    </p:nvPicPr>
                    <p:blipFill>
                      <a:blip r:embed="rId23"/>
                      <a:stretch>
                        <a:fillRect/>
                      </a:stretch>
                    </p:blipFill>
                    <p:spPr>
                      <a:xfrm>
                        <a:off x="3702050" y="4421188"/>
                        <a:ext cx="1727200" cy="368300"/>
                      </a:xfrm>
                      <a:prstGeom prst="rect">
                        <a:avLst/>
                      </a:prstGeom>
                    </p:spPr>
                  </p:pic>
                </p:oleObj>
              </mc:Fallback>
            </mc:AlternateContent>
          </a:graphicData>
        </a:graphic>
      </p:graphicFrame>
      <p:graphicFrame>
        <p:nvGraphicFramePr>
          <p:cNvPr id="95" name="Object 94"/>
          <p:cNvGraphicFramePr>
            <a:graphicFrameLocks noChangeAspect="1"/>
          </p:cNvGraphicFramePr>
          <p:nvPr>
            <p:extLst>
              <p:ext uri="{D42A27DB-BD31-4B8C-83A1-F6EECF244321}">
                <p14:modId xmlns:p14="http://schemas.microsoft.com/office/powerpoint/2010/main" val="221771872"/>
              </p:ext>
            </p:extLst>
          </p:nvPr>
        </p:nvGraphicFramePr>
        <p:xfrm>
          <a:off x="5643563" y="4421188"/>
          <a:ext cx="1625600" cy="368300"/>
        </p:xfrm>
        <a:graphic>
          <a:graphicData uri="http://schemas.openxmlformats.org/presentationml/2006/ole">
            <mc:AlternateContent xmlns:mc="http://schemas.openxmlformats.org/markup-compatibility/2006">
              <mc:Choice xmlns:v="urn:schemas-microsoft-com:vml" Requires="v">
                <p:oleObj name="Equation" r:id="rId24" imgW="1625400" imgH="368280" progId="Equation.DSMT4">
                  <p:embed/>
                </p:oleObj>
              </mc:Choice>
              <mc:Fallback>
                <p:oleObj name="Equation" r:id="rId24" imgW="1625400" imgH="368280" progId="Equation.DSMT4">
                  <p:embed/>
                  <p:pic>
                    <p:nvPicPr>
                      <p:cNvPr id="0" name=""/>
                      <p:cNvPicPr/>
                      <p:nvPr/>
                    </p:nvPicPr>
                    <p:blipFill>
                      <a:blip r:embed="rId25"/>
                      <a:stretch>
                        <a:fillRect/>
                      </a:stretch>
                    </p:blipFill>
                    <p:spPr>
                      <a:xfrm>
                        <a:off x="5643563" y="4421188"/>
                        <a:ext cx="1625600" cy="368300"/>
                      </a:xfrm>
                      <a:prstGeom prst="rect">
                        <a:avLst/>
                      </a:prstGeom>
                    </p:spPr>
                  </p:pic>
                </p:oleObj>
              </mc:Fallback>
            </mc:AlternateContent>
          </a:graphicData>
        </a:graphic>
      </p:graphicFrame>
      <p:grpSp>
        <p:nvGrpSpPr>
          <p:cNvPr id="269" name="Group 268"/>
          <p:cNvGrpSpPr/>
          <p:nvPr/>
        </p:nvGrpSpPr>
        <p:grpSpPr>
          <a:xfrm>
            <a:off x="922375" y="954189"/>
            <a:ext cx="3857986" cy="1747127"/>
            <a:chOff x="910824" y="2793453"/>
            <a:chExt cx="3857986" cy="1747127"/>
          </a:xfrm>
        </p:grpSpPr>
        <p:grpSp>
          <p:nvGrpSpPr>
            <p:cNvPr id="270" name="Group 269"/>
            <p:cNvGrpSpPr/>
            <p:nvPr/>
          </p:nvGrpSpPr>
          <p:grpSpPr>
            <a:xfrm>
              <a:off x="910824" y="2798719"/>
              <a:ext cx="1499870" cy="1456055"/>
              <a:chOff x="914400" y="970280"/>
              <a:chExt cx="1499870" cy="1456055"/>
            </a:xfrm>
          </p:grpSpPr>
          <p:sp>
            <p:nvSpPr>
              <p:cNvPr id="305" name="Rectangle 304"/>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6" name="Plus 305"/>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7" name="Minus 306"/>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8"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309"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310"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311"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312"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313"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314"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315"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316"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317"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318" name="Plus 317"/>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9" name="Plus 318"/>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0" name="Plus 319"/>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1" name="Plus 320"/>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2" name="Minus 321"/>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3" name="Minus 322"/>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4" name="Minus 323"/>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5" name="Minus 324"/>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1" name="Right Arrow 270"/>
            <p:cNvSpPr/>
            <p:nvPr/>
          </p:nvSpPr>
          <p:spPr>
            <a:xfrm>
              <a:off x="2597150" y="3412446"/>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2" name="Rectangle 271"/>
            <p:cNvSpPr/>
            <p:nvPr/>
          </p:nvSpPr>
          <p:spPr>
            <a:xfrm>
              <a:off x="3264121" y="2836847"/>
              <a:ext cx="1173261" cy="1370559"/>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p:cNvSpPr/>
            <p:nvPr/>
          </p:nvSpPr>
          <p:spPr>
            <a:xfrm>
              <a:off x="4437865" y="2836846"/>
              <a:ext cx="273162" cy="1370559"/>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TextBox 273"/>
            <p:cNvSpPr txBox="1"/>
            <p:nvPr/>
          </p:nvSpPr>
          <p:spPr>
            <a:xfrm>
              <a:off x="4270369" y="4171248"/>
              <a:ext cx="391453" cy="369332"/>
            </a:xfrm>
            <a:prstGeom prst="rect">
              <a:avLst/>
            </a:prstGeom>
            <a:noFill/>
          </p:spPr>
          <p:txBody>
            <a:bodyPr wrap="none" rtlCol="0">
              <a:spAutoFit/>
            </a:bodyPr>
            <a:lstStyle/>
            <a:p>
              <a:pPr algn="just" rtl="1"/>
              <a:r>
                <a:rPr lang="en-US" dirty="0">
                  <a:cs typeface="B Roya" panose="00000400000000000000" pitchFamily="2" charset="-78"/>
                </a:rPr>
                <a:t>h</a:t>
              </a:r>
              <a:r>
                <a:rPr lang="en-US" baseline="-25000" dirty="0">
                  <a:cs typeface="B Roya" panose="00000400000000000000" pitchFamily="2" charset="-78"/>
                </a:rPr>
                <a:t>2</a:t>
              </a:r>
              <a:endParaRPr lang="en-US" dirty="0">
                <a:cs typeface="B Roya" panose="00000400000000000000" pitchFamily="2" charset="-78"/>
              </a:endParaRPr>
            </a:p>
          </p:txBody>
        </p:sp>
        <p:grpSp>
          <p:nvGrpSpPr>
            <p:cNvPr id="275" name="Group 274"/>
            <p:cNvGrpSpPr/>
            <p:nvPr/>
          </p:nvGrpSpPr>
          <p:grpSpPr>
            <a:xfrm>
              <a:off x="3268940" y="2798719"/>
              <a:ext cx="1499870" cy="1456055"/>
              <a:chOff x="914400" y="970280"/>
              <a:chExt cx="1499870" cy="1456055"/>
            </a:xfrm>
          </p:grpSpPr>
          <p:sp>
            <p:nvSpPr>
              <p:cNvPr id="284" name="Rectangle 283"/>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5" name="Plus 284"/>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6" name="Minus 285"/>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7"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288"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289"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290"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291"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292"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293"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294"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295"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296"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297" name="Plus 296"/>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8" name="Plus 297"/>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9" name="Plus 298"/>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0" name="Plus 299"/>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1" name="Minus 300"/>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2" name="Minus 301"/>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3" name="Minus 302"/>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4" name="Minus 303"/>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6" name="Oval 275"/>
            <p:cNvSpPr/>
            <p:nvPr/>
          </p:nvSpPr>
          <p:spPr>
            <a:xfrm>
              <a:off x="3599462" y="398160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7" name="Oval 276"/>
            <p:cNvSpPr/>
            <p:nvPr/>
          </p:nvSpPr>
          <p:spPr>
            <a:xfrm>
              <a:off x="3583579" y="33003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8" name="Oval 277"/>
            <p:cNvSpPr/>
            <p:nvPr/>
          </p:nvSpPr>
          <p:spPr>
            <a:xfrm>
              <a:off x="3887080" y="3378154"/>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79" name="Group 278"/>
            <p:cNvGrpSpPr/>
            <p:nvPr/>
          </p:nvGrpSpPr>
          <p:grpSpPr>
            <a:xfrm>
              <a:off x="4237881" y="2793453"/>
              <a:ext cx="408940" cy="919480"/>
              <a:chOff x="3533933" y="1211032"/>
              <a:chExt cx="408940" cy="919480"/>
            </a:xfrm>
          </p:grpSpPr>
          <p:cxnSp>
            <p:nvCxnSpPr>
              <p:cNvPr id="280" name="Straight Arrow Connector 279"/>
              <p:cNvCxnSpPr/>
              <p:nvPr/>
            </p:nvCxnSpPr>
            <p:spPr>
              <a:xfrm>
                <a:off x="3739382"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3548570"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2"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283"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grpSp>
      <p:sp>
        <p:nvSpPr>
          <p:cNvPr id="2" name="Slide Number Placeholder 1"/>
          <p:cNvSpPr>
            <a:spLocks noGrp="1"/>
          </p:cNvSpPr>
          <p:nvPr>
            <p:ph type="sldNum" sz="quarter" idx="12"/>
          </p:nvPr>
        </p:nvSpPr>
        <p:spPr/>
        <p:txBody>
          <a:bodyPr/>
          <a:lstStyle/>
          <a:p>
            <a:fld id="{8ECB587C-A035-4190-A6F4-DC73ACEFC96D}" type="slidenum">
              <a:rPr lang="en-US" smtClean="0"/>
              <a:t>12</a:t>
            </a:fld>
            <a:endParaRPr lang="en-US"/>
          </a:p>
        </p:txBody>
      </p:sp>
    </p:spTree>
    <p:extLst>
      <p:ext uri="{BB962C8B-B14F-4D97-AF65-F5344CB8AC3E}">
        <p14:creationId xmlns:p14="http://schemas.microsoft.com/office/powerpoint/2010/main" val="4044978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0" name="Table 59"/>
          <p:cNvGraphicFramePr>
            <a:graphicFrameLocks noGrp="1"/>
          </p:cNvGraphicFramePr>
          <p:nvPr>
            <p:extLst>
              <p:ext uri="{D42A27DB-BD31-4B8C-83A1-F6EECF244321}">
                <p14:modId xmlns:p14="http://schemas.microsoft.com/office/powerpoint/2010/main" val="3322678827"/>
              </p:ext>
            </p:extLst>
          </p:nvPr>
        </p:nvGraphicFramePr>
        <p:xfrm>
          <a:off x="914400" y="4905031"/>
          <a:ext cx="8128000" cy="111252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370840">
                <a:tc>
                  <a:txBody>
                    <a:bodyPr/>
                    <a:lstStyle/>
                    <a:p>
                      <a:pPr algn="ctr"/>
                      <a:r>
                        <a:rPr lang="en-US" sz="1400" dirty="0">
                          <a:solidFill>
                            <a:schemeClr val="tx1"/>
                          </a:solidFill>
                          <a:cs typeface="B Roya" panose="00000400000000000000" pitchFamily="2" charset="-78"/>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1400" dirty="0">
                          <a:solidFill>
                            <a:schemeClr val="tx1"/>
                          </a:solidFill>
                          <a:cs typeface="B Roya" panose="00000400000000000000" pitchFamily="2" charset="-78"/>
                        </a:rPr>
                        <a:t>0.1061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0.1061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u="sng"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u="sng"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solidFill>
                            <a:schemeClr val="tx1"/>
                          </a:solidFill>
                          <a:cs typeface="B Roya" panose="00000400000000000000" pitchFamily="2" charset="-78"/>
                        </a:rPr>
                        <a:t>0.1666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0.0455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1400" dirty="0">
                          <a:solidFill>
                            <a:schemeClr val="tx1"/>
                          </a:solidFill>
                          <a:cs typeface="B Roya" panose="00000400000000000000" pitchFamily="2" charset="-78"/>
                        </a:rPr>
                        <a:t>0.0422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solidFill>
                            <a:schemeClr val="tx1"/>
                          </a:solidFill>
                          <a:cs typeface="B Roya" panose="00000400000000000000" pitchFamily="2" charset="-78"/>
                        </a:rPr>
                        <a:t>0.0422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0.0422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0.1144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0.0662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cs typeface="B Roya" panose="00000400000000000000" pitchFamily="2" charset="-78"/>
                        </a:rPr>
                        <a:t>0.0181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62" name="TextBox 61"/>
          <p:cNvSpPr txBox="1"/>
          <p:nvPr/>
        </p:nvSpPr>
        <p:spPr>
          <a:xfrm>
            <a:off x="7365685" y="1153032"/>
            <a:ext cx="3472425" cy="369332"/>
          </a:xfrm>
          <a:prstGeom prst="rect">
            <a:avLst/>
          </a:prstGeom>
          <a:noFill/>
        </p:spPr>
        <p:txBody>
          <a:bodyPr wrap="none" rtlCol="0">
            <a:spAutoFit/>
          </a:bodyPr>
          <a:lstStyle/>
          <a:p>
            <a:pPr algn="just" rtl="1"/>
            <a:r>
              <a:rPr lang="fa-IR" dirty="0">
                <a:cs typeface="B Roya" panose="00000400000000000000" pitchFamily="2" charset="-78"/>
              </a:rPr>
              <a:t>مجموع وزن داده‏های به اشتباه دسته‏بندی‏شده</a:t>
            </a:r>
            <a:endParaRPr lang="en-US" dirty="0">
              <a:cs typeface="B Roya" panose="00000400000000000000" pitchFamily="2" charset="-78"/>
            </a:endParaRPr>
          </a:p>
        </p:txBody>
      </p:sp>
      <p:graphicFrame>
        <p:nvGraphicFramePr>
          <p:cNvPr id="65" name="Object 64"/>
          <p:cNvGraphicFramePr>
            <a:graphicFrameLocks noChangeAspect="1"/>
          </p:cNvGraphicFramePr>
          <p:nvPr>
            <p:extLst>
              <p:ext uri="{D42A27DB-BD31-4B8C-83A1-F6EECF244321}">
                <p14:modId xmlns:p14="http://schemas.microsoft.com/office/powerpoint/2010/main" val="3634815458"/>
              </p:ext>
            </p:extLst>
          </p:nvPr>
        </p:nvGraphicFramePr>
        <p:xfrm>
          <a:off x="4788820" y="1227138"/>
          <a:ext cx="2235200" cy="203200"/>
        </p:xfrm>
        <a:graphic>
          <a:graphicData uri="http://schemas.openxmlformats.org/presentationml/2006/ole">
            <mc:AlternateContent xmlns:mc="http://schemas.openxmlformats.org/markup-compatibility/2006">
              <mc:Choice xmlns:v="urn:schemas-microsoft-com:vml" Requires="v">
                <p:oleObj name="Equation" r:id="rId2" imgW="2234880" imgH="203040" progId="Equation.DSMT4">
                  <p:embed/>
                </p:oleObj>
              </mc:Choice>
              <mc:Fallback>
                <p:oleObj name="Equation" r:id="rId2" imgW="2234880" imgH="203040" progId="Equation.DSMT4">
                  <p:embed/>
                  <p:pic>
                    <p:nvPicPr>
                      <p:cNvPr id="0" name=""/>
                      <p:cNvPicPr/>
                      <p:nvPr/>
                    </p:nvPicPr>
                    <p:blipFill>
                      <a:blip r:embed="rId3"/>
                      <a:stretch>
                        <a:fillRect/>
                      </a:stretch>
                    </p:blipFill>
                    <p:spPr>
                      <a:xfrm>
                        <a:off x="4788820" y="1227138"/>
                        <a:ext cx="2235200" cy="203200"/>
                      </a:xfrm>
                      <a:prstGeom prst="rect">
                        <a:avLst/>
                      </a:prstGeom>
                    </p:spPr>
                  </p:pic>
                </p:oleObj>
              </mc:Fallback>
            </mc:AlternateContent>
          </a:graphicData>
        </a:graphic>
      </p:graphicFrame>
      <p:graphicFrame>
        <p:nvGraphicFramePr>
          <p:cNvPr id="66" name="Object 65"/>
          <p:cNvGraphicFramePr>
            <a:graphicFrameLocks noChangeAspect="1"/>
          </p:cNvGraphicFramePr>
          <p:nvPr>
            <p:extLst>
              <p:ext uri="{D42A27DB-BD31-4B8C-83A1-F6EECF244321}">
                <p14:modId xmlns:p14="http://schemas.microsoft.com/office/powerpoint/2010/main" val="4092068416"/>
              </p:ext>
            </p:extLst>
          </p:nvPr>
        </p:nvGraphicFramePr>
        <p:xfrm>
          <a:off x="4788820" y="1504950"/>
          <a:ext cx="1612900" cy="584200"/>
        </p:xfrm>
        <a:graphic>
          <a:graphicData uri="http://schemas.openxmlformats.org/presentationml/2006/ole">
            <mc:AlternateContent xmlns:mc="http://schemas.openxmlformats.org/markup-compatibility/2006">
              <mc:Choice xmlns:v="urn:schemas-microsoft-com:vml" Requires="v">
                <p:oleObj name="Equation" r:id="rId4" imgW="1612800" imgH="583920" progId="Equation.DSMT4">
                  <p:embed/>
                </p:oleObj>
              </mc:Choice>
              <mc:Fallback>
                <p:oleObj name="Equation" r:id="rId4" imgW="1612800" imgH="583920" progId="Equation.DSMT4">
                  <p:embed/>
                  <p:pic>
                    <p:nvPicPr>
                      <p:cNvPr id="0" name=""/>
                      <p:cNvPicPr/>
                      <p:nvPr/>
                    </p:nvPicPr>
                    <p:blipFill>
                      <a:blip r:embed="rId5"/>
                      <a:stretch>
                        <a:fillRect/>
                      </a:stretch>
                    </p:blipFill>
                    <p:spPr>
                      <a:xfrm>
                        <a:off x="4788820" y="1504950"/>
                        <a:ext cx="1612900" cy="584200"/>
                      </a:xfrm>
                      <a:prstGeom prst="rect">
                        <a:avLst/>
                      </a:prstGeom>
                    </p:spPr>
                  </p:pic>
                </p:oleObj>
              </mc:Fallback>
            </mc:AlternateContent>
          </a:graphicData>
        </a:graphic>
      </p:graphicFrame>
      <p:sp>
        <p:nvSpPr>
          <p:cNvPr id="67" name="TextBox 66"/>
          <p:cNvSpPr txBox="1"/>
          <p:nvPr/>
        </p:nvSpPr>
        <p:spPr>
          <a:xfrm>
            <a:off x="7365685" y="1612674"/>
            <a:ext cx="1186543" cy="369332"/>
          </a:xfrm>
          <a:prstGeom prst="rect">
            <a:avLst/>
          </a:prstGeom>
          <a:noFill/>
        </p:spPr>
        <p:txBody>
          <a:bodyPr wrap="none" rtlCol="0">
            <a:spAutoFit/>
          </a:bodyPr>
          <a:lstStyle/>
          <a:p>
            <a:pPr algn="just" rtl="1"/>
            <a:r>
              <a:rPr lang="fa-IR" dirty="0">
                <a:cs typeface="B Roya" panose="00000400000000000000" pitchFamily="2" charset="-78"/>
              </a:rPr>
              <a:t>خطای مناسب</a:t>
            </a:r>
            <a:endParaRPr lang="en-US" dirty="0">
              <a:cs typeface="B Roya" panose="00000400000000000000" pitchFamily="2" charset="-78"/>
            </a:endParaRPr>
          </a:p>
        </p:txBody>
      </p:sp>
      <p:graphicFrame>
        <p:nvGraphicFramePr>
          <p:cNvPr id="68" name="Object 67"/>
          <p:cNvGraphicFramePr>
            <a:graphicFrameLocks noChangeAspect="1"/>
          </p:cNvGraphicFramePr>
          <p:nvPr>
            <p:extLst>
              <p:ext uri="{D42A27DB-BD31-4B8C-83A1-F6EECF244321}">
                <p14:modId xmlns:p14="http://schemas.microsoft.com/office/powerpoint/2010/main" val="2367657821"/>
              </p:ext>
            </p:extLst>
          </p:nvPr>
        </p:nvGraphicFramePr>
        <p:xfrm>
          <a:off x="4795838" y="2151063"/>
          <a:ext cx="2603500" cy="444500"/>
        </p:xfrm>
        <a:graphic>
          <a:graphicData uri="http://schemas.openxmlformats.org/presentationml/2006/ole">
            <mc:AlternateContent xmlns:mc="http://schemas.openxmlformats.org/markup-compatibility/2006">
              <mc:Choice xmlns:v="urn:schemas-microsoft-com:vml" Requires="v">
                <p:oleObj name="Equation" r:id="rId6" imgW="2603160" imgH="444240" progId="Equation.DSMT4">
                  <p:embed/>
                </p:oleObj>
              </mc:Choice>
              <mc:Fallback>
                <p:oleObj name="Equation" r:id="rId6" imgW="2603160" imgH="444240" progId="Equation.DSMT4">
                  <p:embed/>
                  <p:pic>
                    <p:nvPicPr>
                      <p:cNvPr id="0" name=""/>
                      <p:cNvPicPr/>
                      <p:nvPr/>
                    </p:nvPicPr>
                    <p:blipFill>
                      <a:blip r:embed="rId7"/>
                      <a:stretch>
                        <a:fillRect/>
                      </a:stretch>
                    </p:blipFill>
                    <p:spPr>
                      <a:xfrm>
                        <a:off x="4795838" y="2151063"/>
                        <a:ext cx="2603500" cy="444500"/>
                      </a:xfrm>
                      <a:prstGeom prst="rect">
                        <a:avLst/>
                      </a:prstGeom>
                    </p:spPr>
                  </p:pic>
                </p:oleObj>
              </mc:Fallback>
            </mc:AlternateContent>
          </a:graphicData>
        </a:graphic>
      </p:graphicFrame>
      <p:sp>
        <p:nvSpPr>
          <p:cNvPr id="69" name="TextBox 68"/>
          <p:cNvSpPr txBox="1"/>
          <p:nvPr/>
        </p:nvSpPr>
        <p:spPr>
          <a:xfrm>
            <a:off x="7365685" y="2175505"/>
            <a:ext cx="1600118" cy="369332"/>
          </a:xfrm>
          <a:prstGeom prst="rect">
            <a:avLst/>
          </a:prstGeom>
          <a:noFill/>
        </p:spPr>
        <p:txBody>
          <a:bodyPr wrap="none" rtlCol="0">
            <a:spAutoFit/>
          </a:bodyPr>
          <a:lstStyle/>
          <a:p>
            <a:pPr algn="just" rtl="1"/>
            <a:r>
              <a:rPr lang="fa-IR" dirty="0">
                <a:cs typeface="B Roya" panose="00000400000000000000" pitchFamily="2" charset="-78"/>
              </a:rPr>
              <a:t>ضریب دسته‏بند </a:t>
            </a:r>
            <a:r>
              <a:rPr lang="en-US" dirty="0">
                <a:cs typeface="B Roya" panose="00000400000000000000" pitchFamily="2" charset="-78"/>
              </a:rPr>
              <a:t>h</a:t>
            </a:r>
            <a:r>
              <a:rPr lang="en-US" baseline="-25000" dirty="0">
                <a:cs typeface="B Roya" panose="00000400000000000000" pitchFamily="2" charset="-78"/>
              </a:rPr>
              <a:t>3</a:t>
            </a:r>
            <a:endParaRPr lang="en-US" dirty="0">
              <a:cs typeface="B Roya" panose="00000400000000000000" pitchFamily="2" charset="-78"/>
            </a:endParaRPr>
          </a:p>
        </p:txBody>
      </p:sp>
      <p:sp>
        <p:nvSpPr>
          <p:cNvPr id="70" name="TextBox 69"/>
          <p:cNvSpPr txBox="1"/>
          <p:nvPr/>
        </p:nvSpPr>
        <p:spPr>
          <a:xfrm>
            <a:off x="7365685" y="2711882"/>
            <a:ext cx="1874232" cy="369332"/>
          </a:xfrm>
          <a:prstGeom prst="rect">
            <a:avLst/>
          </a:prstGeom>
          <a:noFill/>
        </p:spPr>
        <p:txBody>
          <a:bodyPr wrap="none" rtlCol="0">
            <a:spAutoFit/>
          </a:bodyPr>
          <a:lstStyle/>
          <a:p>
            <a:pPr algn="just" rtl="1"/>
            <a:r>
              <a:rPr lang="fa-IR" dirty="0">
                <a:cs typeface="B Roya" panose="00000400000000000000" pitchFamily="2" charset="-78"/>
              </a:rPr>
              <a:t>محاسبۀ وزن‏های جدید:</a:t>
            </a:r>
            <a:endParaRPr lang="en-US" dirty="0">
              <a:cs typeface="B Roya" panose="00000400000000000000" pitchFamily="2" charset="-78"/>
            </a:endParaRPr>
          </a:p>
        </p:txBody>
      </p:sp>
      <p:sp>
        <p:nvSpPr>
          <p:cNvPr id="73" name="TextBox 72"/>
          <p:cNvSpPr txBox="1"/>
          <p:nvPr/>
        </p:nvSpPr>
        <p:spPr>
          <a:xfrm>
            <a:off x="5598108" y="3017198"/>
            <a:ext cx="1584088" cy="369332"/>
          </a:xfrm>
          <a:prstGeom prst="rect">
            <a:avLst/>
          </a:prstGeom>
          <a:noFill/>
        </p:spPr>
        <p:txBody>
          <a:bodyPr wrap="none" rtlCol="0">
            <a:spAutoFit/>
          </a:bodyPr>
          <a:lstStyle/>
          <a:p>
            <a:pPr algn="just" rtl="1"/>
            <a:r>
              <a:rPr lang="fa-IR" dirty="0">
                <a:cs typeface="B Roya" panose="00000400000000000000" pitchFamily="2" charset="-78"/>
              </a:rPr>
              <a:t>دسته‏بندی نادرست</a:t>
            </a:r>
            <a:endParaRPr lang="en-US" dirty="0">
              <a:cs typeface="B Roya" panose="00000400000000000000" pitchFamily="2" charset="-78"/>
            </a:endParaRPr>
          </a:p>
        </p:txBody>
      </p:sp>
      <p:sp>
        <p:nvSpPr>
          <p:cNvPr id="74" name="TextBox 73"/>
          <p:cNvSpPr txBox="1"/>
          <p:nvPr/>
        </p:nvSpPr>
        <p:spPr>
          <a:xfrm>
            <a:off x="5697494" y="3450489"/>
            <a:ext cx="1484702" cy="369332"/>
          </a:xfrm>
          <a:prstGeom prst="rect">
            <a:avLst/>
          </a:prstGeom>
          <a:noFill/>
        </p:spPr>
        <p:txBody>
          <a:bodyPr wrap="none" rtlCol="0">
            <a:spAutoFit/>
          </a:bodyPr>
          <a:lstStyle/>
          <a:p>
            <a:pPr algn="just" rtl="1"/>
            <a:r>
              <a:rPr lang="fa-IR" dirty="0">
                <a:cs typeface="B Roya" panose="00000400000000000000" pitchFamily="2" charset="-78"/>
              </a:rPr>
              <a:t>دسته‏بندی درست</a:t>
            </a:r>
            <a:endParaRPr lang="en-US" dirty="0">
              <a:cs typeface="B Roya" panose="00000400000000000000" pitchFamily="2" charset="-78"/>
            </a:endParaRPr>
          </a:p>
        </p:txBody>
      </p:sp>
      <p:sp>
        <p:nvSpPr>
          <p:cNvPr id="75" name="Left Arrow 74"/>
          <p:cNvSpPr/>
          <p:nvPr/>
        </p:nvSpPr>
        <p:spPr>
          <a:xfrm>
            <a:off x="5292541"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Left Arrow 75"/>
          <p:cNvSpPr/>
          <p:nvPr/>
        </p:nvSpPr>
        <p:spPr>
          <a:xfrm>
            <a:off x="5292541"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9384162" y="5650018"/>
            <a:ext cx="1231427" cy="369332"/>
          </a:xfrm>
          <a:prstGeom prst="rect">
            <a:avLst/>
          </a:prstGeom>
          <a:noFill/>
        </p:spPr>
        <p:txBody>
          <a:bodyPr wrap="none" rtlCol="0">
            <a:spAutoFit/>
          </a:bodyPr>
          <a:lstStyle/>
          <a:p>
            <a:pPr algn="just" rtl="1"/>
            <a:r>
              <a:rPr lang="fa-IR" dirty="0">
                <a:cs typeface="B Roya" panose="00000400000000000000" pitchFamily="2" charset="-78"/>
              </a:rPr>
              <a:t>وزن‏های جدید</a:t>
            </a:r>
            <a:endParaRPr lang="en-US" dirty="0">
              <a:cs typeface="B Roya" panose="00000400000000000000" pitchFamily="2" charset="-78"/>
            </a:endParaRPr>
          </a:p>
        </p:txBody>
      </p:sp>
      <p:sp>
        <p:nvSpPr>
          <p:cNvPr id="79" name="TextBox 78"/>
          <p:cNvSpPr txBox="1"/>
          <p:nvPr/>
        </p:nvSpPr>
        <p:spPr>
          <a:xfrm>
            <a:off x="9461106" y="5275924"/>
            <a:ext cx="1154483" cy="369332"/>
          </a:xfrm>
          <a:prstGeom prst="rect">
            <a:avLst/>
          </a:prstGeom>
          <a:noFill/>
        </p:spPr>
        <p:txBody>
          <a:bodyPr wrap="none" rtlCol="0">
            <a:spAutoFit/>
          </a:bodyPr>
          <a:lstStyle/>
          <a:p>
            <a:pPr algn="just" rtl="1"/>
            <a:r>
              <a:rPr lang="fa-IR" dirty="0">
                <a:cs typeface="B Roya" panose="00000400000000000000" pitchFamily="2" charset="-78"/>
              </a:rPr>
              <a:t>وزن‏های اولیۀ</a:t>
            </a:r>
            <a:endParaRPr lang="en-US" dirty="0">
              <a:cs typeface="B Roya" panose="00000400000000000000" pitchFamily="2" charset="-78"/>
            </a:endParaRPr>
          </a:p>
        </p:txBody>
      </p:sp>
      <p:graphicFrame>
        <p:nvGraphicFramePr>
          <p:cNvPr id="81" name="Object 80"/>
          <p:cNvGraphicFramePr>
            <a:graphicFrameLocks noChangeAspect="1"/>
          </p:cNvGraphicFramePr>
          <p:nvPr>
            <p:extLst>
              <p:ext uri="{D42A27DB-BD31-4B8C-83A1-F6EECF244321}">
                <p14:modId xmlns:p14="http://schemas.microsoft.com/office/powerpoint/2010/main" val="3387889047"/>
              </p:ext>
            </p:extLst>
          </p:nvPr>
        </p:nvGraphicFramePr>
        <p:xfrm>
          <a:off x="3040063" y="3074988"/>
          <a:ext cx="1625600" cy="254000"/>
        </p:xfrm>
        <a:graphic>
          <a:graphicData uri="http://schemas.openxmlformats.org/presentationml/2006/ole">
            <mc:AlternateContent xmlns:mc="http://schemas.openxmlformats.org/markup-compatibility/2006">
              <mc:Choice xmlns:v="urn:schemas-microsoft-com:vml" Requires="v">
                <p:oleObj name="Equation" r:id="rId8" imgW="1625400" imgH="253800" progId="Equation.DSMT4">
                  <p:embed/>
                </p:oleObj>
              </mc:Choice>
              <mc:Fallback>
                <p:oleObj name="Equation" r:id="rId8" imgW="1625400" imgH="253800" progId="Equation.DSMT4">
                  <p:embed/>
                  <p:pic>
                    <p:nvPicPr>
                      <p:cNvPr id="0" name=""/>
                      <p:cNvPicPr/>
                      <p:nvPr/>
                    </p:nvPicPr>
                    <p:blipFill>
                      <a:blip r:embed="rId9"/>
                      <a:stretch>
                        <a:fillRect/>
                      </a:stretch>
                    </p:blipFill>
                    <p:spPr>
                      <a:xfrm>
                        <a:off x="3040063" y="3074988"/>
                        <a:ext cx="1625600" cy="2540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190211158"/>
              </p:ext>
            </p:extLst>
          </p:nvPr>
        </p:nvGraphicFramePr>
        <p:xfrm>
          <a:off x="3040063" y="3508375"/>
          <a:ext cx="2197100" cy="254000"/>
        </p:xfrm>
        <a:graphic>
          <a:graphicData uri="http://schemas.openxmlformats.org/presentationml/2006/ole">
            <mc:AlternateContent xmlns:mc="http://schemas.openxmlformats.org/markup-compatibility/2006">
              <mc:Choice xmlns:v="urn:schemas-microsoft-com:vml" Requires="v">
                <p:oleObj name="Equation" r:id="rId10" imgW="2197080" imgH="253800" progId="Equation.DSMT4">
                  <p:embed/>
                </p:oleObj>
              </mc:Choice>
              <mc:Fallback>
                <p:oleObj name="Equation" r:id="rId10" imgW="2197080" imgH="253800" progId="Equation.DSMT4">
                  <p:embed/>
                  <p:pic>
                    <p:nvPicPr>
                      <p:cNvPr id="0" name=""/>
                      <p:cNvPicPr/>
                      <p:nvPr/>
                    </p:nvPicPr>
                    <p:blipFill>
                      <a:blip r:embed="rId11"/>
                      <a:stretch>
                        <a:fillRect/>
                      </a:stretch>
                    </p:blipFill>
                    <p:spPr>
                      <a:xfrm>
                        <a:off x="3040063" y="3508375"/>
                        <a:ext cx="2197100" cy="254000"/>
                      </a:xfrm>
                      <a:prstGeom prst="rect">
                        <a:avLst/>
                      </a:prstGeom>
                    </p:spPr>
                  </p:pic>
                </p:oleObj>
              </mc:Fallback>
            </mc:AlternateContent>
          </a:graphicData>
        </a:graphic>
      </p:graphicFrame>
      <p:graphicFrame>
        <p:nvGraphicFramePr>
          <p:cNvPr id="83" name="Object 82"/>
          <p:cNvGraphicFramePr>
            <a:graphicFrameLocks noChangeAspect="1"/>
          </p:cNvGraphicFramePr>
          <p:nvPr>
            <p:extLst>
              <p:ext uri="{D42A27DB-BD31-4B8C-83A1-F6EECF244321}">
                <p14:modId xmlns:p14="http://schemas.microsoft.com/office/powerpoint/2010/main" val="3159539303"/>
              </p:ext>
            </p:extLst>
          </p:nvPr>
        </p:nvGraphicFramePr>
        <p:xfrm>
          <a:off x="1185863" y="3106738"/>
          <a:ext cx="1409700" cy="190500"/>
        </p:xfrm>
        <a:graphic>
          <a:graphicData uri="http://schemas.openxmlformats.org/presentationml/2006/ole">
            <mc:AlternateContent xmlns:mc="http://schemas.openxmlformats.org/markup-compatibility/2006">
              <mc:Choice xmlns:v="urn:schemas-microsoft-com:vml" Requires="v">
                <p:oleObj name="Equation" r:id="rId12" imgW="1409400" imgH="190440" progId="Equation.DSMT4">
                  <p:embed/>
                </p:oleObj>
              </mc:Choice>
              <mc:Fallback>
                <p:oleObj name="Equation" r:id="rId12" imgW="1409400" imgH="190440" progId="Equation.DSMT4">
                  <p:embed/>
                  <p:pic>
                    <p:nvPicPr>
                      <p:cNvPr id="0" name=""/>
                      <p:cNvPicPr/>
                      <p:nvPr/>
                    </p:nvPicPr>
                    <p:blipFill>
                      <a:blip r:embed="rId13"/>
                      <a:stretch>
                        <a:fillRect/>
                      </a:stretch>
                    </p:blipFill>
                    <p:spPr>
                      <a:xfrm>
                        <a:off x="1185863" y="3106738"/>
                        <a:ext cx="1409700" cy="190500"/>
                      </a:xfrm>
                      <a:prstGeom prst="rect">
                        <a:avLst/>
                      </a:prstGeom>
                    </p:spPr>
                  </p:pic>
                </p:oleObj>
              </mc:Fallback>
            </mc:AlternateContent>
          </a:graphicData>
        </a:graphic>
      </p:graphicFrame>
      <p:graphicFrame>
        <p:nvGraphicFramePr>
          <p:cNvPr id="84" name="Object 83"/>
          <p:cNvGraphicFramePr>
            <a:graphicFrameLocks noChangeAspect="1"/>
          </p:cNvGraphicFramePr>
          <p:nvPr>
            <p:extLst>
              <p:ext uri="{D42A27DB-BD31-4B8C-83A1-F6EECF244321}">
                <p14:modId xmlns:p14="http://schemas.microsoft.com/office/powerpoint/2010/main" val="4116929926"/>
              </p:ext>
            </p:extLst>
          </p:nvPr>
        </p:nvGraphicFramePr>
        <p:xfrm>
          <a:off x="1179513" y="3368675"/>
          <a:ext cx="1422400" cy="533400"/>
        </p:xfrm>
        <a:graphic>
          <a:graphicData uri="http://schemas.openxmlformats.org/presentationml/2006/ole">
            <mc:AlternateContent xmlns:mc="http://schemas.openxmlformats.org/markup-compatibility/2006">
              <mc:Choice xmlns:v="urn:schemas-microsoft-com:vml" Requires="v">
                <p:oleObj name="Equation" r:id="rId14" imgW="1422360" imgH="533160" progId="Equation.DSMT4">
                  <p:embed/>
                </p:oleObj>
              </mc:Choice>
              <mc:Fallback>
                <p:oleObj name="Equation" r:id="rId14" imgW="1422360" imgH="533160" progId="Equation.DSMT4">
                  <p:embed/>
                  <p:pic>
                    <p:nvPicPr>
                      <p:cNvPr id="0" name=""/>
                      <p:cNvPicPr/>
                      <p:nvPr/>
                    </p:nvPicPr>
                    <p:blipFill>
                      <a:blip r:embed="rId15"/>
                      <a:stretch>
                        <a:fillRect/>
                      </a:stretch>
                    </p:blipFill>
                    <p:spPr>
                      <a:xfrm>
                        <a:off x="1179513" y="3368675"/>
                        <a:ext cx="1422400" cy="533400"/>
                      </a:xfrm>
                      <a:prstGeom prst="rect">
                        <a:avLst/>
                      </a:prstGeom>
                    </p:spPr>
                  </p:pic>
                </p:oleObj>
              </mc:Fallback>
            </mc:AlternateContent>
          </a:graphicData>
        </a:graphic>
      </p:graphicFrame>
      <p:sp>
        <p:nvSpPr>
          <p:cNvPr id="85" name="Left Arrow 84"/>
          <p:cNvSpPr/>
          <p:nvPr/>
        </p:nvSpPr>
        <p:spPr>
          <a:xfrm>
            <a:off x="2635514" y="3109531"/>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Left Arrow 85"/>
          <p:cNvSpPr/>
          <p:nvPr/>
        </p:nvSpPr>
        <p:spPr>
          <a:xfrm>
            <a:off x="2635514" y="3542822"/>
            <a:ext cx="299669" cy="18466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7" name="Group 146"/>
          <p:cNvGrpSpPr/>
          <p:nvPr/>
        </p:nvGrpSpPr>
        <p:grpSpPr>
          <a:xfrm>
            <a:off x="931900" y="949109"/>
            <a:ext cx="3853167" cy="1456055"/>
            <a:chOff x="910824" y="4605223"/>
            <a:chExt cx="3853167" cy="1456055"/>
          </a:xfrm>
        </p:grpSpPr>
        <p:sp>
          <p:nvSpPr>
            <p:cNvPr id="148" name="Right Arrow 147"/>
            <p:cNvSpPr/>
            <p:nvPr/>
          </p:nvSpPr>
          <p:spPr>
            <a:xfrm>
              <a:off x="2597078" y="5218950"/>
              <a:ext cx="342900" cy="2286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9" name="TextBox 148"/>
            <p:cNvSpPr txBox="1"/>
            <p:nvPr/>
          </p:nvSpPr>
          <p:spPr>
            <a:xfrm>
              <a:off x="2914669" y="4956981"/>
              <a:ext cx="391454" cy="369332"/>
            </a:xfrm>
            <a:prstGeom prst="rect">
              <a:avLst/>
            </a:prstGeom>
            <a:noFill/>
          </p:spPr>
          <p:txBody>
            <a:bodyPr wrap="none" rtlCol="0">
              <a:spAutoFit/>
            </a:bodyPr>
            <a:lstStyle/>
            <a:p>
              <a:pPr algn="just" rtl="1"/>
              <a:r>
                <a:rPr lang="en-US" dirty="0">
                  <a:cs typeface="B Roya" panose="00000400000000000000" pitchFamily="2" charset="-78"/>
                </a:rPr>
                <a:t>h</a:t>
              </a:r>
              <a:r>
                <a:rPr lang="en-US" baseline="-25000" dirty="0">
                  <a:cs typeface="B Roya" panose="00000400000000000000" pitchFamily="2" charset="-78"/>
                </a:rPr>
                <a:t>3</a:t>
              </a:r>
              <a:endParaRPr lang="en-US" dirty="0">
                <a:cs typeface="B Roya" panose="00000400000000000000" pitchFamily="2" charset="-78"/>
              </a:endParaRPr>
            </a:p>
          </p:txBody>
        </p:sp>
        <p:sp>
          <p:nvSpPr>
            <p:cNvPr id="150" name="Rectangle 149"/>
            <p:cNvSpPr/>
            <p:nvPr/>
          </p:nvSpPr>
          <p:spPr>
            <a:xfrm>
              <a:off x="3264121" y="4649838"/>
              <a:ext cx="1438717" cy="515584"/>
            </a:xfrm>
            <a:prstGeom prst="rect">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p:cNvSpPr/>
            <p:nvPr/>
          </p:nvSpPr>
          <p:spPr>
            <a:xfrm>
              <a:off x="3264121" y="5165126"/>
              <a:ext cx="1438717" cy="852757"/>
            </a:xfrm>
            <a:prstGeom prst="rect">
              <a:avLst/>
            </a:prstGeom>
            <a:solidFill>
              <a:srgbClr val="FF000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2" name="Group 151"/>
            <p:cNvGrpSpPr/>
            <p:nvPr/>
          </p:nvGrpSpPr>
          <p:grpSpPr>
            <a:xfrm>
              <a:off x="910824" y="4605223"/>
              <a:ext cx="1499870" cy="1456055"/>
              <a:chOff x="914400" y="970280"/>
              <a:chExt cx="1499870" cy="1456055"/>
            </a:xfrm>
          </p:grpSpPr>
          <p:sp>
            <p:nvSpPr>
              <p:cNvPr id="183" name="Rectangle 182"/>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Plus 183"/>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Minus 184"/>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87"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88"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89"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90"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91"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92"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93"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94"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95"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96" name="Plus 195"/>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7" name="Plus 196"/>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Plus 197"/>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9" name="Plus 198"/>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0" name="Minus 199"/>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Minus 200"/>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2" name="Minus 201"/>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3" name="Minus 202"/>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3" name="Group 152"/>
            <p:cNvGrpSpPr/>
            <p:nvPr/>
          </p:nvGrpSpPr>
          <p:grpSpPr>
            <a:xfrm>
              <a:off x="3264121" y="4605223"/>
              <a:ext cx="1499870" cy="1456055"/>
              <a:chOff x="914400" y="970280"/>
              <a:chExt cx="1499870" cy="1456055"/>
            </a:xfrm>
          </p:grpSpPr>
          <p:sp>
            <p:nvSpPr>
              <p:cNvPr id="162" name="Rectangle 161"/>
              <p:cNvSpPr/>
              <p:nvPr/>
            </p:nvSpPr>
            <p:spPr>
              <a:xfrm>
                <a:off x="914400" y="1010019"/>
                <a:ext cx="1438717" cy="1372922"/>
              </a:xfrm>
              <a:prstGeom prst="rect">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3" name="Plus 162"/>
              <p:cNvSpPr/>
              <p:nvPr/>
            </p:nvSpPr>
            <p:spPr>
              <a:xfrm>
                <a:off x="978003" y="1693541"/>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Minus 163"/>
              <p:cNvSpPr/>
              <p:nvPr/>
            </p:nvSpPr>
            <p:spPr>
              <a:xfrm>
                <a:off x="1550422" y="156637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5" name="Text Box 28"/>
              <p:cNvSpPr txBox="1"/>
              <p:nvPr/>
            </p:nvSpPr>
            <p:spPr>
              <a:xfrm>
                <a:off x="1534390" y="1073575"/>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a:t>
                </a:r>
              </a:p>
            </p:txBody>
          </p:sp>
          <p:sp>
            <p:nvSpPr>
              <p:cNvPr id="166" name="Text Box 29"/>
              <p:cNvSpPr txBox="1"/>
              <p:nvPr/>
            </p:nvSpPr>
            <p:spPr>
              <a:xfrm>
                <a:off x="1717208" y="97028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2</a:t>
                </a:r>
              </a:p>
            </p:txBody>
          </p:sp>
          <p:sp>
            <p:nvSpPr>
              <p:cNvPr id="167" name="Text Box 30"/>
              <p:cNvSpPr txBox="1"/>
              <p:nvPr/>
            </p:nvSpPr>
            <p:spPr>
              <a:xfrm>
                <a:off x="1884128" y="116412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3</a:t>
                </a:r>
              </a:p>
            </p:txBody>
          </p:sp>
          <p:sp>
            <p:nvSpPr>
              <p:cNvPr id="168" name="Text Box 31"/>
              <p:cNvSpPr txBox="1"/>
              <p:nvPr/>
            </p:nvSpPr>
            <p:spPr>
              <a:xfrm>
                <a:off x="2058997" y="1153032"/>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4</a:t>
                </a:r>
              </a:p>
            </p:txBody>
          </p:sp>
          <p:sp>
            <p:nvSpPr>
              <p:cNvPr id="169" name="Text Box 64"/>
              <p:cNvSpPr txBox="1"/>
              <p:nvPr/>
            </p:nvSpPr>
            <p:spPr>
              <a:xfrm>
                <a:off x="922348" y="1526483"/>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5</a:t>
                </a:r>
              </a:p>
            </p:txBody>
          </p:sp>
          <p:sp>
            <p:nvSpPr>
              <p:cNvPr id="170" name="Text Box 65"/>
              <p:cNvSpPr txBox="1"/>
              <p:nvPr/>
            </p:nvSpPr>
            <p:spPr>
              <a:xfrm>
                <a:off x="1192601" y="134373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6</a:t>
                </a:r>
              </a:p>
            </p:txBody>
          </p:sp>
          <p:sp>
            <p:nvSpPr>
              <p:cNvPr id="171" name="Text Box 66"/>
              <p:cNvSpPr txBox="1"/>
              <p:nvPr/>
            </p:nvSpPr>
            <p:spPr>
              <a:xfrm>
                <a:off x="1494647" y="142318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7</a:t>
                </a:r>
              </a:p>
            </p:txBody>
          </p:sp>
          <p:sp>
            <p:nvSpPr>
              <p:cNvPr id="172" name="Text Box 67"/>
              <p:cNvSpPr txBox="1"/>
              <p:nvPr/>
            </p:nvSpPr>
            <p:spPr>
              <a:xfrm>
                <a:off x="1025680" y="1852260"/>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8</a:t>
                </a:r>
              </a:p>
            </p:txBody>
          </p:sp>
          <p:sp>
            <p:nvSpPr>
              <p:cNvPr id="173" name="Text Box 68"/>
              <p:cNvSpPr txBox="1"/>
              <p:nvPr/>
            </p:nvSpPr>
            <p:spPr>
              <a:xfrm>
                <a:off x="1200549" y="2042958"/>
                <a:ext cx="260316"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9</a:t>
                </a:r>
              </a:p>
            </p:txBody>
          </p:sp>
          <p:sp>
            <p:nvSpPr>
              <p:cNvPr id="174" name="Text Box 69"/>
              <p:cNvSpPr txBox="1"/>
              <p:nvPr/>
            </p:nvSpPr>
            <p:spPr>
              <a:xfrm>
                <a:off x="2082843" y="1756791"/>
                <a:ext cx="331427" cy="383377"/>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sp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10</a:t>
                </a:r>
              </a:p>
            </p:txBody>
          </p:sp>
          <p:sp>
            <p:nvSpPr>
              <p:cNvPr id="175" name="Plus 174"/>
              <p:cNvSpPr/>
              <p:nvPr/>
            </p:nvSpPr>
            <p:spPr>
              <a:xfrm>
                <a:off x="1598124" y="125640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6" name="Plus 175"/>
              <p:cNvSpPr/>
              <p:nvPr/>
            </p:nvSpPr>
            <p:spPr>
              <a:xfrm>
                <a:off x="1773030" y="1161030"/>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7" name="Plus 176"/>
              <p:cNvSpPr/>
              <p:nvPr/>
            </p:nvSpPr>
            <p:spPr>
              <a:xfrm>
                <a:off x="1932035" y="1346996"/>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8" name="Plus 177"/>
              <p:cNvSpPr/>
              <p:nvPr/>
            </p:nvSpPr>
            <p:spPr>
              <a:xfrm>
                <a:off x="1081356" y="2035303"/>
                <a:ext cx="143491" cy="143449"/>
              </a:xfrm>
              <a:prstGeom prst="mathPlus">
                <a:avLst/>
              </a:prstGeom>
              <a:solidFill>
                <a:srgbClr val="FFFF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9" name="Minus 178"/>
              <p:cNvSpPr/>
              <p:nvPr/>
            </p:nvSpPr>
            <p:spPr>
              <a:xfrm>
                <a:off x="1248312" y="1486896"/>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0" name="Minus 179"/>
              <p:cNvSpPr/>
              <p:nvPr/>
            </p:nvSpPr>
            <p:spPr>
              <a:xfrm>
                <a:off x="2114892" y="1280249"/>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Minus 180"/>
              <p:cNvSpPr/>
              <p:nvPr/>
            </p:nvSpPr>
            <p:spPr>
              <a:xfrm>
                <a:off x="2178494" y="1900187"/>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Minus 181"/>
              <p:cNvSpPr/>
              <p:nvPr/>
            </p:nvSpPr>
            <p:spPr>
              <a:xfrm>
                <a:off x="1264213" y="2178365"/>
                <a:ext cx="143491" cy="143449"/>
              </a:xfrm>
              <a:prstGeom prst="mathMinus">
                <a:avLst/>
              </a:prstGeom>
              <a:solidFill>
                <a:srgbClr val="FF0000"/>
              </a:solidFill>
              <a:ln w="952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4" name="Group 153"/>
            <p:cNvGrpSpPr/>
            <p:nvPr/>
          </p:nvGrpSpPr>
          <p:grpSpPr>
            <a:xfrm rot="5400000">
              <a:off x="3964483" y="4695916"/>
              <a:ext cx="408940" cy="919480"/>
              <a:chOff x="3533933" y="1211032"/>
              <a:chExt cx="408940" cy="919480"/>
            </a:xfrm>
          </p:grpSpPr>
          <p:cxnSp>
            <p:nvCxnSpPr>
              <p:cNvPr id="158" name="Straight Arrow Connector 157"/>
              <p:cNvCxnSpPr/>
              <p:nvPr/>
            </p:nvCxnSpPr>
            <p:spPr>
              <a:xfrm>
                <a:off x="3751739" y="1441671"/>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p:nvPr/>
            </p:nvCxnSpPr>
            <p:spPr>
              <a:xfrm flipH="1">
                <a:off x="3560927" y="1439632"/>
                <a:ext cx="179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0" name="Text Box 104"/>
              <p:cNvSpPr txBox="1"/>
              <p:nvPr/>
            </p:nvSpPr>
            <p:spPr>
              <a:xfrm>
                <a:off x="3533933" y="1216112"/>
                <a:ext cx="259080" cy="914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ea typeface="Calibri" panose="020F0502020204030204" pitchFamily="34" charset="0"/>
                    <a:cs typeface="Arial" panose="020B0604020202020204" pitchFamily="34" charset="0"/>
                  </a:rPr>
                  <a:t>+</a:t>
                </a:r>
              </a:p>
            </p:txBody>
          </p:sp>
          <p:sp>
            <p:nvSpPr>
              <p:cNvPr id="161" name="Text Box 105"/>
              <p:cNvSpPr txBox="1"/>
              <p:nvPr/>
            </p:nvSpPr>
            <p:spPr>
              <a:xfrm>
                <a:off x="3710463" y="1211032"/>
                <a:ext cx="232410" cy="914400"/>
              </a:xfrm>
              <a:prstGeom prst="rect">
                <a:avLst/>
              </a:prstGeom>
              <a:no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Arial" panose="020B0604020202020204" pitchFamily="34" charset="0"/>
                  </a:rPr>
                  <a:t>-</a:t>
                </a:r>
              </a:p>
            </p:txBody>
          </p:sp>
        </p:grpSp>
        <p:sp>
          <p:nvSpPr>
            <p:cNvPr id="155" name="Oval 154"/>
            <p:cNvSpPr/>
            <p:nvPr/>
          </p:nvSpPr>
          <p:spPr>
            <a:xfrm>
              <a:off x="4448988" y="4879676"/>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6" name="Oval 155"/>
            <p:cNvSpPr/>
            <p:nvPr/>
          </p:nvSpPr>
          <p:spPr>
            <a:xfrm>
              <a:off x="3411238" y="5664385"/>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7" name="Oval 156"/>
            <p:cNvSpPr/>
            <p:nvPr/>
          </p:nvSpPr>
          <p:spPr>
            <a:xfrm>
              <a:off x="3310873" y="5303533"/>
              <a:ext cx="179705" cy="179705"/>
            </a:xfrm>
            <a:prstGeom prst="ellipse">
              <a:avLst/>
            </a:prstGeom>
            <a:noFill/>
            <a:ln w="6350" cap="flat" cmpd="sng" algn="ctr">
              <a:solidFill>
                <a:schemeClr val="tx2"/>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 name="Slide Number Placeholder 1"/>
          <p:cNvSpPr>
            <a:spLocks noGrp="1"/>
          </p:cNvSpPr>
          <p:nvPr>
            <p:ph type="sldNum" sz="quarter" idx="12"/>
          </p:nvPr>
        </p:nvSpPr>
        <p:spPr/>
        <p:txBody>
          <a:bodyPr/>
          <a:lstStyle/>
          <a:p>
            <a:fld id="{8ECB587C-A035-4190-A6F4-DC73ACEFC96D}" type="slidenum">
              <a:rPr lang="en-US" smtClean="0"/>
              <a:t>13</a:t>
            </a:fld>
            <a:endParaRPr lang="en-US"/>
          </a:p>
        </p:txBody>
      </p:sp>
    </p:spTree>
    <p:extLst>
      <p:ext uri="{BB962C8B-B14F-4D97-AF65-F5344CB8AC3E}">
        <p14:creationId xmlns:p14="http://schemas.microsoft.com/office/powerpoint/2010/main" val="2098639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p:cNvSpPr txBox="1"/>
          <p:nvPr/>
        </p:nvSpPr>
        <p:spPr>
          <a:xfrm>
            <a:off x="4997925" y="516049"/>
            <a:ext cx="1859805" cy="369332"/>
          </a:xfrm>
          <a:prstGeom prst="rect">
            <a:avLst/>
          </a:prstGeom>
          <a:noFill/>
        </p:spPr>
        <p:txBody>
          <a:bodyPr wrap="none" rtlCol="0">
            <a:spAutoFit/>
          </a:bodyPr>
          <a:lstStyle/>
          <a:p>
            <a:pPr algn="ctr" rtl="1"/>
            <a:r>
              <a:rPr lang="fa-IR" b="1" dirty="0">
                <a:solidFill>
                  <a:srgbClr val="FF0000"/>
                </a:solidFill>
                <a:cs typeface="B Roya" panose="00000400000000000000" pitchFamily="2" charset="-78"/>
              </a:rPr>
              <a:t>الگوریتم </a:t>
            </a:r>
            <a:r>
              <a:rPr lang="en-US" b="1" dirty="0" err="1">
                <a:solidFill>
                  <a:srgbClr val="FF0000"/>
                </a:solidFill>
                <a:cs typeface="B Roya" panose="00000400000000000000" pitchFamily="2" charset="-78"/>
              </a:rPr>
              <a:t>Adaboost</a:t>
            </a:r>
            <a:endParaRPr lang="en-US" b="1" dirty="0">
              <a:solidFill>
                <a:srgbClr val="FF0000"/>
              </a:solidFill>
              <a:cs typeface="B Roya" panose="00000400000000000000" pitchFamily="2" charset="-78"/>
            </a:endParaRPr>
          </a:p>
        </p:txBody>
      </p:sp>
      <p:pic>
        <p:nvPicPr>
          <p:cNvPr id="54" name="Picture 53"/>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r="430"/>
          <a:stretch/>
        </p:blipFill>
        <p:spPr>
          <a:xfrm>
            <a:off x="2392889" y="1237363"/>
            <a:ext cx="7069879" cy="4023836"/>
          </a:xfrm>
          <a:prstGeom prst="rect">
            <a:avLst/>
          </a:prstGeom>
        </p:spPr>
      </p:pic>
      <p:sp>
        <p:nvSpPr>
          <p:cNvPr id="2" name="Slide Number Placeholder 1"/>
          <p:cNvSpPr>
            <a:spLocks noGrp="1"/>
          </p:cNvSpPr>
          <p:nvPr>
            <p:ph type="sldNum" sz="quarter" idx="12"/>
          </p:nvPr>
        </p:nvSpPr>
        <p:spPr/>
        <p:txBody>
          <a:bodyPr/>
          <a:lstStyle/>
          <a:p>
            <a:fld id="{8ECB587C-A035-4190-A6F4-DC73ACEFC96D}" type="slidenum">
              <a:rPr lang="en-US" smtClean="0"/>
              <a:t>14</a:t>
            </a:fld>
            <a:endParaRPr lang="en-US"/>
          </a:p>
        </p:txBody>
      </p:sp>
    </p:spTree>
    <p:extLst>
      <p:ext uri="{BB962C8B-B14F-4D97-AF65-F5344CB8AC3E}">
        <p14:creationId xmlns:p14="http://schemas.microsoft.com/office/powerpoint/2010/main" val="1156024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56"/>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p:cNvSpPr txBox="1"/>
          <p:nvPr/>
        </p:nvSpPr>
        <p:spPr>
          <a:xfrm>
            <a:off x="3910769" y="516049"/>
            <a:ext cx="4034117" cy="369332"/>
          </a:xfrm>
          <a:prstGeom prst="rect">
            <a:avLst/>
          </a:prstGeom>
          <a:noFill/>
        </p:spPr>
        <p:txBody>
          <a:bodyPr wrap="none" rtlCol="0">
            <a:spAutoFit/>
          </a:bodyPr>
          <a:lstStyle/>
          <a:p>
            <a:pPr algn="ctr" rtl="1"/>
            <a:r>
              <a:rPr lang="fa-IR" b="1" dirty="0">
                <a:solidFill>
                  <a:srgbClr val="FF0000"/>
                </a:solidFill>
                <a:cs typeface="B Roya" panose="00000400000000000000" pitchFamily="2" charset="-78"/>
              </a:rPr>
              <a:t>طبقه‌بند خطی تک‌لایه به عنوان </a:t>
            </a:r>
            <a:r>
              <a:rPr lang="en-US" b="1" dirty="0">
                <a:solidFill>
                  <a:srgbClr val="FF0000"/>
                </a:solidFill>
                <a:cs typeface="B Roya" panose="00000400000000000000" pitchFamily="2" charset="-78"/>
              </a:rPr>
              <a:t>Weak Learner</a:t>
            </a:r>
          </a:p>
        </p:txBody>
      </p:sp>
      <p:sp>
        <p:nvSpPr>
          <p:cNvPr id="2" name="Slide Number Placeholder 1"/>
          <p:cNvSpPr>
            <a:spLocks noGrp="1"/>
          </p:cNvSpPr>
          <p:nvPr>
            <p:ph type="sldNum" sz="quarter" idx="12"/>
          </p:nvPr>
        </p:nvSpPr>
        <p:spPr/>
        <p:txBody>
          <a:bodyPr/>
          <a:lstStyle/>
          <a:p>
            <a:fld id="{8ECB587C-A035-4190-A6F4-DC73ACEFC96D}" type="slidenum">
              <a:rPr lang="en-US" smtClean="0"/>
              <a:t>15</a:t>
            </a:fld>
            <a:endParaRPr lang="en-US"/>
          </a:p>
        </p:txBody>
      </p:sp>
      <p:pic>
        <p:nvPicPr>
          <p:cNvPr id="6" name="Picture 5">
            <a:extLst>
              <a:ext uri="{FF2B5EF4-FFF2-40B4-BE49-F238E27FC236}">
                <a16:creationId xmlns:a16="http://schemas.microsoft.com/office/drawing/2014/main" id="{302BF6A8-34F2-F044-2608-BD4DCD95DC0C}"/>
              </a:ext>
            </a:extLst>
          </p:cNvPr>
          <p:cNvPicPr>
            <a:picLocks noChangeAspect="1"/>
          </p:cNvPicPr>
          <p:nvPr/>
        </p:nvPicPr>
        <p:blipFill>
          <a:blip r:embed="rId2">
            <a:extLst>
              <a:ext uri="{28A0092B-C50C-407E-A947-70E740481C1C}">
                <a14:useLocalDpi xmlns:a14="http://schemas.microsoft.com/office/drawing/2010/main" val="0"/>
              </a:ext>
            </a:extLst>
          </a:blip>
          <a:srcRect t="19444" b="19028"/>
          <a:stretch>
            <a:fillRect/>
          </a:stretch>
        </p:blipFill>
        <p:spPr>
          <a:xfrm>
            <a:off x="2757907" y="944230"/>
            <a:ext cx="6339840" cy="3900777"/>
          </a:xfrm>
          <a:prstGeom prst="rect">
            <a:avLst/>
          </a:prstGeom>
        </p:spPr>
      </p:pic>
    </p:spTree>
    <p:extLst>
      <p:ext uri="{BB962C8B-B14F-4D97-AF65-F5344CB8AC3E}">
        <p14:creationId xmlns:p14="http://schemas.microsoft.com/office/powerpoint/2010/main" val="2669582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4B5F5-C3DF-622F-296E-372A7639B451}"/>
            </a:ext>
          </a:extLst>
        </p:cNvPr>
        <p:cNvGrpSpPr/>
        <p:nvPr/>
      </p:nvGrpSpPr>
      <p:grpSpPr>
        <a:xfrm>
          <a:off x="0" y="0"/>
          <a:ext cx="0" cy="0"/>
          <a:chOff x="0" y="0"/>
          <a:chExt cx="0" cy="0"/>
        </a:xfrm>
      </p:grpSpPr>
      <p:sp>
        <p:nvSpPr>
          <p:cNvPr id="88" name="Rectangle 56">
            <a:extLst>
              <a:ext uri="{FF2B5EF4-FFF2-40B4-BE49-F238E27FC236}">
                <a16:creationId xmlns:a16="http://schemas.microsoft.com/office/drawing/2014/main" id="{160854C5-B09C-4E5E-3D37-918E1CDD6B3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Slide Number Placeholder 1">
            <a:extLst>
              <a:ext uri="{FF2B5EF4-FFF2-40B4-BE49-F238E27FC236}">
                <a16:creationId xmlns:a16="http://schemas.microsoft.com/office/drawing/2014/main" id="{A3D56397-E1D1-0E2A-FC4C-8224CB348293}"/>
              </a:ext>
            </a:extLst>
          </p:cNvPr>
          <p:cNvSpPr>
            <a:spLocks noGrp="1"/>
          </p:cNvSpPr>
          <p:nvPr>
            <p:ph type="sldNum" sz="quarter" idx="12"/>
          </p:nvPr>
        </p:nvSpPr>
        <p:spPr/>
        <p:txBody>
          <a:bodyPr/>
          <a:lstStyle/>
          <a:p>
            <a:fld id="{8ECB587C-A035-4190-A6F4-DC73ACEFC96D}" type="slidenum">
              <a:rPr lang="en-US" smtClean="0"/>
              <a:t>16</a:t>
            </a:fld>
            <a:endParaRPr lang="en-US"/>
          </a:p>
        </p:txBody>
      </p:sp>
      <p:sp>
        <p:nvSpPr>
          <p:cNvPr id="15" name="TextBox 14">
            <a:extLst>
              <a:ext uri="{FF2B5EF4-FFF2-40B4-BE49-F238E27FC236}">
                <a16:creationId xmlns:a16="http://schemas.microsoft.com/office/drawing/2014/main" id="{B4EAE0CC-9F1F-391A-6BC5-0EDE18E4B62E}"/>
              </a:ext>
            </a:extLst>
          </p:cNvPr>
          <p:cNvSpPr txBox="1"/>
          <p:nvPr/>
        </p:nvSpPr>
        <p:spPr>
          <a:xfrm>
            <a:off x="1533867" y="944230"/>
            <a:ext cx="8787919" cy="5355312"/>
          </a:xfrm>
          <a:prstGeom prst="rect">
            <a:avLst/>
          </a:prstGeom>
          <a:noFill/>
        </p:spPr>
        <p:txBody>
          <a:bodyPr wrap="none" rtlCol="0">
            <a:spAutoFit/>
          </a:bodyPr>
          <a:lstStyle/>
          <a:p>
            <a:pPr algn="just" rtl="1"/>
            <a:r>
              <a:rPr lang="fa-IR" dirty="0">
                <a:cs typeface="B Roya" panose="00000400000000000000" pitchFamily="2" charset="-78"/>
              </a:rPr>
              <a:t>• در این پروژه، هر یادگیرنده ضعیف یک طبقه‏بند خطی تک‌لایه ساده است.</a:t>
            </a:r>
          </a:p>
          <a:p>
            <a:pPr algn="just" rtl="1"/>
            <a:endParaRPr lang="fa-IR" dirty="0">
              <a:cs typeface="B Roya" panose="00000400000000000000" pitchFamily="2" charset="-78"/>
            </a:endParaRPr>
          </a:p>
          <a:p>
            <a:pPr algn="just" rtl="1"/>
            <a:r>
              <a:rPr lang="fa-IR" dirty="0">
                <a:cs typeface="B Roya" panose="00000400000000000000" pitchFamily="2" charset="-78"/>
              </a:rPr>
              <a:t>• بردار ورودی گسترش‌یافته به صورت زیر تعریف می‌شود:</a:t>
            </a:r>
          </a:p>
          <a:p>
            <a:pPr algn="just" rtl="1"/>
            <a:endParaRPr lang="fa-IR" dirty="0">
              <a:cs typeface="B Roya" panose="00000400000000000000" pitchFamily="2" charset="-78"/>
            </a:endParaRPr>
          </a:p>
          <a:p>
            <a:pPr algn="just" rtl="1"/>
            <a:endParaRPr lang="fa-IR" dirty="0">
              <a:cs typeface="B Roya" panose="00000400000000000000" pitchFamily="2" charset="-78"/>
            </a:endParaRPr>
          </a:p>
          <a:p>
            <a:pPr rtl="1"/>
            <a:r>
              <a:rPr lang="fa-IR" dirty="0">
                <a:cs typeface="B Roya" panose="00000400000000000000" pitchFamily="2" charset="-78"/>
              </a:rPr>
              <a:t>  </a:t>
            </a:r>
            <a:r>
              <a:rPr lang="en-US" dirty="0">
                <a:cs typeface="B Roya" panose="00000400000000000000" pitchFamily="2" charset="-78"/>
              </a:rPr>
              <a:t>x̃ = [-1, x1, x2]</a:t>
            </a:r>
            <a:r>
              <a:rPr lang="en-US" baseline="30000" dirty="0">
                <a:cs typeface="B Roya" panose="00000400000000000000" pitchFamily="2" charset="-78"/>
              </a:rPr>
              <a:t>ᵀ</a:t>
            </a:r>
          </a:p>
          <a:p>
            <a:pPr algn="just" rtl="1"/>
            <a:endParaRPr lang="en-US" dirty="0">
              <a:cs typeface="B Roya" panose="00000400000000000000" pitchFamily="2" charset="-78"/>
            </a:endParaRPr>
          </a:p>
          <a:p>
            <a:pPr algn="just" rtl="1"/>
            <a:r>
              <a:rPr lang="fa-IR" dirty="0">
                <a:cs typeface="B Roya" panose="00000400000000000000" pitchFamily="2" charset="-78"/>
              </a:rPr>
              <a:t>•</a:t>
            </a:r>
            <a:r>
              <a:rPr lang="en-US" dirty="0">
                <a:cs typeface="B Roya" panose="00000400000000000000" pitchFamily="2" charset="-78"/>
              </a:rPr>
              <a:t> </a:t>
            </a:r>
            <a:r>
              <a:rPr lang="fa-IR" dirty="0">
                <a:cs typeface="B Roya" panose="00000400000000000000" pitchFamily="2" charset="-78"/>
              </a:rPr>
              <a:t>پاسخ مدل از رابطه زیر به دست می‌آید:</a:t>
            </a:r>
          </a:p>
          <a:p>
            <a:pPr algn="just" rtl="1"/>
            <a:endParaRPr lang="fa-IR" dirty="0">
              <a:cs typeface="B Roya" panose="00000400000000000000" pitchFamily="2" charset="-78"/>
            </a:endParaRPr>
          </a:p>
          <a:p>
            <a:pPr algn="just" rtl="1"/>
            <a:endParaRPr lang="fa-IR" dirty="0">
              <a:cs typeface="B Roya" panose="00000400000000000000" pitchFamily="2" charset="-78"/>
            </a:endParaRPr>
          </a:p>
          <a:p>
            <a:pPr rtl="1"/>
            <a:r>
              <a:rPr lang="fa-IR" dirty="0">
                <a:cs typeface="B Roya" panose="00000400000000000000" pitchFamily="2" charset="-78"/>
              </a:rPr>
              <a:t>  </a:t>
            </a:r>
            <a:r>
              <a:rPr lang="en-US" dirty="0">
                <a:cs typeface="B Roya" panose="00000400000000000000" pitchFamily="2" charset="-78"/>
              </a:rPr>
              <a:t>h(x) = sign(w x̃)</a:t>
            </a:r>
          </a:p>
          <a:p>
            <a:pPr algn="just" rtl="1"/>
            <a:endParaRPr lang="en-US" dirty="0">
              <a:cs typeface="B Roya" panose="00000400000000000000" pitchFamily="2" charset="-78"/>
            </a:endParaRPr>
          </a:p>
          <a:p>
            <a:pPr algn="just" rtl="1"/>
            <a:r>
              <a:rPr lang="fa-IR" dirty="0">
                <a:cs typeface="B Roya" panose="00000400000000000000" pitchFamily="2" charset="-78"/>
              </a:rPr>
              <a:t>• خروجی مدل در یکی از دو کلاس 1+ یا 1- قرار می‌گیرد.</a:t>
            </a:r>
          </a:p>
          <a:p>
            <a:pPr algn="just" rtl="1"/>
            <a:r>
              <a:rPr lang="fa-IR" dirty="0">
                <a:cs typeface="B Roya" panose="00000400000000000000" pitchFamily="2" charset="-78"/>
              </a:rPr>
              <a:t>• وزن‌های مدل با استفاده از شبه‌معکوس محاسبه می‌شوند:</a:t>
            </a:r>
          </a:p>
          <a:p>
            <a:pPr algn="just" rtl="1"/>
            <a:endParaRPr lang="fa-IR" dirty="0">
              <a:cs typeface="B Roya" panose="00000400000000000000" pitchFamily="2" charset="-78"/>
            </a:endParaRPr>
          </a:p>
          <a:p>
            <a:pPr algn="just" rtl="1"/>
            <a:endParaRPr lang="fa-IR" dirty="0">
              <a:cs typeface="B Roya" panose="00000400000000000000" pitchFamily="2" charset="-78"/>
            </a:endParaRPr>
          </a:p>
          <a:p>
            <a:pPr rtl="1"/>
            <a:r>
              <a:rPr lang="fa-IR" dirty="0">
                <a:cs typeface="B Roya" panose="00000400000000000000" pitchFamily="2" charset="-78"/>
              </a:rPr>
              <a:t>  </a:t>
            </a:r>
            <a:r>
              <a:rPr lang="en-US" dirty="0">
                <a:cs typeface="B Roya" panose="00000400000000000000" pitchFamily="2" charset="-78"/>
              </a:rPr>
              <a:t>w = YX⁺</a:t>
            </a:r>
          </a:p>
          <a:p>
            <a:pPr algn="just" rtl="1"/>
            <a:endParaRPr lang="en-US" dirty="0">
              <a:cs typeface="B Roya" panose="00000400000000000000" pitchFamily="2" charset="-78"/>
            </a:endParaRPr>
          </a:p>
          <a:p>
            <a:pPr algn="just" rtl="1"/>
            <a:r>
              <a:rPr lang="fa-IR" dirty="0">
                <a:cs typeface="B Roya" panose="00000400000000000000" pitchFamily="2" charset="-78"/>
              </a:rPr>
              <a:t>• ترکیب چند یادگیرنده ضعیف در AdaBoost، طبقه‌بند نهایی قوی‌تری ایجاد می‌کند.</a:t>
            </a:r>
          </a:p>
        </p:txBody>
      </p:sp>
      <p:sp>
        <p:nvSpPr>
          <p:cNvPr id="3" name="TextBox 2">
            <a:extLst>
              <a:ext uri="{FF2B5EF4-FFF2-40B4-BE49-F238E27FC236}">
                <a16:creationId xmlns:a16="http://schemas.microsoft.com/office/drawing/2014/main" id="{5E624AE3-6ECE-233D-450F-C794BE6DC2E6}"/>
              </a:ext>
            </a:extLst>
          </p:cNvPr>
          <p:cNvSpPr txBox="1"/>
          <p:nvPr/>
        </p:nvSpPr>
        <p:spPr>
          <a:xfrm>
            <a:off x="3910769" y="516049"/>
            <a:ext cx="4034117" cy="369332"/>
          </a:xfrm>
          <a:prstGeom prst="rect">
            <a:avLst/>
          </a:prstGeom>
          <a:noFill/>
        </p:spPr>
        <p:txBody>
          <a:bodyPr wrap="none" rtlCol="0">
            <a:spAutoFit/>
          </a:bodyPr>
          <a:lstStyle/>
          <a:p>
            <a:pPr algn="ctr" rtl="1"/>
            <a:r>
              <a:rPr lang="fa-IR" b="1" dirty="0">
                <a:solidFill>
                  <a:srgbClr val="FF0000"/>
                </a:solidFill>
                <a:cs typeface="B Roya" panose="00000400000000000000" pitchFamily="2" charset="-78"/>
              </a:rPr>
              <a:t>طبقه‌بند خطی تک‌لایه به عنوان </a:t>
            </a:r>
            <a:r>
              <a:rPr lang="en-US" b="1" dirty="0">
                <a:solidFill>
                  <a:srgbClr val="FF0000"/>
                </a:solidFill>
                <a:cs typeface="B Roya" panose="00000400000000000000" pitchFamily="2" charset="-78"/>
              </a:rPr>
              <a:t>Weak Learner</a:t>
            </a:r>
          </a:p>
        </p:txBody>
      </p:sp>
    </p:spTree>
    <p:extLst>
      <p:ext uri="{BB962C8B-B14F-4D97-AF65-F5344CB8AC3E}">
        <p14:creationId xmlns:p14="http://schemas.microsoft.com/office/powerpoint/2010/main" val="14948221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514</TotalTime>
  <Words>968</Words>
  <Application>Microsoft Office PowerPoint</Application>
  <PresentationFormat>Widescreen</PresentationFormat>
  <Paragraphs>347</Paragraphs>
  <Slides>16</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6" baseType="lpstr">
      <vt:lpstr>Arial</vt:lpstr>
      <vt:lpstr>B Roya</vt:lpstr>
      <vt:lpstr>Calibri</vt:lpstr>
      <vt:lpstr>Trebuchet MS</vt:lpstr>
      <vt:lpstr>Vazirmatn Light</vt:lpstr>
      <vt:lpstr>Vazirmatn-Regular</vt:lpstr>
      <vt:lpstr>Wingdings</vt:lpstr>
      <vt:lpstr>Wingdings 3</vt:lpstr>
      <vt:lpstr>Facet</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Mehdi Mohammadi</dc:creator>
  <cp:lastModifiedBy>Mehdi Mohammadi</cp:lastModifiedBy>
  <cp:revision>118</cp:revision>
  <dcterms:created xsi:type="dcterms:W3CDTF">2022-12-25T20:30:12Z</dcterms:created>
  <dcterms:modified xsi:type="dcterms:W3CDTF">2026-06-27T14:58:28Z</dcterms:modified>
</cp:coreProperties>
</file>